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f4e8e3f7d34cb8" /><Relationship Type="http://schemas.openxmlformats.org/officeDocument/2006/relationships/extended-properties" Target="/docProps/app.xml" Id="R5373dedd86334924" /><Relationship Type="http://schemas.openxmlformats.org/officeDocument/2006/relationships/officeDocument" Target="/ppt/presentation.xml" Id="Ra2fade3e6e934d54" /></Relationships>
</file>

<file path=ppt/presentation.xml><?xml version="1.0" encoding="utf-8"?>
<p:presentation xmlns:p="http://schemas.openxmlformats.org/presentationml/2006/main">
  <p:sldMasterIdLst>
    <p:sldMasterId xmlns:r="http://schemas.openxmlformats.org/officeDocument/2006/relationships" id="2147483648" r:id="R1bde1bdc140f4ba1"/>
  </p:sldMasterIdLst>
  <p:notesMasterIdLst>
    <p:notesMasterId xmlns:r="http://schemas.openxmlformats.org/officeDocument/2006/relationships" r:id="Rc1585d767f0f47c8"/>
  </p:notesMasterIdLst>
  <p:sldIdLst>
    <p:sldId xmlns:r="http://schemas.openxmlformats.org/officeDocument/2006/relationships" id="256" r:id="R42a49c82df944235"/>
    <p:sldId xmlns:r="http://schemas.openxmlformats.org/officeDocument/2006/relationships" id="257" r:id="R29877bae4e9c44c0"/>
    <p:sldId xmlns:r="http://schemas.openxmlformats.org/officeDocument/2006/relationships" id="258" r:id="R3d2bd63229014da6"/>
    <p:sldId xmlns:r="http://schemas.openxmlformats.org/officeDocument/2006/relationships" id="259" r:id="R7dc9262ace334a1a"/>
    <p:sldId xmlns:r="http://schemas.openxmlformats.org/officeDocument/2006/relationships" id="260" r:id="R5a80072fce0b431f"/>
    <p:sldId xmlns:r="http://schemas.openxmlformats.org/officeDocument/2006/relationships" id="261" r:id="Rdd1b1f028ed94e97"/>
    <p:sldId xmlns:r="http://schemas.openxmlformats.org/officeDocument/2006/relationships" id="262" r:id="R662af9b45bf948fc"/>
    <p:sldId xmlns:r="http://schemas.openxmlformats.org/officeDocument/2006/relationships" id="263" r:id="R06df001c94f342b2"/>
    <p:sldId xmlns:r="http://schemas.openxmlformats.org/officeDocument/2006/relationships" id="264" r:id="R04324f3c46c545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20c29dbc364e2b" /><Relationship Type="http://schemas.openxmlformats.org/officeDocument/2006/relationships/slideMaster" Target="/ppt/slideMasters/slideMaster1.xml" Id="R1bde1bdc140f4ba1" /><Relationship Type="http://schemas.openxmlformats.org/officeDocument/2006/relationships/notesMaster" Target="/ppt/notesMasters/notesMaster1.xml" Id="Rc1585d767f0f47c8" /><Relationship Type="http://schemas.openxmlformats.org/officeDocument/2006/relationships/presProps" Target="/ppt/presProps.xml" Id="R95a7a3922d46491b" /><Relationship Type="http://schemas.openxmlformats.org/officeDocument/2006/relationships/tableStyles" Target="/ppt/tableStyles.xml" Id="Rde9d4a053b1145ef" /><Relationship Type="http://schemas.openxmlformats.org/officeDocument/2006/relationships/slide" Target="/ppt/slides/slide1.xml" Id="R42a49c82df944235" /><Relationship Type="http://schemas.openxmlformats.org/officeDocument/2006/relationships/slide" Target="/ppt/slides/slide2.xml" Id="R29877bae4e9c44c0" /><Relationship Type="http://schemas.openxmlformats.org/officeDocument/2006/relationships/slide" Target="/ppt/slides/slide3.xml" Id="R3d2bd63229014da6" /><Relationship Type="http://schemas.openxmlformats.org/officeDocument/2006/relationships/slide" Target="/ppt/slides/slide4.xml" Id="R7dc9262ace334a1a" /><Relationship Type="http://schemas.openxmlformats.org/officeDocument/2006/relationships/slide" Target="/ppt/slides/slide5.xml" Id="R5a80072fce0b431f" /><Relationship Type="http://schemas.openxmlformats.org/officeDocument/2006/relationships/slide" Target="/ppt/slides/slide6.xml" Id="Rdd1b1f028ed94e97" /><Relationship Type="http://schemas.openxmlformats.org/officeDocument/2006/relationships/slide" Target="/ppt/slides/slide7.xml" Id="R662af9b45bf948fc" /><Relationship Type="http://schemas.openxmlformats.org/officeDocument/2006/relationships/slide" Target="/ppt/slides/slide8.xml" Id="R06df001c94f342b2" /><Relationship Type="http://schemas.openxmlformats.org/officeDocument/2006/relationships/slide" Target="/ppt/slides/slide9.xml" Id="R04324f3c46c545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0a08f8c44c44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d3161136c6418d" /><Relationship Type="http://schemas.openxmlformats.org/officeDocument/2006/relationships/notesMaster" Target="/ppt/notesMasters/notesMaster1.xml" Id="R24da1a7b124048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285e91127c4d2e" /><Relationship Type="http://schemas.openxmlformats.org/officeDocument/2006/relationships/notesMaster" Target="/ppt/notesMasters/notesMaster1.xml" Id="Rb0b827d4d0964d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84ae3bf27f45df" /><Relationship Type="http://schemas.openxmlformats.org/officeDocument/2006/relationships/notesMaster" Target="/ppt/notesMasters/notesMaster1.xml" Id="Re33758191bbe46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1310b3d1214660" /><Relationship Type="http://schemas.openxmlformats.org/officeDocument/2006/relationships/notesMaster" Target="/ppt/notesMasters/notesMaster1.xml" Id="R3613e1a08b5141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db9d914ef54c93" /><Relationship Type="http://schemas.openxmlformats.org/officeDocument/2006/relationships/notesMaster" Target="/ppt/notesMasters/notesMaster1.xml" Id="R4cdf40843f2445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6d327a43dc4032" /><Relationship Type="http://schemas.openxmlformats.org/officeDocument/2006/relationships/notesMaster" Target="/ppt/notesMasters/notesMaster1.xml" Id="R7dcffea385894e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8e5f9449a44f89" /><Relationship Type="http://schemas.openxmlformats.org/officeDocument/2006/relationships/notesMaster" Target="/ppt/notesMasters/notesMaster1.xml" Id="R0017217458da4d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af8a774cbf4d1d" /><Relationship Type="http://schemas.openxmlformats.org/officeDocument/2006/relationships/notesMaster" Target="/ppt/notesMasters/notesMaster1.xml" Id="R93288f1475b048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c26dfbc98942a5" /><Relationship Type="http://schemas.openxmlformats.org/officeDocument/2006/relationships/notesMaster" Target="/ppt/notesMasters/notesMaster1.xml" Id="R14898b5eb5354e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notebooks/17_structured_data_rag.ipynb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notebooks/17_structured_data_rag.ipynb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Cedar Labs question: how many purchased users are unused, what is the annual Team list cost, and is tax included? No single source answers every part. Account and seat rows establish the quantities, SQL computes exact arithmetic, and the public plan policy explains billing and tax conditions. The fixture includes an order ledger to show that paid revenue is a different measure from a forward-looking list quote. The notebook uses a local fictional database and creates it once. Querying then occurs through separate read-only connections, with every result tied to its query and snapshot.</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introduction and sections 1–3, 6–7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4 deliberately avoids accepting arbitrary model-generated SQL. The model chooses among four supported query intents and an unsupported outcome. Explain that a constrained interface reduces the number of execution behaviors learners must inspect, while still allowing natural-language wording. The parser accepts JSON or one fenced JSON object; it never executes surrounding prose or silently replaces a malformed plan. In offline mode a clearly labelled prepared gold plan is used, but the SQL still runs on the real fixture. Validation does not prove that the chosen intent matches the question, so inspect that meaning before execution.</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sections 4–7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visible join in section 2. Accounts provide purchased users, plans provide the list rate and minimum, and active seat assignments provide the active count. The SQL computes the annual figure rather than asking the language model to do fresh arithmetic. In section 7, the answer prompt explicitly separates annual list cost from paid orders or negotiated contract price. Ask learners to identify which citation supports the account values and which supports the tax condition. The expected numbers here are verified fixture results, not a promise about a real customer account.</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sections 2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5 exposes the helper source so learners can inspect the execution boundary. Explain each layer by the failure it addresses: parameter binding separates values from syntax, parsing limits the accepted grammar, the authorizer restricts approved columns and functions, and runtime budgets limit work. The lesson intentionally excludes CTEs, subqueries, arbitrary functions, and writable statements. These controls are suited to this reviewed fixture interface; they do not establish that every allowed query answers the intended question. A production extension needs user and tenant permissions, approved views, sensitive-column policies, and a review of query meaning.</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sections 5 and 8–9</a:t>
            </a:r>
          </a:p>
          <a:p xmlns:a="http://schemas.openxmlformats.org/drawingml/2006/main">
            <a:r>
              <a:t>https://docs.python.org/3/library/sqlite3.html</a:t>
            </a:r>
          </a:p>
          <a:p xmlns:a="http://schemas.openxmlformats.org/drawingml/2006/main">
            <a:r>
              <a:t>https://www.sqlite.org/uri.html</a:t>
            </a:r>
          </a:p>
          <a:p xmlns:a="http://schemas.openxmlformats.org/drawingml/2006/main">
            <a:r>
              <a:t>https://www.sqlite.org/c3ref/set_authorizer.html</a:t>
            </a:r>
          </a:p>
          <a:p xmlns:a="http://schemas.openxmlformats.org/drawingml/2006/main">
            <a:r>
              <a:t>https://sqlglot.com/sqlglot.html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 3 to contrast the Enterprise NULL with a real numeric zero. Grouping by region and plan avoids silently treating an unknown custom price as a complete total. Then use section 9 to show a two-row preview marked as truncated. SQL aggregation is performed before the output cap, but the cap still does not limit computation, which is why the helper also enforces a work budget. Ask learners how an answer should describe missing customer rows. The correct response is insufficient account evidence, not an invented balance based only on the generic policy.</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sections 3 and 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6 retrieves only the relevant public plan corpus, while SQL evidence carries its own stable result identifier. The combined prompt lets a reviewer trace the calculation and its business explanation independently. Explain why a generic plan policy cannot prove that a specific customer has eight seats or owes a particular amount. The notebook deliberately supplies no combined evidence when account rows are absent. This provenance discipline also matters when data changes: a current account table paired with an outdated pricing document can yield a convincing but inconsistent answer. The course fixture stays fixed so the principle is easy to inspect.</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sections 6–7 and production extensions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fresh kernel and run the notebook from the top. The default live path normally makes two cached Claude calls: one for the plan and one for the answer. Offline mode uses the prepared plan, executes the real SQLite operations, and skips generation. Make the selected query template visible before execution so students can check semantic intent. In the rejection section, the attack-like account name is a literal bound value and matches no record. Finish by verifying that all four fixture accounts remain present and explaining why an unsupported intent executes no SQL.</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setup and sections 1–9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10 provides local solutions for these exercises. Ask learners to predict the three-user result before executing the quote template: the minimum makes five users billable. For the regional result, discuss why the grouping dimensions matter and why joining multiple tables can accidentally multiply rows if cardinality is misunderstood. The Enterprise example reinforces that missing pricing data must not become a zero-valued contract. The forecast question demonstrates the supported-intent boundary. Expected discussion should cover dates, units, NULL handling, duplicate joins, and whether a syntactically safe query still matches the user’s business question.</a:t>
            </a:r>
          </a:p>
          <a:p xmlns:a="http://schemas.openxmlformats.org/drawingml/2006/main">
            <a:r>
              <a:t/>
            </a:r>
          </a:p>
          <a:p xmlns:a="http://schemas.openxmlformats.org/drawingml/2006/main">
            <a:r>
              <a:t>NOTEBOOK: notebooks/17_structured_data_rag.ipynb</a:t>
            </a:r>
          </a:p>
          <a:p xmlns:a="http://schemas.openxmlformats.org/drawingml/2006/main">
            <a:r>
              <a:t/>
            </a:r>
          </a:p>
          <a:p xmlns:a="http://schemas.openxmlformats.org/drawingml/2006/main">
            <a:r>
              <a:t>SOURCES</a:t>
            </a:r>
          </a:p>
          <a:p xmlns:a="http://schemas.openxmlformats.org/drawingml/2006/main">
            <a:r>
              <a:t>notebooks/17_structured_data_rag.ipynb — section 10 and production extensions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5735e442464e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044d41fb2f49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06406d035f42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cf57eb4d9648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ca2aa5a6544f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8ddfdde075b4c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38470C-493D-444A-B92C-F3E7EC34E7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553253-2930-42A1-A25F-57EB947481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E4DF6C-92F4-4DD8-80EA-B2443F9D08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9906C3-64AE-4F53-BDE5-B299FF1B4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B6EABB-280F-4E53-9592-55AB4ED084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1714E6-AE1A-4695-968B-07441C04B5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2AA428-6286-4E4E-B141-E8B70CE3BE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D943B4-A0A8-4FCA-B73C-7C34E265FB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626587-4CE8-46AF-817C-7B89E512F2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619426-1C78-492A-B198-4736606B7F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c171e7198a49dd" /><Relationship Type="http://schemas.openxmlformats.org/officeDocument/2006/relationships/slideLayout" Target="/ppt/slideLayouts/slideLayout1.xml" Id="R669d0372386d4d43" /><Relationship Type="http://schemas.openxmlformats.org/officeDocument/2006/relationships/slideLayout" Target="/ppt/slideLayouts/slideLayout2.xml" Id="Rd58306a81cdb489c" /><Relationship Type="http://schemas.openxmlformats.org/officeDocument/2006/relationships/slideLayout" Target="/ppt/slideLayouts/slideLayout3.xml" Id="R595bd824690d46f1" /><Relationship Type="http://schemas.openxmlformats.org/officeDocument/2006/relationships/slideLayout" Target="/ppt/slideLayouts/slideLayout4.xml" Id="Rc465321591814b3d" /><Relationship Type="http://schemas.openxmlformats.org/officeDocument/2006/relationships/slideLayout" Target="/ppt/slideLayouts/slideLayout5.xml" Id="Ra030a522ad904b20" /><Relationship Type="http://schemas.openxmlformats.org/officeDocument/2006/relationships/slideLayout" Target="/ppt/slideLayouts/slideLayout6.xml" Id="R28ddd1115bba47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9d0372386d4d43"/>
    <p:sldLayoutId xmlns:r="http://schemas.openxmlformats.org/officeDocument/2006/relationships" id="2147483650" r:id="Rd58306a81cdb489c"/>
    <p:sldLayoutId xmlns:r="http://schemas.openxmlformats.org/officeDocument/2006/relationships" id="2147483651" r:id="R595bd824690d46f1"/>
    <p:sldLayoutId xmlns:r="http://schemas.openxmlformats.org/officeDocument/2006/relationships" id="2147483652" r:id="Rc465321591814b3d"/>
    <p:sldLayoutId xmlns:r="http://schemas.openxmlformats.org/officeDocument/2006/relationships" id="2147483653" r:id="Ra030a522ad904b20"/>
    <p:sldLayoutId xmlns:r="http://schemas.openxmlformats.org/officeDocument/2006/relationships" id="2147483654" r:id="R28ddd1115bba47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8b2d17b6fa44535" /><Relationship Type="http://schemas.openxmlformats.org/officeDocument/2006/relationships/image" Target="/ppt/media/image.png" Id="R26553e2bff254ee3" /><Relationship Type="http://schemas.openxmlformats.org/officeDocument/2006/relationships/notesSlide" Target="/ppt/notesSlides/notesSlide1.xml" Id="R540dc82d88bd44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c488eda37a420a" /><Relationship Type="http://schemas.openxmlformats.org/officeDocument/2006/relationships/notesSlide" Target="/ppt/notesSlides/notesSlide2.xml" Id="Rc0ea8a9fdded43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3e4aa02df794559" /><Relationship Type="http://schemas.openxmlformats.org/officeDocument/2006/relationships/notesSlide" Target="/ppt/notesSlides/notesSlide3.xml" Id="R8ee591de77164d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90af0603a6f42e5" /><Relationship Type="http://schemas.openxmlformats.org/officeDocument/2006/relationships/notesSlide" Target="/ppt/notesSlides/notesSlide4.xml" Id="Ra3e8aeae03cc47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036062d20a46fc" /><Relationship Type="http://schemas.openxmlformats.org/officeDocument/2006/relationships/notesSlide" Target="/ppt/notesSlides/notesSlide5.xml" Id="R4d4eda69eb9741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928fab30934b53" /><Relationship Type="http://schemas.openxmlformats.org/officeDocument/2006/relationships/notesSlide" Target="/ppt/notesSlides/notesSlide6.xml" Id="R30727c40f03c40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2c53f7ffbd419d" /><Relationship Type="http://schemas.openxmlformats.org/officeDocument/2006/relationships/notesSlide" Target="/ppt/notesSlides/notesSlide7.xml" Id="Rf576bf15eb5442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ec0ba15f594c33" /><Relationship Type="http://schemas.openxmlformats.org/officeDocument/2006/relationships/notesSlide" Target="/ppt/notesSlides/notesSlide8.xml" Id="R0d98891a25474e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ab42cc766d4414" /><Relationship Type="http://schemas.openxmlformats.org/officeDocument/2006/relationships/notesSlide" Target="/ppt/notesSlides/notesSlide9.xml" Id="R78464406346d4f5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B145B126-0D08-4B7F-979F-FA5DE298F6E4}"/>
              </a:ext>
            </a:extLst>
          </p:cNvPr>
          <p:cNvPicPr>
            <a:picLocks xmlns:a="http://schemas.openxmlformats.org/drawingml/2006/main" noChangeAspect="1"/>
          </p:cNvPicPr>
          <p:nvPr/>
        </p:nvPicPr>
        <p:blipFill>
          <a:blip xmlns:r="http://schemas.openxmlformats.org/officeDocument/2006/relationships" xmlns:a="http://schemas.openxmlformats.org/drawingml/2006/main" r:embed="R26553e2bff254ee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77B9A001-AD1C-41AC-B4F8-720EFAF8BEC6}"/>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17</a:t>
            </a:r>
          </a:p>
        </p:txBody>
      </p:sp>
      <p:sp>
        <p:nvSpPr>
          <p:cNvPr id="3" name="deck-title">
            <a:extLst xmlns:a="http://schemas.openxmlformats.org/drawingml/2006/main">
              <a:ext uri="{FF2B5EF4-FFF2-40B4-BE49-F238E27FC236}">
                <a16:creationId xmlns:a16="http://schemas.microsoft.com/office/drawing/2014/main" id="{D979AB9A-019E-4AC2-9E8C-02562CF983AC}"/>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Structured-data RAG</a:t>
            </a:r>
          </a:p>
        </p:txBody>
      </p:sp>
      <p:sp>
        <p:nvSpPr>
          <p:cNvPr id="4" name="text">
            <a:extLst xmlns:a="http://schemas.openxmlformats.org/drawingml/2006/main">
              <a:ext uri="{FF2B5EF4-FFF2-40B4-BE49-F238E27FC236}">
                <a16:creationId xmlns:a16="http://schemas.microsoft.com/office/drawing/2014/main" id="{90F8D26B-D595-4D0A-A331-2A397737FE87}"/>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Combine exact SQL results with policy evidence and traceable citations.</a:t>
            </a:r>
          </a:p>
        </p:txBody>
      </p:sp>
      <p:sp>
        <p:nvSpPr>
          <p:cNvPr id="5" name="text">
            <a:extLst xmlns:a="http://schemas.openxmlformats.org/drawingml/2006/main">
              <a:ext uri="{FF2B5EF4-FFF2-40B4-BE49-F238E27FC236}">
                <a16:creationId xmlns:a16="http://schemas.microsoft.com/office/drawing/2014/main" id="{7A80F3D1-605C-48D4-86A6-AE709931103C}"/>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17_structured_data_rag.ipynb</a:t>
            </a:r>
          </a:p>
        </p:txBody>
      </p:sp>
    </p:spTree>
    <p:extLst>
      <p:ext uri="{BB962C8B-B14F-4D97-AF65-F5344CB8AC3E}">
        <p14:creationId xmlns:p14="http://schemas.microsoft.com/office/powerpoint/2010/main" val="1985901201"/>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C2B88106-6218-46F7-975D-8CDC22A4BB2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17</a:t>
            </a:r>
          </a:p>
        </p:txBody>
      </p:sp>
      <p:sp>
        <p:nvSpPr>
          <p:cNvPr id="2" name="slide-title">
            <a:extLst xmlns:a="http://schemas.openxmlformats.org/drawingml/2006/main">
              <a:ext uri="{FF2B5EF4-FFF2-40B4-BE49-F238E27FC236}">
                <a16:creationId xmlns:a16="http://schemas.microsoft.com/office/drawing/2014/main" id="{C5D05CB5-9F31-40F4-BACA-FA04E4F775F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Use tables and text for different questions</a:t>
            </a:r>
          </a:p>
        </p:txBody>
      </p:sp>
      <p:sp>
        <p:nvSpPr>
          <p:cNvPr id="3" name="lead">
            <a:extLst xmlns:a="http://schemas.openxmlformats.org/drawingml/2006/main">
              <a:ext uri="{FF2B5EF4-FFF2-40B4-BE49-F238E27FC236}">
                <a16:creationId xmlns:a16="http://schemas.microsoft.com/office/drawing/2014/main" id="{728D6592-3CB7-4870-AAF3-D7AFC714905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Structured rows provide record values; policy documents explain their business meaning.</a:t>
            </a:r>
          </a:p>
        </p:txBody>
      </p:sp>
      <p:sp>
        <p:nvSpPr>
          <p:cNvPr id="4" name="text">
            <a:extLst xmlns:a="http://schemas.openxmlformats.org/drawingml/2006/main">
              <a:ext uri="{FF2B5EF4-FFF2-40B4-BE49-F238E27FC236}">
                <a16:creationId xmlns:a16="http://schemas.microsoft.com/office/drawing/2014/main" id="{B3401D00-175B-437F-ADC8-39008C5FE55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4C22554F-0329-48F5-9C62-44DD0E5DE98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CC41509B-1A4E-4CF3-B304-2F08B0024959}"/>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SQL evidence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Counts purchased and active seats, joins plans, and computes annual list prices.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Policy evidence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Explains annual billing, minimum users, taxes, and custom Enterprise pricing.</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Different measures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Purchased seats, active seats, annual list price, and paid orders are not interchangeable.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Grounded answer</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Combine computed row values with the relevant policy conditions and cite both sources.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857783752"/>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E1EB190-7012-49A8-B322-77313D9B2746}"/>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17</a:t>
            </a:r>
          </a:p>
        </p:txBody>
      </p:sp>
      <p:sp>
        <p:nvSpPr>
          <p:cNvPr id="2" name="slide-title">
            <a:extLst xmlns:a="http://schemas.openxmlformats.org/drawingml/2006/main">
              <a:ext uri="{FF2B5EF4-FFF2-40B4-BE49-F238E27FC236}">
                <a16:creationId xmlns:a16="http://schemas.microsoft.com/office/drawing/2014/main" id="{C9F26FC1-0A67-4513-A7BC-7657A6DE6AB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Constrain the plan before executing SQL</a:t>
            </a:r>
          </a:p>
        </p:txBody>
      </p:sp>
      <p:sp>
        <p:nvSpPr>
          <p:cNvPr id="3" name="lead">
            <a:extLst xmlns:a="http://schemas.openxmlformats.org/drawingml/2006/main">
              <a:ext uri="{FF2B5EF4-FFF2-40B4-BE49-F238E27FC236}">
                <a16:creationId xmlns:a16="http://schemas.microsoft.com/office/drawing/2014/main" id="{66D668E9-2615-4295-87B4-E918D7BDA42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Flexible natural language enters a narrow, inspectable execution interface.</a:t>
            </a:r>
          </a:p>
        </p:txBody>
      </p:sp>
      <p:sp>
        <p:nvSpPr>
          <p:cNvPr id="4" name="text">
            <a:extLst xmlns:a="http://schemas.openxmlformats.org/drawingml/2006/main">
              <a:ext uri="{FF2B5EF4-FFF2-40B4-BE49-F238E27FC236}">
                <a16:creationId xmlns:a16="http://schemas.microsoft.com/office/drawing/2014/main" id="{6B7A6B8E-0670-4FA2-8A46-31BEFA5B39A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C4ECA597-C144-46FB-AF1C-B260B17B1EA9}"/>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15A32DB0-5DFA-4183-8369-F5658BCDE389}"/>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Plan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Claude selects a reviewed query_id plus typed parameters, or returns unsupported.</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Validate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Parse one JSON object and check allowed fields, intent, parameter types, and bounds.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Execute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Run the matching parameterized SQL through parser and database controls.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Ground</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Combine row evidence with retrieved public policy text and ask Claude for a cited explanation.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634771393"/>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003E0F5-7899-41DD-B374-8201697F9A3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17</a:t>
            </a:r>
          </a:p>
        </p:txBody>
      </p:sp>
      <p:sp>
        <p:nvSpPr>
          <p:cNvPr id="2" name="slide-title">
            <a:extLst xmlns:a="http://schemas.openxmlformats.org/drawingml/2006/main">
              <a:ext uri="{FF2B5EF4-FFF2-40B4-BE49-F238E27FC236}">
                <a16:creationId xmlns:a16="http://schemas.microsoft.com/office/drawing/2014/main" id="{2521F1D2-FA64-4F59-81B4-8DBCA74DB4C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Cedar Labs: calculate before generating prose</a:t>
            </a:r>
          </a:p>
        </p:txBody>
      </p:sp>
      <p:sp>
        <p:nvSpPr>
          <p:cNvPr id="3" name="lead">
            <a:extLst xmlns:a="http://schemas.openxmlformats.org/drawingml/2006/main">
              <a:ext uri="{FF2B5EF4-FFF2-40B4-BE49-F238E27FC236}">
                <a16:creationId xmlns:a16="http://schemas.microsoft.com/office/drawing/2014/main" id="{7D80498D-BCBF-4085-8D77-B4169B3C28A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SQL result supplies the numbers; Claude explains them with policy context.</a:t>
            </a:r>
          </a:p>
        </p:txBody>
      </p:sp>
      <p:sp>
        <p:nvSpPr>
          <p:cNvPr id="4" name="text">
            <a:extLst xmlns:a="http://schemas.openxmlformats.org/drawingml/2006/main">
              <a:ext uri="{FF2B5EF4-FFF2-40B4-BE49-F238E27FC236}">
                <a16:creationId xmlns:a16="http://schemas.microsoft.com/office/drawing/2014/main" id="{5C89FC08-C3BA-42B0-9D92-99F82518E35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0BF0AFB6-00FA-4F2A-8FC9-A398B1C99B02}"/>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9585B804-582B-4A31-BFD7-F8F115A30BD2}"/>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Unused purchased users</a:t>
            </a:r>
          </a:p>
        </p:txBody>
      </p:sp>
      <p:sp>
        <p:nvSpPr>
          <p:cNvPr id="7" name="text">
            <a:extLst xmlns:a="http://schemas.openxmlformats.org/drawingml/2006/main">
              <a:ext uri="{FF2B5EF4-FFF2-40B4-BE49-F238E27FC236}">
                <a16:creationId xmlns:a16="http://schemas.microsoft.com/office/drawing/2014/main" id="{0DE397C4-46D9-4E95-BB97-1E8CE2DD479B}"/>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8 purchased − 6 active = 2 unused users.</a:t>
            </a:r>
          </a:p>
        </p:txBody>
      </p:sp>
      <p:sp>
        <p:nvSpPr>
          <p:cNvPr id="8" name="text">
            <a:extLst xmlns:a="http://schemas.openxmlformats.org/drawingml/2006/main">
              <a:ext uri="{FF2B5EF4-FFF2-40B4-BE49-F238E27FC236}">
                <a16:creationId xmlns:a16="http://schemas.microsoft.com/office/drawing/2014/main" id="{4EEFA497-3247-44E5-AA09-80E281B0B51C}"/>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Annual list price</a:t>
            </a:r>
          </a:p>
        </p:txBody>
      </p:sp>
      <p:sp>
        <p:nvSpPr>
          <p:cNvPr id="9" name="text">
            <a:extLst xmlns:a="http://schemas.openxmlformats.org/drawingml/2006/main">
              <a:ext uri="{FF2B5EF4-FFF2-40B4-BE49-F238E27FC236}">
                <a16:creationId xmlns:a16="http://schemas.microsoft.com/office/drawing/2014/main" id="{4DDB8CEB-5255-46CA-BC03-CD8909C97DE1}"/>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8 × INR 2,400 × 12 months = INR 230,400 before tax.</a:t>
            </a:r>
          </a:p>
        </p:txBody>
      </p:sp>
      <p:sp>
        <p:nvSpPr>
          <p:cNvPr id="10" name="text">
            <a:extLst xmlns:a="http://schemas.openxmlformats.org/drawingml/2006/main">
              <a:ext uri="{FF2B5EF4-FFF2-40B4-BE49-F238E27FC236}">
                <a16:creationId xmlns:a16="http://schemas.microsoft.com/office/drawing/2014/main" id="{7E6E6846-1BE5-42EF-864E-02ABBE9B86AB}"/>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Billing condition</a:t>
            </a:r>
          </a:p>
        </p:txBody>
      </p:sp>
      <p:sp>
        <p:nvSpPr>
          <p:cNvPr id="11" name="text">
            <a:extLst xmlns:a="http://schemas.openxmlformats.org/drawingml/2006/main">
              <a:ext uri="{FF2B5EF4-FFF2-40B4-BE49-F238E27FC236}">
                <a16:creationId xmlns:a16="http://schemas.microsoft.com/office/drawing/2014/main" id="{0D4DDB0A-C2A6-47CD-87C9-2B02F50BEDB3}"/>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Team is billed annually, with a minimum of 5 users and additional taxes.</a:t>
            </a:r>
          </a:p>
        </p:txBody>
      </p:sp>
      <p:sp>
        <p:nvSpPr>
          <p:cNvPr id="12" name="text">
            <a:extLst xmlns:a="http://schemas.openxmlformats.org/drawingml/2006/main">
              <a:ext uri="{FF2B5EF4-FFF2-40B4-BE49-F238E27FC236}">
                <a16:creationId xmlns:a16="http://schemas.microsoft.com/office/drawing/2014/main" id="{F4D499B6-864A-4B6A-B867-B274028A609C}"/>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Evidence boundary</a:t>
            </a:r>
          </a:p>
        </p:txBody>
      </p:sp>
      <p:sp>
        <p:nvSpPr>
          <p:cNvPr id="13" name="text">
            <a:extLst xmlns:a="http://schemas.openxmlformats.org/drawingml/2006/main">
              <a:ext uri="{FF2B5EF4-FFF2-40B4-BE49-F238E27FC236}">
                <a16:creationId xmlns:a16="http://schemas.microsoft.com/office/drawing/2014/main" id="{3A6E4D12-DE21-4A5E-8A74-A28B05BEC911}"/>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list-price calculation is not a negotiated contract value or a payment demand.</a:t>
            </a:r>
          </a:p>
        </p:txBody>
      </p:sp>
    </p:spTree>
    <p:extLst>
      <p:ext uri="{BB962C8B-B14F-4D97-AF65-F5344CB8AC3E}">
        <p14:creationId xmlns:p14="http://schemas.microsoft.com/office/powerpoint/2010/main" val="1994640063"/>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62D4B46D-D80F-48F7-93FE-41B7C84780B6}"/>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17</a:t>
            </a:r>
          </a:p>
        </p:txBody>
      </p:sp>
      <p:sp>
        <p:nvSpPr>
          <p:cNvPr id="2" name="slide-title">
            <a:extLst xmlns:a="http://schemas.openxmlformats.org/drawingml/2006/main">
              <a:ext uri="{FF2B5EF4-FFF2-40B4-BE49-F238E27FC236}">
                <a16:creationId xmlns:a16="http://schemas.microsoft.com/office/drawing/2014/main" id="{55D64DB7-AEF0-4261-B64E-0BD7A31B5446}"/>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Use several read-only execution controls</a:t>
            </a:r>
          </a:p>
        </p:txBody>
      </p:sp>
      <p:sp>
        <p:nvSpPr>
          <p:cNvPr id="3" name="lead">
            <a:extLst xmlns:a="http://schemas.openxmlformats.org/drawingml/2006/main">
              <a:ext uri="{FF2B5EF4-FFF2-40B4-BE49-F238E27FC236}">
                <a16:creationId xmlns:a16="http://schemas.microsoft.com/office/drawing/2014/main" id="{C0F05B6F-C662-4E64-8831-D427D245A7A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No single string check is a sufficient SQL execution boundary.</a:t>
            </a:r>
          </a:p>
        </p:txBody>
      </p:sp>
      <p:sp>
        <p:nvSpPr>
          <p:cNvPr id="4" name="text">
            <a:extLst xmlns:a="http://schemas.openxmlformats.org/drawingml/2006/main">
              <a:ext uri="{FF2B5EF4-FFF2-40B4-BE49-F238E27FC236}">
                <a16:creationId xmlns:a16="http://schemas.microsoft.com/office/drawing/2014/main" id="{7978E52B-8077-4698-ACEF-25DA670763D1}"/>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BBA5D723-E8C0-4269-9A92-CBE177EAFBB2}"/>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6E024393-F429-47BB-9DA3-55F28259C8D9}"/>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Reviewed templates</a:t>
            </a:r>
          </a:p>
        </p:txBody>
      </p:sp>
      <p:sp>
        <p:nvSpPr>
          <p:cNvPr id="7" name="text">
            <a:extLst xmlns:a="http://schemas.openxmlformats.org/drawingml/2006/main">
              <a:ext uri="{FF2B5EF4-FFF2-40B4-BE49-F238E27FC236}">
                <a16:creationId xmlns:a16="http://schemas.microsoft.com/office/drawing/2014/main" id="{871C4A16-47E8-47DA-BFCE-18194D32A578}"/>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Bind values as parameters; do not paste account names into SQL text.</a:t>
            </a:r>
          </a:p>
        </p:txBody>
      </p:sp>
      <p:sp>
        <p:nvSpPr>
          <p:cNvPr id="8" name="text">
            <a:extLst xmlns:a="http://schemas.openxmlformats.org/drawingml/2006/main">
              <a:ext uri="{FF2B5EF4-FFF2-40B4-BE49-F238E27FC236}">
                <a16:creationId xmlns:a16="http://schemas.microsoft.com/office/drawing/2014/main" id="{1E21471C-D5DC-4A09-8143-BF0DE20B8FF6}"/>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Parsed subset</a:t>
            </a:r>
          </a:p>
        </p:txBody>
      </p:sp>
      <p:sp>
        <p:nvSpPr>
          <p:cNvPr id="9" name="text">
            <a:extLst xmlns:a="http://schemas.openxmlformats.org/drawingml/2006/main">
              <a:ext uri="{FF2B5EF4-FFF2-40B4-BE49-F238E27FC236}">
                <a16:creationId xmlns:a16="http://schemas.microsoft.com/office/drawing/2014/main" id="{8B8E3FA4-DD3D-4D50-8A18-6B3D912A74C8}"/>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SQLGlot allows one supported SELECT and rejects unknown tables or unsupported syntax.</a:t>
            </a:r>
          </a:p>
        </p:txBody>
      </p:sp>
      <p:sp>
        <p:nvSpPr>
          <p:cNvPr id="10" name="text">
            <a:extLst xmlns:a="http://schemas.openxmlformats.org/drawingml/2006/main">
              <a:ext uri="{FF2B5EF4-FFF2-40B4-BE49-F238E27FC236}">
                <a16:creationId xmlns:a16="http://schemas.microsoft.com/office/drawing/2014/main" id="{C4879846-7C76-48A3-ACF7-C344EC250716}"/>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Database enforcement</a:t>
            </a:r>
          </a:p>
        </p:txBody>
      </p:sp>
      <p:sp>
        <p:nvSpPr>
          <p:cNvPr id="11" name="text">
            <a:extLst xmlns:a="http://schemas.openxmlformats.org/drawingml/2006/main">
              <a:ext uri="{FF2B5EF4-FFF2-40B4-BE49-F238E27FC236}">
                <a16:creationId xmlns:a16="http://schemas.microsoft.com/office/drawing/2014/main" id="{5689E860-24EB-4907-8AF9-89B47BAEAC88}"/>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SQLite mode=ro, query_only, and an authorizer restrict writes and access independently.</a:t>
            </a:r>
          </a:p>
        </p:txBody>
      </p:sp>
      <p:sp>
        <p:nvSpPr>
          <p:cNvPr id="12" name="text">
            <a:extLst xmlns:a="http://schemas.openxmlformats.org/drawingml/2006/main">
              <a:ext uri="{FF2B5EF4-FFF2-40B4-BE49-F238E27FC236}">
                <a16:creationId xmlns:a16="http://schemas.microsoft.com/office/drawing/2014/main" id="{FB2A5663-2CEC-42B3-948E-7A3D7BD62630}"/>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Resource budgets</a:t>
            </a:r>
          </a:p>
        </p:txBody>
      </p:sp>
      <p:sp>
        <p:nvSpPr>
          <p:cNvPr id="13" name="text">
            <a:extLst xmlns:a="http://schemas.openxmlformats.org/drawingml/2006/main">
              <a:ext uri="{FF2B5EF4-FFF2-40B4-BE49-F238E27FC236}">
                <a16:creationId xmlns:a16="http://schemas.microsoft.com/office/drawing/2014/main" id="{7C58911D-9A48-42AF-83F3-F9AC2EDCC575}"/>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Use a row cap, timeout, and VM-step budget; row limits alone do not bound query computation.</a:t>
            </a:r>
          </a:p>
        </p:txBody>
      </p:sp>
    </p:spTree>
    <p:extLst>
      <p:ext uri="{BB962C8B-B14F-4D97-AF65-F5344CB8AC3E}">
        <p14:creationId xmlns:p14="http://schemas.microsoft.com/office/powerpoint/2010/main" val="251436475"/>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48672C8C-AD05-4DB3-8B3F-E505B278F6B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17</a:t>
            </a:r>
          </a:p>
        </p:txBody>
      </p:sp>
      <p:sp>
        <p:nvSpPr>
          <p:cNvPr id="2" name="slide-title">
            <a:extLst xmlns:a="http://schemas.openxmlformats.org/drawingml/2006/main">
              <a:ext uri="{FF2B5EF4-FFF2-40B4-BE49-F238E27FC236}">
                <a16:creationId xmlns:a16="http://schemas.microsoft.com/office/drawing/2014/main" id="{30EC3512-B016-4010-A8F4-E7583512274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Keep unknowns, units, and scope explicit</a:t>
            </a:r>
          </a:p>
        </p:txBody>
      </p:sp>
      <p:sp>
        <p:nvSpPr>
          <p:cNvPr id="3" name="lead">
            <a:extLst xmlns:a="http://schemas.openxmlformats.org/drawingml/2006/main">
              <a:ext uri="{FF2B5EF4-FFF2-40B4-BE49-F238E27FC236}">
                <a16:creationId xmlns:a16="http://schemas.microsoft.com/office/drawing/2014/main" id="{869D18B5-7377-4010-BAC9-97D848CFE6B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result can be syntactically correct and still be described incorrectly.</a:t>
            </a:r>
          </a:p>
        </p:txBody>
      </p:sp>
      <p:sp>
        <p:nvSpPr>
          <p:cNvPr id="4" name="text">
            <a:extLst xmlns:a="http://schemas.openxmlformats.org/drawingml/2006/main">
              <a:ext uri="{FF2B5EF4-FFF2-40B4-BE49-F238E27FC236}">
                <a16:creationId xmlns:a16="http://schemas.microsoft.com/office/drawing/2014/main" id="{0FD7ADB3-BB1E-446E-9E26-6F33B5CEA66A}"/>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FEEFCA10-8B69-49FC-91ED-6DE473C2780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01B84481-3415-4588-9A37-F7E1E6DBEAF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NULL is unknown</a:t>
            </a:r>
          </a:p>
        </p:txBody>
      </p:sp>
      <p:sp>
        <p:nvSpPr>
          <p:cNvPr id="7" name="text">
            <a:extLst xmlns:a="http://schemas.openxmlformats.org/drawingml/2006/main">
              <a:ext uri="{FF2B5EF4-FFF2-40B4-BE49-F238E27FC236}">
                <a16:creationId xmlns:a16="http://schemas.microsoft.com/office/drawing/2014/main" id="{5A364B77-BFAE-47EB-8CDF-0A49CEC61E59}"/>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Enterprise pricing requires a custom quote; do not turn its missing value into zero.</a:t>
            </a:r>
          </a:p>
        </p:txBody>
      </p:sp>
      <p:sp>
        <p:nvSpPr>
          <p:cNvPr id="8" name="text">
            <a:extLst xmlns:a="http://schemas.openxmlformats.org/drawingml/2006/main">
              <a:ext uri="{FF2B5EF4-FFF2-40B4-BE49-F238E27FC236}">
                <a16:creationId xmlns:a16="http://schemas.microsoft.com/office/drawing/2014/main" id="{2FBBAA36-A5FA-4A74-8F42-C11C354D01FD}"/>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Empty is not zero</a:t>
            </a:r>
          </a:p>
        </p:txBody>
      </p:sp>
      <p:sp>
        <p:nvSpPr>
          <p:cNvPr id="9" name="text">
            <a:extLst xmlns:a="http://schemas.openxmlformats.org/drawingml/2006/main">
              <a:ext uri="{FF2B5EF4-FFF2-40B4-BE49-F238E27FC236}">
                <a16:creationId xmlns:a16="http://schemas.microsoft.com/office/drawing/2014/main" id="{E47DC84F-53D1-4BD2-9965-A5B4B5091B5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No matching account rows do not establish a zero balance or zero amount owed.</a:t>
            </a:r>
          </a:p>
        </p:txBody>
      </p:sp>
      <p:sp>
        <p:nvSpPr>
          <p:cNvPr id="10" name="text">
            <a:extLst xmlns:a="http://schemas.openxmlformats.org/drawingml/2006/main">
              <a:ext uri="{FF2B5EF4-FFF2-40B4-BE49-F238E27FC236}">
                <a16:creationId xmlns:a16="http://schemas.microsoft.com/office/drawing/2014/main" id="{86C33671-62FA-4CC8-848A-DA43967CD6B8}"/>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Truncated is partial</a:t>
            </a:r>
          </a:p>
        </p:txBody>
      </p:sp>
      <p:sp>
        <p:nvSpPr>
          <p:cNvPr id="11" name="text">
            <a:extLst xmlns:a="http://schemas.openxmlformats.org/drawingml/2006/main">
              <a:ext uri="{FF2B5EF4-FFF2-40B4-BE49-F238E27FC236}">
                <a16:creationId xmlns:a16="http://schemas.microsoft.com/office/drawing/2014/main" id="{8391D357-8988-4509-8172-29D5A27C0ED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capped row preview must not be described as all records.</a:t>
            </a:r>
          </a:p>
        </p:txBody>
      </p:sp>
      <p:sp>
        <p:nvSpPr>
          <p:cNvPr id="12" name="text">
            <a:extLst xmlns:a="http://schemas.openxmlformats.org/drawingml/2006/main">
              <a:ext uri="{FF2B5EF4-FFF2-40B4-BE49-F238E27FC236}">
                <a16:creationId xmlns:a16="http://schemas.microsoft.com/office/drawing/2014/main" id="{3C2E5668-ACEC-4116-80EB-4F73D91BA478}"/>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Measure and units</a:t>
            </a:r>
          </a:p>
        </p:txBody>
      </p:sp>
      <p:sp>
        <p:nvSpPr>
          <p:cNvPr id="13" name="text">
            <a:extLst xmlns:a="http://schemas.openxmlformats.org/drawingml/2006/main">
              <a:ext uri="{FF2B5EF4-FFF2-40B4-BE49-F238E27FC236}">
                <a16:creationId xmlns:a16="http://schemas.microsoft.com/office/drawing/2014/main" id="{5DE98EA6-C1AA-47BE-9C16-B5FE1F90166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Separate paid orders from list prices; retain INR, annual term, and tax exclusions.</a:t>
            </a:r>
          </a:p>
        </p:txBody>
      </p:sp>
    </p:spTree>
    <p:extLst>
      <p:ext uri="{BB962C8B-B14F-4D97-AF65-F5344CB8AC3E}">
        <p14:creationId xmlns:p14="http://schemas.microsoft.com/office/powerpoint/2010/main" val="769451947"/>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963E3DF-7F8A-41BB-98E0-D563872C1A1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17</a:t>
            </a:r>
          </a:p>
        </p:txBody>
      </p:sp>
      <p:sp>
        <p:nvSpPr>
          <p:cNvPr id="2" name="slide-title">
            <a:extLst xmlns:a="http://schemas.openxmlformats.org/drawingml/2006/main">
              <a:ext uri="{FF2B5EF4-FFF2-40B4-BE49-F238E27FC236}">
                <a16:creationId xmlns:a16="http://schemas.microsoft.com/office/drawing/2014/main" id="{82CCF5EC-6729-4C0B-94E9-70EC7CB0A796}"/>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Trace calculations and policy claims separately</a:t>
            </a:r>
          </a:p>
        </p:txBody>
      </p:sp>
      <p:sp>
        <p:nvSpPr>
          <p:cNvPr id="3" name="lead">
            <a:extLst xmlns:a="http://schemas.openxmlformats.org/drawingml/2006/main">
              <a:ext uri="{FF2B5EF4-FFF2-40B4-BE49-F238E27FC236}">
                <a16:creationId xmlns:a16="http://schemas.microsoft.com/office/drawing/2014/main" id="{5FFAC59E-C195-49A3-8BED-7F289C042EC4}"/>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Citations should make the business answer auditable.</a:t>
            </a:r>
          </a:p>
        </p:txBody>
      </p:sp>
      <p:sp>
        <p:nvSpPr>
          <p:cNvPr id="4" name="text">
            <a:extLst xmlns:a="http://schemas.openxmlformats.org/drawingml/2006/main">
              <a:ext uri="{FF2B5EF4-FFF2-40B4-BE49-F238E27FC236}">
                <a16:creationId xmlns:a16="http://schemas.microsoft.com/office/drawing/2014/main" id="{D8B6B4D7-72D2-4DCF-AF21-B51AB9D24CB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1C490B74-46DC-40C7-96DF-2AA07FE9B74F}"/>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D517478D-B718-431E-8309-D891DA5237E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SQL provenance</a:t>
            </a:r>
          </a:p>
        </p:txBody>
      </p:sp>
      <p:sp>
        <p:nvSpPr>
          <p:cNvPr id="7" name="text">
            <a:extLst xmlns:a="http://schemas.openxmlformats.org/drawingml/2006/main">
              <a:ext uri="{FF2B5EF4-FFF2-40B4-BE49-F238E27FC236}">
                <a16:creationId xmlns:a16="http://schemas.microsoft.com/office/drawing/2014/main" id="{3D28DA56-DBFA-461F-8D5D-03DBEC2964D6}"/>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Identify the query, bound parameters, and result snapshot behind computed record values.</a:t>
            </a:r>
          </a:p>
        </p:txBody>
      </p:sp>
      <p:sp>
        <p:nvSpPr>
          <p:cNvPr id="8" name="text">
            <a:extLst xmlns:a="http://schemas.openxmlformats.org/drawingml/2006/main">
              <a:ext uri="{FF2B5EF4-FFF2-40B4-BE49-F238E27FC236}">
                <a16:creationId xmlns:a16="http://schemas.microsoft.com/office/drawing/2014/main" id="{0E048211-00C9-4E64-8307-CB93189B5CC3}"/>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Policy provenance</a:t>
            </a:r>
          </a:p>
        </p:txBody>
      </p:sp>
      <p:sp>
        <p:nvSpPr>
          <p:cNvPr id="9" name="text">
            <a:extLst xmlns:a="http://schemas.openxmlformats.org/drawingml/2006/main">
              <a:ext uri="{FF2B5EF4-FFF2-40B4-BE49-F238E27FC236}">
                <a16:creationId xmlns:a16="http://schemas.microsoft.com/office/drawing/2014/main" id="{B1C796A6-6060-4A32-BA36-F1876BABCA8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Cite product_plans for billing rules, minimum users, and taxes.</a:t>
            </a:r>
          </a:p>
        </p:txBody>
      </p:sp>
      <p:sp>
        <p:nvSpPr>
          <p:cNvPr id="10" name="text">
            <a:extLst xmlns:a="http://schemas.openxmlformats.org/drawingml/2006/main">
              <a:ext uri="{FF2B5EF4-FFF2-40B4-BE49-F238E27FC236}">
                <a16:creationId xmlns:a16="http://schemas.microsoft.com/office/drawing/2014/main" id="{93FEFE5F-0099-459C-BBA9-7328D3AD4016}"/>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Account evidence gate</a:t>
            </a:r>
          </a:p>
        </p:txBody>
      </p:sp>
      <p:sp>
        <p:nvSpPr>
          <p:cNvPr id="11" name="text">
            <a:extLst xmlns:a="http://schemas.openxmlformats.org/drawingml/2006/main">
              <a:ext uri="{FF2B5EF4-FFF2-40B4-BE49-F238E27FC236}">
                <a16:creationId xmlns:a16="http://schemas.microsoft.com/office/drawing/2014/main" id="{BFA727EB-AB7B-47D7-9A0D-356F99B64994}"/>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If there are no account row hits, do not answer an account-specific question from policy alone.</a:t>
            </a:r>
          </a:p>
        </p:txBody>
      </p:sp>
      <p:sp>
        <p:nvSpPr>
          <p:cNvPr id="12" name="text">
            <a:extLst xmlns:a="http://schemas.openxmlformats.org/drawingml/2006/main">
              <a:ext uri="{FF2B5EF4-FFF2-40B4-BE49-F238E27FC236}">
                <a16:creationId xmlns:a16="http://schemas.microsoft.com/office/drawing/2014/main" id="{3AE34702-0CA1-45AC-94DA-357DEFEE6549}"/>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Version alignment</a:t>
            </a:r>
          </a:p>
        </p:txBody>
      </p:sp>
      <p:sp>
        <p:nvSpPr>
          <p:cNvPr id="13" name="text">
            <a:extLst xmlns:a="http://schemas.openxmlformats.org/drawingml/2006/main">
              <a:ext uri="{FF2B5EF4-FFF2-40B4-BE49-F238E27FC236}">
                <a16:creationId xmlns:a16="http://schemas.microsoft.com/office/drawing/2014/main" id="{8A9E1446-5C37-4AFE-B930-708BF1239718}"/>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Refresh structured and document snapshots together when business rules change.</a:t>
            </a:r>
          </a:p>
        </p:txBody>
      </p:sp>
    </p:spTree>
    <p:extLst>
      <p:ext uri="{BB962C8B-B14F-4D97-AF65-F5344CB8AC3E}">
        <p14:creationId xmlns:p14="http://schemas.microsoft.com/office/powerpoint/2010/main" val="102371402"/>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1AF85874-2227-4994-9F46-6415A111BBDE}"/>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17</a:t>
            </a:r>
          </a:p>
        </p:txBody>
      </p:sp>
      <p:sp>
        <p:nvSpPr>
          <p:cNvPr id="2" name="slide-title">
            <a:extLst xmlns:a="http://schemas.openxmlformats.org/drawingml/2006/main">
              <a:ext uri="{FF2B5EF4-FFF2-40B4-BE49-F238E27FC236}">
                <a16:creationId xmlns:a16="http://schemas.microsoft.com/office/drawing/2014/main" id="{4156CE84-D7C7-494F-8C7B-0BDB1C98B8FF}"/>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inspect the plan, rows, and evidence</a:t>
            </a:r>
          </a:p>
        </p:txBody>
      </p:sp>
      <p:sp>
        <p:nvSpPr>
          <p:cNvPr id="3" name="lead">
            <a:extLst xmlns:a="http://schemas.openxmlformats.org/drawingml/2006/main">
              <a:ext uri="{FF2B5EF4-FFF2-40B4-BE49-F238E27FC236}">
                <a16:creationId xmlns:a16="http://schemas.microsoft.com/office/drawing/2014/main" id="{AC2E23EF-D6B7-46F1-872B-BD29950E5E8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Open notebook 17 and follow each execution boundary before generation.</a:t>
            </a:r>
          </a:p>
        </p:txBody>
      </p:sp>
      <p:sp>
        <p:nvSpPr>
          <p:cNvPr id="4" name="text">
            <a:extLst xmlns:a="http://schemas.openxmlformats.org/drawingml/2006/main">
              <a:ext uri="{FF2B5EF4-FFF2-40B4-BE49-F238E27FC236}">
                <a16:creationId xmlns:a16="http://schemas.microsoft.com/office/drawing/2014/main" id="{30695E97-5950-4A88-B599-BE2FF6FA753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C880D0D0-5231-4E8E-937D-CAE9FF6A5A3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539C6DEF-E0CE-4C7D-86D3-82260C4FD161}"/>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61443147-4781-4028-8EBD-4C27F8AA16B9}"/>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Inspect · sections 1–3</a:t>
            </a:r>
          </a:p>
        </p:txBody>
      </p:sp>
      <p:sp>
        <p:nvSpPr>
          <p:cNvPr id="8" name="text">
            <a:extLst xmlns:a="http://schemas.openxmlformats.org/drawingml/2006/main">
              <a:ext uri="{FF2B5EF4-FFF2-40B4-BE49-F238E27FC236}">
                <a16:creationId xmlns:a16="http://schemas.microsoft.com/office/drawing/2014/main" id="{43E78D53-7DFD-4804-B71B-C419208871E7}"/>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View the tables, read the join, and verify Cedar Labs plus the unknown Enterprise price.</a:t>
            </a:r>
          </a:p>
        </p:txBody>
      </p:sp>
      <p:sp>
        <p:nvSpPr>
          <p:cNvPr id="9" name="text">
            <a:extLst xmlns:a="http://schemas.openxmlformats.org/drawingml/2006/main">
              <a:ext uri="{FF2B5EF4-FFF2-40B4-BE49-F238E27FC236}">
                <a16:creationId xmlns:a16="http://schemas.microsoft.com/office/drawing/2014/main" id="{D8296CC8-0CCA-4099-8BF4-8C7CCC172BEC}"/>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C1E3B8D5-AA6A-407E-9FB7-DA12AB5C7867}"/>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Plan · sections 4–5</a:t>
            </a:r>
          </a:p>
        </p:txBody>
      </p:sp>
      <p:sp>
        <p:nvSpPr>
          <p:cNvPr id="11" name="text">
            <a:extLst xmlns:a="http://schemas.openxmlformats.org/drawingml/2006/main">
              <a:ext uri="{FF2B5EF4-FFF2-40B4-BE49-F238E27FC236}">
                <a16:creationId xmlns:a16="http://schemas.microsoft.com/office/drawing/2014/main" id="{8D93266E-1FC9-4079-8A14-A66A8064C492}"/>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Read the proposed JSON plan and selected SQL before running the validated query.</a:t>
            </a:r>
          </a:p>
        </p:txBody>
      </p:sp>
      <p:sp>
        <p:nvSpPr>
          <p:cNvPr id="12" name="text">
            <a:extLst xmlns:a="http://schemas.openxmlformats.org/drawingml/2006/main">
              <a:ext uri="{FF2B5EF4-FFF2-40B4-BE49-F238E27FC236}">
                <a16:creationId xmlns:a16="http://schemas.microsoft.com/office/drawing/2014/main" id="{B286BB0D-5D3F-4F6D-80ED-0F6D5AECE1BF}"/>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C840DE93-AA3A-4207-B7B4-25476EABCBDC}"/>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Ground · sections 6–7</a:t>
            </a:r>
          </a:p>
        </p:txBody>
      </p:sp>
      <p:sp>
        <p:nvSpPr>
          <p:cNvPr id="14" name="text">
            <a:extLst xmlns:a="http://schemas.openxmlformats.org/drawingml/2006/main">
              <a:ext uri="{FF2B5EF4-FFF2-40B4-BE49-F238E27FC236}">
                <a16:creationId xmlns:a16="http://schemas.microsoft.com/office/drawing/2014/main" id="{38F0F0E9-1C78-4E70-9FBA-79B605DBCBC4}"/>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Inspect row and policy evidence, then check the answer’s numbers and citations.</a:t>
            </a:r>
          </a:p>
        </p:txBody>
      </p:sp>
      <p:sp>
        <p:nvSpPr>
          <p:cNvPr id="15" name="text">
            <a:extLst xmlns:a="http://schemas.openxmlformats.org/drawingml/2006/main">
              <a:ext uri="{FF2B5EF4-FFF2-40B4-BE49-F238E27FC236}">
                <a16:creationId xmlns:a16="http://schemas.microsoft.com/office/drawing/2014/main" id="{646C8053-44BD-4C4A-9F0C-81F8689D290E}"/>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7276C828-4852-4368-ADFC-2CA5C3CEBE34}"/>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Challenge · sections 8–9</a:t>
            </a:r>
          </a:p>
        </p:txBody>
      </p:sp>
      <p:sp>
        <p:nvSpPr>
          <p:cNvPr id="17" name="text">
            <a:extLst xmlns:a="http://schemas.openxmlformats.org/drawingml/2006/main">
              <a:ext uri="{FF2B5EF4-FFF2-40B4-BE49-F238E27FC236}">
                <a16:creationId xmlns:a16="http://schemas.microsoft.com/office/drawing/2014/main" id="{A45C6BB2-99C5-4B78-B0EC-11A3E8025821}"/>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Try rejected writes, a bound attack string, unknown accounts, row limits, and a compute budget.</a:t>
            </a:r>
          </a:p>
        </p:txBody>
      </p:sp>
    </p:spTree>
    <p:extLst>
      <p:ext uri="{BB962C8B-B14F-4D97-AF65-F5344CB8AC3E}">
        <p14:creationId xmlns:p14="http://schemas.microsoft.com/office/powerpoint/2010/main" val="1088821205"/>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660B8C4B-AD57-4922-9522-3C9E3A9C54BE}"/>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17</a:t>
            </a:r>
          </a:p>
        </p:txBody>
      </p:sp>
      <p:sp>
        <p:nvSpPr>
          <p:cNvPr id="2" name="slide-title">
            <a:extLst xmlns:a="http://schemas.openxmlformats.org/drawingml/2006/main">
              <a:ext uri="{FF2B5EF4-FFF2-40B4-BE49-F238E27FC236}">
                <a16:creationId xmlns:a16="http://schemas.microsoft.com/office/drawing/2014/main" id="{018CCF83-F948-4CEB-ACBE-023A4211639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Apply minimum users and preserve unknown prices</a:t>
            </a:r>
          </a:p>
        </p:txBody>
      </p:sp>
      <p:sp>
        <p:nvSpPr>
          <p:cNvPr id="3" name="lead">
            <a:extLst xmlns:a="http://schemas.openxmlformats.org/drawingml/2006/main">
              <a:ext uri="{FF2B5EF4-FFF2-40B4-BE49-F238E27FC236}">
                <a16:creationId xmlns:a16="http://schemas.microsoft.com/office/drawing/2014/main" id="{07BFFE9C-F73D-4FAA-AE6C-C2AF2D149BF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Use the existing query templates to solve new questions without another model call.</a:t>
            </a:r>
          </a:p>
        </p:txBody>
      </p:sp>
      <p:sp>
        <p:nvSpPr>
          <p:cNvPr id="4" name="text">
            <a:extLst xmlns:a="http://schemas.openxmlformats.org/drawingml/2006/main">
              <a:ext uri="{FF2B5EF4-FFF2-40B4-BE49-F238E27FC236}">
                <a16:creationId xmlns:a16="http://schemas.microsoft.com/office/drawing/2014/main" id="{2D5E046B-6B3D-4C8B-9F69-56C29C44B10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17  /  Structured-data RAG</a:t>
            </a:r>
          </a:p>
        </p:txBody>
      </p:sp>
      <p:sp>
        <p:nvSpPr>
          <p:cNvPr id="5" name="page-number">
            <a:extLst xmlns:a="http://schemas.openxmlformats.org/drawingml/2006/main">
              <a:ext uri="{FF2B5EF4-FFF2-40B4-BE49-F238E27FC236}">
                <a16:creationId xmlns:a16="http://schemas.microsoft.com/office/drawing/2014/main" id="{EF70D98F-AB06-4167-8359-B456DA9E42C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9584B43A-E802-4D68-A7C3-83A3C58B3C55}"/>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Three-user quote</a:t>
            </a:r>
          </a:p>
        </p:txBody>
      </p:sp>
      <p:sp>
        <p:nvSpPr>
          <p:cNvPr id="7" name="text">
            <a:extLst xmlns:a="http://schemas.openxmlformats.org/drawingml/2006/main">
              <a:ext uri="{FF2B5EF4-FFF2-40B4-BE49-F238E27FC236}">
                <a16:creationId xmlns:a16="http://schemas.microsoft.com/office/drawing/2014/main" id="{28DCF676-297F-48BC-ABCC-23C5EB68A6D1}"/>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Apply max(3, 5) billable users: 5 × INR 2,400 × 12 = INR 144,000 before tax.</a:t>
            </a:r>
          </a:p>
        </p:txBody>
      </p:sp>
      <p:sp>
        <p:nvSpPr>
          <p:cNvPr id="8" name="text">
            <a:extLst xmlns:a="http://schemas.openxmlformats.org/drawingml/2006/main">
              <a:ext uri="{FF2B5EF4-FFF2-40B4-BE49-F238E27FC236}">
                <a16:creationId xmlns:a16="http://schemas.microsoft.com/office/drawing/2014/main" id="{E189350B-8297-473A-A1BF-BFF0173E49A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West-region Team total</a:t>
            </a:r>
          </a:p>
        </p:txBody>
      </p:sp>
      <p:sp>
        <p:nvSpPr>
          <p:cNvPr id="9" name="text">
            <a:extLst xmlns:a="http://schemas.openxmlformats.org/drawingml/2006/main">
              <a:ext uri="{FF2B5EF4-FFF2-40B4-BE49-F238E27FC236}">
                <a16:creationId xmlns:a16="http://schemas.microsoft.com/office/drawing/2014/main" id="{5FD84725-59A2-4575-8D27-378CA793D006}"/>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Expected: 20 purchased users and INR 576,000 annual list price before tax.</a:t>
            </a:r>
          </a:p>
        </p:txBody>
      </p:sp>
      <p:sp>
        <p:nvSpPr>
          <p:cNvPr id="10" name="text">
            <a:extLst xmlns:a="http://schemas.openxmlformats.org/drawingml/2006/main">
              <a:ext uri="{FF2B5EF4-FFF2-40B4-BE49-F238E27FC236}">
                <a16:creationId xmlns:a16="http://schemas.microsoft.com/office/drawing/2014/main" id="{D7A8E121-ABEE-4D2B-86FD-A8404BB1CB99}"/>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Enterprise price</a:t>
            </a:r>
          </a:p>
        </p:txBody>
      </p:sp>
      <p:sp>
        <p:nvSpPr>
          <p:cNvPr id="11" name="text">
            <a:extLst xmlns:a="http://schemas.openxmlformats.org/drawingml/2006/main">
              <a:ext uri="{FF2B5EF4-FFF2-40B4-BE49-F238E27FC236}">
                <a16:creationId xmlns:a16="http://schemas.microsoft.com/office/drawing/2014/main" id="{87449F5E-C54B-432A-BD9A-418C1FA5BE0F}"/>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Keep Orion’s custom price NULL; explain why it is unknown rather than free.</a:t>
            </a:r>
          </a:p>
        </p:txBody>
      </p:sp>
      <p:sp>
        <p:nvSpPr>
          <p:cNvPr id="12" name="text">
            <a:extLst xmlns:a="http://schemas.openxmlformats.org/drawingml/2006/main">
              <a:ext uri="{FF2B5EF4-FFF2-40B4-BE49-F238E27FC236}">
                <a16:creationId xmlns:a16="http://schemas.microsoft.com/office/drawing/2014/main" id="{34A93A47-746C-4CCA-BA5C-F2A17D8A445E}"/>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Unsupported forecast</a:t>
            </a:r>
          </a:p>
        </p:txBody>
      </p:sp>
      <p:sp>
        <p:nvSpPr>
          <p:cNvPr id="13" name="text">
            <a:extLst xmlns:a="http://schemas.openxmlformats.org/drawingml/2006/main">
              <a:ext uri="{FF2B5EF4-FFF2-40B4-BE49-F238E27FC236}">
                <a16:creationId xmlns:a16="http://schemas.microsoft.com/office/drawing/2014/main" id="{BB908F97-E76C-4C0B-8064-C3F88F14E6FA}"/>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“Predict next year’s profit” has no supported data or query intent; execute no SQL.</a:t>
            </a:r>
          </a:p>
        </p:txBody>
      </p:sp>
    </p:spTree>
    <p:extLst>
      <p:ext uri="{BB962C8B-B14F-4D97-AF65-F5344CB8AC3E}">
        <p14:creationId xmlns:p14="http://schemas.microsoft.com/office/powerpoint/2010/main" val="1926565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2026-10-11T09:50:56.0050000Z</dcterms:created>
  <dcterms:modified xsi:type="dcterms:W3CDTF">2026-10-11T09:50:56.0050000Z</dcterms:modified>
</coreProperties>
</file>