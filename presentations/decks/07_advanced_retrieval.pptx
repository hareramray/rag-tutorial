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f3ad045f544fd4" /><Relationship Type="http://schemas.openxmlformats.org/officeDocument/2006/relationships/extended-properties" Target="/docProps/app.xml" Id="Rdf03863516334d4e" /><Relationship Type="http://schemas.openxmlformats.org/officeDocument/2006/relationships/officeDocument" Target="/ppt/presentation.xml" Id="R2cb63e3f4a9e457c" /></Relationships>
</file>

<file path=ppt/presentation.xml><?xml version="1.0" encoding="utf-8"?>
<p:presentation xmlns:p="http://schemas.openxmlformats.org/presentationml/2006/main">
  <p:sldMasterIdLst>
    <p:sldMasterId xmlns:r="http://schemas.openxmlformats.org/officeDocument/2006/relationships" id="2147483648" r:id="R930cdb769d8141a5"/>
  </p:sldMasterIdLst>
  <p:notesMasterIdLst>
    <p:notesMasterId xmlns:r="http://schemas.openxmlformats.org/officeDocument/2006/relationships" r:id="Rbb9a840a79f943dc"/>
  </p:notesMasterIdLst>
  <p:sldIdLst>
    <p:sldId xmlns:r="http://schemas.openxmlformats.org/officeDocument/2006/relationships" id="256" r:id="R189b670306904538"/>
    <p:sldId xmlns:r="http://schemas.openxmlformats.org/officeDocument/2006/relationships" id="257" r:id="R1ab6ce9b8b534969"/>
    <p:sldId xmlns:r="http://schemas.openxmlformats.org/officeDocument/2006/relationships" id="258" r:id="R9c089c91cebe4967"/>
    <p:sldId xmlns:r="http://schemas.openxmlformats.org/officeDocument/2006/relationships" id="259" r:id="Rac05121e8fea428f"/>
    <p:sldId xmlns:r="http://schemas.openxmlformats.org/officeDocument/2006/relationships" id="260" r:id="Rd01f33ab25e24efa"/>
    <p:sldId xmlns:r="http://schemas.openxmlformats.org/officeDocument/2006/relationships" id="261" r:id="R2bd6d5312e99488e"/>
    <p:sldId xmlns:r="http://schemas.openxmlformats.org/officeDocument/2006/relationships" id="262" r:id="R9047151c36454405"/>
    <p:sldId xmlns:r="http://schemas.openxmlformats.org/officeDocument/2006/relationships" id="263" r:id="Re41dd0219a8c4396"/>
    <p:sldId xmlns:r="http://schemas.openxmlformats.org/officeDocument/2006/relationships" id="264" r:id="R3488ec5596094f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9dd6d4085c4457" /><Relationship Type="http://schemas.openxmlformats.org/officeDocument/2006/relationships/slideMaster" Target="/ppt/slideMasters/slideMaster1.xml" Id="R930cdb769d8141a5" /><Relationship Type="http://schemas.openxmlformats.org/officeDocument/2006/relationships/notesMaster" Target="/ppt/notesMasters/notesMaster1.xml" Id="Rbb9a840a79f943dc" /><Relationship Type="http://schemas.openxmlformats.org/officeDocument/2006/relationships/presProps" Target="/ppt/presProps.xml" Id="R8559bde8e96140d4" /><Relationship Type="http://schemas.openxmlformats.org/officeDocument/2006/relationships/tableStyles" Target="/ppt/tableStyles.xml" Id="Rc3b599a56a2a4331" /><Relationship Type="http://schemas.openxmlformats.org/officeDocument/2006/relationships/slide" Target="/ppt/slides/slide1.xml" Id="R189b670306904538" /><Relationship Type="http://schemas.openxmlformats.org/officeDocument/2006/relationships/slide" Target="/ppt/slides/slide2.xml" Id="R1ab6ce9b8b534969" /><Relationship Type="http://schemas.openxmlformats.org/officeDocument/2006/relationships/slide" Target="/ppt/slides/slide3.xml" Id="R9c089c91cebe4967" /><Relationship Type="http://schemas.openxmlformats.org/officeDocument/2006/relationships/slide" Target="/ppt/slides/slide4.xml" Id="Rac05121e8fea428f" /><Relationship Type="http://schemas.openxmlformats.org/officeDocument/2006/relationships/slide" Target="/ppt/slides/slide5.xml" Id="Rd01f33ab25e24efa" /><Relationship Type="http://schemas.openxmlformats.org/officeDocument/2006/relationships/slide" Target="/ppt/slides/slide6.xml" Id="R2bd6d5312e99488e" /><Relationship Type="http://schemas.openxmlformats.org/officeDocument/2006/relationships/slide" Target="/ppt/slides/slide7.xml" Id="R9047151c36454405" /><Relationship Type="http://schemas.openxmlformats.org/officeDocument/2006/relationships/slide" Target="/ppt/slides/slide8.xml" Id="Re41dd0219a8c4396" /><Relationship Type="http://schemas.openxmlformats.org/officeDocument/2006/relationships/slide" Target="/ppt/slides/slide9.xml" Id="R3488ec5596094f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34e23ce30143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c42a3a2f1a4e4c" /><Relationship Type="http://schemas.openxmlformats.org/officeDocument/2006/relationships/notesMaster" Target="/ppt/notesMasters/notesMaster1.xml" Id="R7305276d9b2743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f3b888e2674abd" /><Relationship Type="http://schemas.openxmlformats.org/officeDocument/2006/relationships/notesMaster" Target="/ppt/notesMasters/notesMaster1.xml" Id="R0b3cdee155d346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ac17be06984b20" /><Relationship Type="http://schemas.openxmlformats.org/officeDocument/2006/relationships/notesMaster" Target="/ppt/notesMasters/notesMaster1.xml" Id="Rfadba5767d6e4c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35518fd2f74670" /><Relationship Type="http://schemas.openxmlformats.org/officeDocument/2006/relationships/notesMaster" Target="/ppt/notesMasters/notesMaster1.xml" Id="Rf8b65320962b42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2761c4dcfc4369" /><Relationship Type="http://schemas.openxmlformats.org/officeDocument/2006/relationships/notesMaster" Target="/ppt/notesMasters/notesMaster1.xml" Id="R3775dc3b5e0741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569e36e69941f5" /><Relationship Type="http://schemas.openxmlformats.org/officeDocument/2006/relationships/notesMaster" Target="/ppt/notesMasters/notesMaster1.xml" Id="R9aed942df32e4d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8e7bf27bc54178" /><Relationship Type="http://schemas.openxmlformats.org/officeDocument/2006/relationships/notesMaster" Target="/ppt/notesMasters/notesMaster1.xml" Id="R807c68cd832946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696fa8c8584699" /><Relationship Type="http://schemas.openxmlformats.org/officeDocument/2006/relationships/notesMaster" Target="/ppt/notesMasters/notesMaster1.xml" Id="R79eca43d790544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690c2eb7964fcc" /><Relationship Type="http://schemas.openxmlformats.org/officeDocument/2006/relationships/notesMaster" Target="/ppt/notesMasters/notesMaster1.xml" Id="R24340fb87ad745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notebooks/07_advanced_retrieval.ipynb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notebooks/07_advanced_retrieval.ipynb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by asking the audience how many distinct policies the question needs. The correct unit of coverage here is a source, not the number of similar passages returned. Run the baseline and show the selected source IDs before introducing any advanced technique. Smaller child chunks can match precise questions, but the top results may all concentrate on the stronger topic. This notebook changes query coverage, redundancy, and context scope in separate stages. Preserve this order so learners can attribute each effect to the technique that caused it. Notebook reference: notebooks/07_advanced_retrieval.ipynb, Step 1.</a:t>
            </a:r>
          </a:p>
          <a:p xmlns:a="http://schemas.openxmlformats.org/drawingml/2006/main">
            <a:r>
              <a:t/>
            </a:r>
          </a:p>
          <a:p xmlns:a="http://schemas.openxmlformats.org/drawingml/2006/main">
            <a:r>
              <a:t>NOTEBOOK: notebooks/07_advanced_retrieval.ipynb</a:t>
            </a:r>
          </a:p>
          <a:p xmlns:a="http://schemas.openxmlformats.org/drawingml/2006/main">
            <a:r>
              <a:t/>
            </a:r>
          </a:p>
          <a:p xmlns:a="http://schemas.openxmlformats.org/drawingml/2006/main">
            <a:r>
              <a:t>SOURCES</a:t>
            </a:r>
          </a:p>
          <a:p xmlns:a="http://schemas.openxmlformats.org/drawingml/2006/main">
            <a:r>
              <a:t>notebooks/07_advanced_retrieval.ipynb - Step 1</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two prepared queries for leave carryover and remote work, then point out that live mode asks Claude to generate search queries. A parseable list can still change meaning, so inspect names, dates, negation, and the scope of the original request. The code retains the original and labels any prepared fallback clearly if parsing fails. Each query has its own ranked list, and RRF combines their positions. Query expansion adds model latency and more searches; it may also add irrelevant candidates. Validate coverage rather than assuming improvement. Notebook reference: notebooks/07_advanced_retrieval.ipynb, Steps 2-3.</a:t>
            </a:r>
          </a:p>
          <a:p xmlns:a="http://schemas.openxmlformats.org/drawingml/2006/main">
            <a:r>
              <a:t/>
            </a:r>
          </a:p>
          <a:p xmlns:a="http://schemas.openxmlformats.org/drawingml/2006/main">
            <a:r>
              <a:t>NOTEBOOK: notebooks/07_advanced_retrieval.ipynb</a:t>
            </a:r>
          </a:p>
          <a:p xmlns:a="http://schemas.openxmlformats.org/drawingml/2006/main">
            <a:r>
              <a:t/>
            </a:r>
          </a:p>
          <a:p xmlns:a="http://schemas.openxmlformats.org/drawingml/2006/main">
            <a:r>
              <a:t>SOURCES</a:t>
            </a:r>
          </a:p>
          <a:p xmlns:a="http://schemas.openxmlformats.org/drawingml/2006/main">
            <a:r>
              <a:t>notebooks/07_advanced_retrieval.ipynb - Steps 2-3</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MMR as an iterative selection rule rather than a new embedding model. The candidates already have vectors. The code normalizes them, computes query relevance, then measures similarity to passages already selected. For the first selection there is no redundancy term, so relevance decides. Show the equation and ask which term grows when a candidate nearly repeats a selected passage. Lower lambda favors variety more strongly, but an unrelated passage can also be different. The displayed score remains query similarity; it is not the changing MMR objective. Notebook reference: notebooks/07_advanced_retrieval.ipynb, Steps 4-5.</a:t>
            </a:r>
          </a:p>
          <a:p xmlns:a="http://schemas.openxmlformats.org/drawingml/2006/main">
            <a:r>
              <a:t/>
            </a:r>
          </a:p>
          <a:p xmlns:a="http://schemas.openxmlformats.org/drawingml/2006/main">
            <a:r>
              <a:t>NOTEBOOK: notebooks/07_advanced_retrieval.ipynb</a:t>
            </a:r>
          </a:p>
          <a:p xmlns:a="http://schemas.openxmlformats.org/drawingml/2006/main">
            <a:r>
              <a:t/>
            </a:r>
          </a:p>
          <a:p xmlns:a="http://schemas.openxmlformats.org/drawingml/2006/main">
            <a:r>
              <a:t>SOURCES</a:t>
            </a:r>
          </a:p>
          <a:p xmlns:a="http://schemas.openxmlformats.org/drawingml/2006/main">
            <a:r>
              <a:t>notebooks/07_advanced_retrieval.ipynb - Steps 4-5</a:t>
            </a:r>
          </a:p>
          <a:p xmlns:a="http://schemas.openxmlformats.org/drawingml/2006/main">
            <a:r>
              <a:t>https://www.cs.cmu.edu/~jgc/publication/The_Use_MMR_Diversity_Based_LTMIR_1998.pdf</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parent-expansion table and trace one child ID to its parent source. Explain why adjacent qualifications may matter: a short chunk containing a number can omit a deadline or approval condition. The function deduplicates parents and caps their count, so multiple matching children do not repeat the entire policy. Larger parent text increases prompt size and can add distraction. In a real system, expanding a child must not grant access to a parent with stricter permissions. This corpus does not include paragraph-level permissions, so that boundary is discussed rather than implemented. Notebook reference: notebooks/07_advanced_retrieval.ipynb, Steps 6-7.</a:t>
            </a:r>
          </a:p>
          <a:p xmlns:a="http://schemas.openxmlformats.org/drawingml/2006/main">
            <a:r>
              <a:t/>
            </a:r>
          </a:p>
          <a:p xmlns:a="http://schemas.openxmlformats.org/drawingml/2006/main">
            <a:r>
              <a:t>NOTEBOOK: notebooks/07_advanced_retrieval.ipynb</a:t>
            </a:r>
          </a:p>
          <a:p xmlns:a="http://schemas.openxmlformats.org/drawingml/2006/main">
            <a:r>
              <a:t/>
            </a:r>
          </a:p>
          <a:p xmlns:a="http://schemas.openxmlformats.org/drawingml/2006/main">
            <a:r>
              <a:t>SOURCES</a:t>
            </a:r>
          </a:p>
          <a:p xmlns:a="http://schemas.openxmlformats.org/drawingml/2006/main">
            <a:r>
              <a:t>notebooks/07_advanced_retrieval.ipynb - Steps 6-7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 HyDE as Hypothetical Document Embeddings and explain the hypothesis as a search instrument. It is not a draft answer to trust. Show the optional function and point to the return values separating hypothesis from hits. A false premise can steer retrieval toward the wrong region, so effectiveness depends on the corpus, task, model, and evaluation. Offline mode skips hypothetical generation rather than fabricating a model response. If demonstrating it live, label the passage unverified and show the actual retrieved sources before discussing a grounded answer. Notebook reference: notebooks/07_advanced_retrieval.ipynb, Step 8.</a:t>
            </a:r>
          </a:p>
          <a:p xmlns:a="http://schemas.openxmlformats.org/drawingml/2006/main">
            <a:r>
              <a:t/>
            </a:r>
          </a:p>
          <a:p xmlns:a="http://schemas.openxmlformats.org/drawingml/2006/main">
            <a:r>
              <a:t>NOTEBOOK: notebooks/07_advanced_retrieval.ipynb</a:t>
            </a:r>
          </a:p>
          <a:p xmlns:a="http://schemas.openxmlformats.org/drawingml/2006/main">
            <a:r>
              <a:t/>
            </a:r>
          </a:p>
          <a:p xmlns:a="http://schemas.openxmlformats.org/drawingml/2006/main">
            <a:r>
              <a:t>SOURCES</a:t>
            </a:r>
          </a:p>
          <a:p xmlns:a="http://schemas.openxmlformats.org/drawingml/2006/main">
            <a:r>
              <a:t>notebooks/07_advanced_retrieval.ipynb - Step 8</a:t>
            </a:r>
          </a:p>
          <a:p xmlns:a="http://schemas.openxmlformats.org/drawingml/2006/main">
            <a:r>
              <a:t>https://arxiv.org/abs/2212.10496</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normal live path makes two Claude calls: one for query expansion and one for the final answer, with the shared helper cache available. Keep the HyDE toggle off for the core demonstration. Pause after each stage and ask whether both expected sources are present, then read the relevant text. The final answer must address the original question, not one isolated rewrite. Offline mode uses prepared queries and lexical vectors and skips generation. Those outputs can teach the mechanics, but they do not measure semantic retrieval or rewrite quality. Notebook reference: notebooks/07_advanced_retrieval.ipynb, Steps 1-7.</a:t>
            </a:r>
          </a:p>
          <a:p xmlns:a="http://schemas.openxmlformats.org/drawingml/2006/main">
            <a:r>
              <a:t/>
            </a:r>
          </a:p>
          <a:p xmlns:a="http://schemas.openxmlformats.org/drawingml/2006/main">
            <a:r>
              <a:t>NOTEBOOK: notebooks/07_advanced_retrieval.ipynb</a:t>
            </a:r>
          </a:p>
          <a:p xmlns:a="http://schemas.openxmlformats.org/drawingml/2006/main">
            <a:r>
              <a:t/>
            </a:r>
          </a:p>
          <a:p xmlns:a="http://schemas.openxmlformats.org/drawingml/2006/main">
            <a:r>
              <a:t>SOURCES</a:t>
            </a:r>
          </a:p>
          <a:p xmlns:a="http://schemas.openxmlformats.org/drawingml/2006/main">
            <a:r>
              <a:t>notebooks/07_advanced_retrieval.ipynb - Steps 1-7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prevent a checklist approach in which every advanced feature is enabled automatically. Ask learners to pair each technique with the problem it addresses: missing facets, repeated content, missing qualifications, or a query-document vocabulary gap. Then discuss the corresponding failure mode. Distinct-source count is only a rough diversity indicator and cannot prove that the right facts are present. Tune one component at a time against representative labeled examples. Also measure the added searches, model requests, and final prompt size so the tradeoff is visible. Notebook reference: notebooks/07_advanced_retrieval.ipynb, Your turn and What you can now demonstrate.</a:t>
            </a:r>
          </a:p>
          <a:p xmlns:a="http://schemas.openxmlformats.org/drawingml/2006/main">
            <a:r>
              <a:t/>
            </a:r>
          </a:p>
          <a:p xmlns:a="http://schemas.openxmlformats.org/drawingml/2006/main">
            <a:r>
              <a:t>NOTEBOOK: notebooks/07_advanced_retrieval.ipynb</a:t>
            </a:r>
          </a:p>
          <a:p xmlns:a="http://schemas.openxmlformats.org/drawingml/2006/main">
            <a:r>
              <a:t/>
            </a:r>
          </a:p>
          <a:p xmlns:a="http://schemas.openxmlformats.org/drawingml/2006/main">
            <a:r>
              <a:t>SOURCES</a:t>
            </a:r>
          </a:p>
          <a:p xmlns:a="http://schemas.openxmlformats.org/drawingml/2006/main">
            <a:r>
              <a:t>notebooks/07_advanced_retrieval.ipynb - Your turn and What you can now demonstrate</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 solution uses hand-written subqueries, so this exercise requires no extra model request. Learners can compare the original query with the multi-query result, inspect the selected sources, and explain whether each needed policy reached the evidence. The Team price includes annual billing and a minimum seat requirement; retention is a separate fact. Have them identify qualifications that might disappear in a short child chunk. Finish by asking which advanced component changed the result and which only added cost. A stable result is still useful evidence about this small corpus. Notebook reference: notebooks/07_advanced_retrieval.ipynb, Your turn and sample solution.</a:t>
            </a:r>
          </a:p>
          <a:p xmlns:a="http://schemas.openxmlformats.org/drawingml/2006/main">
            <a:r>
              <a:t/>
            </a:r>
          </a:p>
          <a:p xmlns:a="http://schemas.openxmlformats.org/drawingml/2006/main">
            <a:r>
              <a:t>NOTEBOOK: notebooks/07_advanced_retrieval.ipynb</a:t>
            </a:r>
          </a:p>
          <a:p xmlns:a="http://schemas.openxmlformats.org/drawingml/2006/main">
            <a:r>
              <a:t/>
            </a:r>
          </a:p>
          <a:p xmlns:a="http://schemas.openxmlformats.org/drawingml/2006/main">
            <a:r>
              <a:t>SOURCES</a:t>
            </a:r>
          </a:p>
          <a:p xmlns:a="http://schemas.openxmlformats.org/drawingml/2006/main">
            <a:r>
              <a:t>notebooks/07_advanced_retrieval.ipynb - Your turn and sample solution</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43ed577f7348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d3a18e1d6a43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b3f9e11ee041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de6b550de642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42a8fd78f341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271760a7554e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F028DB-3222-424F-B210-AF396235A4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294EAB4-BF89-40EB-B61A-48A17689040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C819264-DBF5-449F-AE95-2890226DBE7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94EFF7-C0BC-4A70-93A3-928B7382B6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582DA42-3106-40BF-A087-5D4599E8040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6A4CD20-C2ED-471D-8F2D-12BC5E90E7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6D3B6C-0DFC-49D3-A79F-30AC67B9C6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D3C2E5-5166-4E1C-90E7-AB01E61A25B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D25506-983C-4018-9B9A-C77394193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3918DF-E70F-4912-AA98-DB8A2B62FA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fbd02464854aee" /><Relationship Type="http://schemas.openxmlformats.org/officeDocument/2006/relationships/slideLayout" Target="/ppt/slideLayouts/slideLayout1.xml" Id="R5e3485f8c49144d3" /><Relationship Type="http://schemas.openxmlformats.org/officeDocument/2006/relationships/slideLayout" Target="/ppt/slideLayouts/slideLayout2.xml" Id="R9fefb88539994f3c" /><Relationship Type="http://schemas.openxmlformats.org/officeDocument/2006/relationships/slideLayout" Target="/ppt/slideLayouts/slideLayout3.xml" Id="R7f3cab943cd245ca" /><Relationship Type="http://schemas.openxmlformats.org/officeDocument/2006/relationships/slideLayout" Target="/ppt/slideLayouts/slideLayout4.xml" Id="R3157b7d6b4bd4e58" /><Relationship Type="http://schemas.openxmlformats.org/officeDocument/2006/relationships/slideLayout" Target="/ppt/slideLayouts/slideLayout5.xml" Id="Rd5c24c376b4946eb" /><Relationship Type="http://schemas.openxmlformats.org/officeDocument/2006/relationships/slideLayout" Target="/ppt/slideLayouts/slideLayout6.xml" Id="R0fca5d8dae0b42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3485f8c49144d3"/>
    <p:sldLayoutId xmlns:r="http://schemas.openxmlformats.org/officeDocument/2006/relationships" id="2147483650" r:id="R9fefb88539994f3c"/>
    <p:sldLayoutId xmlns:r="http://schemas.openxmlformats.org/officeDocument/2006/relationships" id="2147483651" r:id="R7f3cab943cd245ca"/>
    <p:sldLayoutId xmlns:r="http://schemas.openxmlformats.org/officeDocument/2006/relationships" id="2147483652" r:id="R3157b7d6b4bd4e58"/>
    <p:sldLayoutId xmlns:r="http://schemas.openxmlformats.org/officeDocument/2006/relationships" id="2147483653" r:id="Rd5c24c376b4946eb"/>
    <p:sldLayoutId xmlns:r="http://schemas.openxmlformats.org/officeDocument/2006/relationships" id="2147483654" r:id="R0fca5d8dae0b42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180fed6c6646c3" /><Relationship Type="http://schemas.openxmlformats.org/officeDocument/2006/relationships/image" Target="/ppt/media/image.png" Id="Rdbfa42fa5fad4379" /><Relationship Type="http://schemas.openxmlformats.org/officeDocument/2006/relationships/notesSlide" Target="/ppt/notesSlides/notesSlide1.xml" Id="R9f556152d5a743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40f8256ee3b4ce7" /><Relationship Type="http://schemas.openxmlformats.org/officeDocument/2006/relationships/notesSlide" Target="/ppt/notesSlides/notesSlide2.xml" Id="R870ec5bc2cc643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3dcbeda361b4a19" /><Relationship Type="http://schemas.openxmlformats.org/officeDocument/2006/relationships/notesSlide" Target="/ppt/notesSlides/notesSlide3.xml" Id="R49e6f687f5f548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483d2aa1ad24510" /><Relationship Type="http://schemas.openxmlformats.org/officeDocument/2006/relationships/notesSlide" Target="/ppt/notesSlides/notesSlide4.xml" Id="R86f8c3e6d12244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3120671a2424b5d" /><Relationship Type="http://schemas.openxmlformats.org/officeDocument/2006/relationships/notesSlide" Target="/ppt/notesSlides/notesSlide5.xml" Id="Ra0600d4b3da146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c1e9b00ae344755" /><Relationship Type="http://schemas.openxmlformats.org/officeDocument/2006/relationships/notesSlide" Target="/ppt/notesSlides/notesSlide6.xml" Id="R73f34a86252944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90877ae21cc4062" /><Relationship Type="http://schemas.openxmlformats.org/officeDocument/2006/relationships/notesSlide" Target="/ppt/notesSlides/notesSlide7.xml" Id="R6bb59db56b2f44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53692349296444b" /><Relationship Type="http://schemas.openxmlformats.org/officeDocument/2006/relationships/notesSlide" Target="/ppt/notesSlides/notesSlide8.xml" Id="R6f4c0fdcd71a40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d82598392c54b6b" /><Relationship Type="http://schemas.openxmlformats.org/officeDocument/2006/relationships/notesSlide" Target="/ppt/notesSlides/notesSlide9.xml" Id="Rcb761bf5cd91476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11104D07-D877-4719-A64E-44822F6E9A6E}"/>
              </a:ext>
            </a:extLst>
          </p:cNvPr>
          <p:cNvPicPr>
            <a:picLocks xmlns:a="http://schemas.openxmlformats.org/drawingml/2006/main" noChangeAspect="1"/>
          </p:cNvPicPr>
          <p:nvPr/>
        </p:nvPicPr>
        <p:blipFill>
          <a:blip xmlns:r="http://schemas.openxmlformats.org/officeDocument/2006/relationships" xmlns:a="http://schemas.openxmlformats.org/drawingml/2006/main" r:embed="Rdbfa42fa5fad43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F738736D-C550-4D7B-9954-D398B7F3D3DD}"/>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07</a:t>
            </a:r>
          </a:p>
        </p:txBody>
      </p:sp>
      <p:sp>
        <p:nvSpPr>
          <p:cNvPr id="3" name="deck-title">
            <a:extLst xmlns:a="http://schemas.openxmlformats.org/drawingml/2006/main">
              <a:ext uri="{FF2B5EF4-FFF2-40B4-BE49-F238E27FC236}">
                <a16:creationId xmlns:a16="http://schemas.microsoft.com/office/drawing/2014/main" id="{BE4D42D1-B7EB-4BFC-970A-3ED2FDECCCB8}"/>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Advanced retrieval</a:t>
            </a:r>
          </a:p>
        </p:txBody>
      </p:sp>
      <p:sp>
        <p:nvSpPr>
          <p:cNvPr id="4" name="text">
            <a:extLst xmlns:a="http://schemas.openxmlformats.org/drawingml/2006/main">
              <a:ext uri="{FF2B5EF4-FFF2-40B4-BE49-F238E27FC236}">
                <a16:creationId xmlns:a16="http://schemas.microsoft.com/office/drawing/2014/main" id="{9D3D6837-B442-4073-B69C-F442A9C81B7F}"/>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Expand queries, reduce redundancy, and restore useful parent context.</a:t>
            </a:r>
          </a:p>
        </p:txBody>
      </p:sp>
      <p:sp>
        <p:nvSpPr>
          <p:cNvPr id="5" name="text">
            <a:extLst xmlns:a="http://schemas.openxmlformats.org/drawingml/2006/main">
              <a:ext uri="{FF2B5EF4-FFF2-40B4-BE49-F238E27FC236}">
                <a16:creationId xmlns:a16="http://schemas.microsoft.com/office/drawing/2014/main" id="{B9EA5A85-73CB-445F-93A5-8ACA4EEA1607}"/>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07_advanced_retrieval.ipynb</a:t>
            </a:r>
          </a:p>
        </p:txBody>
      </p:sp>
    </p:spTree>
    <p:extLst>
      <p:ext uri="{BB962C8B-B14F-4D97-AF65-F5344CB8AC3E}">
        <p14:creationId xmlns:p14="http://schemas.microsoft.com/office/powerpoint/2010/main" val="617149020"/>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2E40CC2B-25D8-4B86-9779-07E62F674B2C}"/>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07</a:t>
            </a:r>
          </a:p>
        </p:txBody>
      </p:sp>
      <p:sp>
        <p:nvSpPr>
          <p:cNvPr id="2" name="slide-title">
            <a:extLst xmlns:a="http://schemas.openxmlformats.org/drawingml/2006/main">
              <a:ext uri="{FF2B5EF4-FFF2-40B4-BE49-F238E27FC236}">
                <a16:creationId xmlns:a16="http://schemas.microsoft.com/office/drawing/2014/main" id="{F6DB7397-2254-4F17-9748-0D1277EB55BC}"/>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One question can contain two retrieval tasks</a:t>
            </a:r>
          </a:p>
        </p:txBody>
      </p:sp>
      <p:sp>
        <p:nvSpPr>
          <p:cNvPr id="3" name="lead">
            <a:extLst xmlns:a="http://schemas.openxmlformats.org/drawingml/2006/main">
              <a:ext uri="{FF2B5EF4-FFF2-40B4-BE49-F238E27FC236}">
                <a16:creationId xmlns:a16="http://schemas.microsoft.com/office/drawing/2014/main" id="{F971616B-DCD4-4A63-BB1E-39E739543016}"/>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leave-and-remote-work question requires evidence from two policies.</a:t>
            </a:r>
          </a:p>
        </p:txBody>
      </p:sp>
      <p:sp>
        <p:nvSpPr>
          <p:cNvPr id="4" name="text">
            <a:extLst xmlns:a="http://schemas.openxmlformats.org/drawingml/2006/main">
              <a:ext uri="{FF2B5EF4-FFF2-40B4-BE49-F238E27FC236}">
                <a16:creationId xmlns:a16="http://schemas.microsoft.com/office/drawing/2014/main" id="{EE6E8597-9E20-4ECC-A412-A783AA1133B0}"/>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07  /  Advanced retrieval</a:t>
            </a:r>
          </a:p>
        </p:txBody>
      </p:sp>
      <p:sp>
        <p:nvSpPr>
          <p:cNvPr id="5" name="page-number">
            <a:extLst xmlns:a="http://schemas.openxmlformats.org/drawingml/2006/main">
              <a:ext uri="{FF2B5EF4-FFF2-40B4-BE49-F238E27FC236}">
                <a16:creationId xmlns:a16="http://schemas.microsoft.com/office/drawing/2014/main" id="{5B49CD1D-6039-46C1-8077-68FA6D31AC7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sp>
        <p:nvSpPr>
          <p:cNvPr id="6" name="text">
            <a:extLst xmlns:a="http://schemas.openxmlformats.org/drawingml/2006/main">
              <a:ext uri="{FF2B5EF4-FFF2-40B4-BE49-F238E27FC236}">
                <a16:creationId xmlns:a16="http://schemas.microsoft.com/office/drawing/2014/main" id="{429B912E-3C5A-4AB0-8FFE-CBB4AB410DB8}"/>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Original request</a:t>
            </a:r>
          </a:p>
        </p:txBody>
      </p:sp>
      <p:sp>
        <p:nvSpPr>
          <p:cNvPr id="7" name="text">
            <a:extLst xmlns:a="http://schemas.openxmlformats.org/drawingml/2006/main">
              <a:ext uri="{FF2B5EF4-FFF2-40B4-BE49-F238E27FC236}">
                <a16:creationId xmlns:a16="http://schemas.microsoft.com/office/drawing/2014/main" id="{F5663861-F8ED-41F8-9C0D-625A34699C0E}"/>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What are the paid-leave carryover rules, and how often may I work remotely?</a:t>
            </a:r>
          </a:p>
        </p:txBody>
      </p:sp>
      <p:sp>
        <p:nvSpPr>
          <p:cNvPr id="8" name="text">
            <a:extLst xmlns:a="http://schemas.openxmlformats.org/drawingml/2006/main">
              <a:ext uri="{FF2B5EF4-FFF2-40B4-BE49-F238E27FC236}">
                <a16:creationId xmlns:a16="http://schemas.microsoft.com/office/drawing/2014/main" id="{6834C36E-ED40-45A2-B6EE-459C0F3D2D38}"/>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Required sources</a:t>
            </a:r>
          </a:p>
        </p:txBody>
      </p:sp>
      <p:sp>
        <p:nvSpPr>
          <p:cNvPr id="9" name="text">
            <a:extLst xmlns:a="http://schemas.openxmlformats.org/drawingml/2006/main">
              <a:ext uri="{FF2B5EF4-FFF2-40B4-BE49-F238E27FC236}">
                <a16:creationId xmlns:a16="http://schemas.microsoft.com/office/drawing/2014/main" id="{35C2689B-9208-487A-937C-16DD99B0C879}"/>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benefits_leave and remote_work must both reach the final evidence.</a:t>
            </a:r>
          </a:p>
        </p:txBody>
      </p:sp>
      <p:sp>
        <p:nvSpPr>
          <p:cNvPr id="10" name="text">
            <a:extLst xmlns:a="http://schemas.openxmlformats.org/drawingml/2006/main">
              <a:ext uri="{FF2B5EF4-FFF2-40B4-BE49-F238E27FC236}">
                <a16:creationId xmlns:a16="http://schemas.microsoft.com/office/drawing/2014/main" id="{C8B52E38-0189-4956-ABFF-964FD545DEAB}"/>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Baseline</a:t>
            </a:r>
          </a:p>
        </p:txBody>
      </p:sp>
      <p:sp>
        <p:nvSpPr>
          <p:cNvPr id="11" name="text">
            <a:extLst xmlns:a="http://schemas.openxmlformats.org/drawingml/2006/main">
              <a:ext uri="{FF2B5EF4-FFF2-40B4-BE49-F238E27FC236}">
                <a16:creationId xmlns:a16="http://schemas.microsoft.com/office/drawing/2014/main" id="{52EBF0F4-89BA-4949-8FBB-3585E0A8E438}"/>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Search 45-word child chunks with 10-word overlap; inspect the top 4.</a:t>
            </a:r>
          </a:p>
        </p:txBody>
      </p:sp>
      <p:sp>
        <p:nvSpPr>
          <p:cNvPr id="12" name="text">
            <a:extLst xmlns:a="http://schemas.openxmlformats.org/drawingml/2006/main">
              <a:ext uri="{FF2B5EF4-FFF2-40B4-BE49-F238E27FC236}">
                <a16:creationId xmlns:a16="http://schemas.microsoft.com/office/drawing/2014/main" id="{F1AC99C8-7934-4EDB-8B5B-6057E4D601FC}"/>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Failure pattern</a:t>
            </a:r>
          </a:p>
        </p:txBody>
      </p:sp>
      <p:sp>
        <p:nvSpPr>
          <p:cNvPr id="13" name="text">
            <a:extLst xmlns:a="http://schemas.openxmlformats.org/drawingml/2006/main">
              <a:ext uri="{FF2B5EF4-FFF2-40B4-BE49-F238E27FC236}">
                <a16:creationId xmlns:a16="http://schemas.microsoft.com/office/drawing/2014/main" id="{6A8EE88C-5DC7-4927-A9B0-A448E71833A4}"/>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Several relevant-looking chunks can repeat one topic and miss the other.</a:t>
            </a:r>
          </a:p>
        </p:txBody>
      </p:sp>
    </p:spTree>
    <p:extLst>
      <p:ext uri="{BB962C8B-B14F-4D97-AF65-F5344CB8AC3E}">
        <p14:creationId xmlns:p14="http://schemas.microsoft.com/office/powerpoint/2010/main" val="558796382"/>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E7B038C6-CCD7-4746-BD02-1C8995CCCF4C}"/>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07</a:t>
            </a:r>
          </a:p>
        </p:txBody>
      </p:sp>
      <p:sp>
        <p:nvSpPr>
          <p:cNvPr id="2" name="slide-title">
            <a:extLst xmlns:a="http://schemas.openxmlformats.org/drawingml/2006/main">
              <a:ext uri="{FF2B5EF4-FFF2-40B4-BE49-F238E27FC236}">
                <a16:creationId xmlns:a16="http://schemas.microsoft.com/office/drawing/2014/main" id="{C79A7B20-78E8-41EC-93B3-2990DAD8D073}"/>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Expand a question into targeted searches</a:t>
            </a:r>
          </a:p>
        </p:txBody>
      </p:sp>
      <p:sp>
        <p:nvSpPr>
          <p:cNvPr id="3" name="lead">
            <a:extLst xmlns:a="http://schemas.openxmlformats.org/drawingml/2006/main">
              <a:ext uri="{FF2B5EF4-FFF2-40B4-BE49-F238E27FC236}">
                <a16:creationId xmlns:a16="http://schemas.microsoft.com/office/drawing/2014/main" id="{7FC4C81E-63CB-456B-93F8-A6E96FF03EF6}"/>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Search rewrites guide retrieval; they must preserve the original user intent.</a:t>
            </a:r>
          </a:p>
        </p:txBody>
      </p:sp>
      <p:sp>
        <p:nvSpPr>
          <p:cNvPr id="4" name="text">
            <a:extLst xmlns:a="http://schemas.openxmlformats.org/drawingml/2006/main">
              <a:ext uri="{FF2B5EF4-FFF2-40B4-BE49-F238E27FC236}">
                <a16:creationId xmlns:a16="http://schemas.microsoft.com/office/drawing/2014/main" id="{6C5CF589-F4A6-4557-8305-6B038DFEDC3D}"/>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07  /  Advanced retrieval</a:t>
            </a:r>
          </a:p>
        </p:txBody>
      </p:sp>
      <p:sp>
        <p:nvSpPr>
          <p:cNvPr id="5" name="page-number">
            <a:extLst xmlns:a="http://schemas.openxmlformats.org/drawingml/2006/main">
              <a:ext uri="{FF2B5EF4-FFF2-40B4-BE49-F238E27FC236}">
                <a16:creationId xmlns:a16="http://schemas.microsoft.com/office/drawing/2014/main" id="{809222C3-5937-4DE6-8EBD-2FE31B14D2A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graphicFrame>
        <p:nvGraphicFramePr>
          <p:cNvPr id="6" name="">
            <a:extLst xmlns:a="http://schemas.openxmlformats.org/drawingml/2006/main">
              <a:ext uri="{FF2B5EF4-FFF2-40B4-BE49-F238E27FC236}">
                <a16:creationId xmlns:a16="http://schemas.microsoft.com/office/drawing/2014/main" id="{200E3D86-5F91-4549-8528-D0B6FDB506F0}"/>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Keep the original</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Always retain the user's question alongside the extra queries.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Ask for queries</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Claude returns 2 or 3 concise search queries, not a policy answer.</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Validate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Parse a JSON list, require nonempty strings, cap length, and deduplicate.</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Search and fuse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Retrieve top 4 for each query; combine ranks into up to 8 candidates.</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881445729"/>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7788AD49-E864-44F1-AACC-A02B1A791A9F}"/>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07</a:t>
            </a:r>
          </a:p>
        </p:txBody>
      </p:sp>
      <p:sp>
        <p:nvSpPr>
          <p:cNvPr id="2" name="slide-title">
            <a:extLst xmlns:a="http://schemas.openxmlformats.org/drawingml/2006/main">
              <a:ext uri="{FF2B5EF4-FFF2-40B4-BE49-F238E27FC236}">
                <a16:creationId xmlns:a16="http://schemas.microsoft.com/office/drawing/2014/main" id="{5D3DF4B9-4003-4775-8165-48117BCC22E4}"/>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MMR balances relevance and redundancy</a:t>
            </a:r>
          </a:p>
        </p:txBody>
      </p:sp>
      <p:sp>
        <p:nvSpPr>
          <p:cNvPr id="3" name="lead">
            <a:extLst xmlns:a="http://schemas.openxmlformats.org/drawingml/2006/main">
              <a:ext uri="{FF2B5EF4-FFF2-40B4-BE49-F238E27FC236}">
                <a16:creationId xmlns:a16="http://schemas.microsoft.com/office/drawing/2014/main" id="{4E6CC64C-D10F-4EDE-A14E-A7E0080B1C5F}"/>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Maximal marginal relevance chooses the next useful passage while penalizing repetition.</a:t>
            </a:r>
          </a:p>
        </p:txBody>
      </p:sp>
      <p:sp>
        <p:nvSpPr>
          <p:cNvPr id="4" name="text">
            <a:extLst xmlns:a="http://schemas.openxmlformats.org/drawingml/2006/main">
              <a:ext uri="{FF2B5EF4-FFF2-40B4-BE49-F238E27FC236}">
                <a16:creationId xmlns:a16="http://schemas.microsoft.com/office/drawing/2014/main" id="{971997D3-71E2-4D8E-A3E7-36A96F88437A}"/>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07  /  Advanced retrieval</a:t>
            </a:r>
          </a:p>
        </p:txBody>
      </p:sp>
      <p:sp>
        <p:nvSpPr>
          <p:cNvPr id="5" name="page-number">
            <a:extLst xmlns:a="http://schemas.openxmlformats.org/drawingml/2006/main">
              <a:ext uri="{FF2B5EF4-FFF2-40B4-BE49-F238E27FC236}">
                <a16:creationId xmlns:a16="http://schemas.microsoft.com/office/drawing/2014/main" id="{D71476AA-BE5D-48BD-9020-56818C58CA13}"/>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sp>
        <p:nvSpPr>
          <p:cNvPr id="6" name="text">
            <a:extLst xmlns:a="http://schemas.openxmlformats.org/drawingml/2006/main">
              <a:ext uri="{FF2B5EF4-FFF2-40B4-BE49-F238E27FC236}">
                <a16:creationId xmlns:a16="http://schemas.microsoft.com/office/drawing/2014/main" id="{DA4BF0E6-9C24-47DA-BF8F-94FB7F15FE46}"/>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Objective</a:t>
            </a:r>
          </a:p>
        </p:txBody>
      </p:sp>
      <p:sp>
        <p:nvSpPr>
          <p:cNvPr id="7" name="text">
            <a:extLst xmlns:a="http://schemas.openxmlformats.org/drawingml/2006/main">
              <a:ext uri="{FF2B5EF4-FFF2-40B4-BE49-F238E27FC236}">
                <a16:creationId xmlns:a16="http://schemas.microsoft.com/office/drawing/2014/main" id="{D45C9C17-AFB1-48F8-B3DD-D74DE4978101}"/>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lambda * relevance - (1 - lambda) * maximum similarity to already selected passages.</a:t>
            </a:r>
          </a:p>
        </p:txBody>
      </p:sp>
      <p:sp>
        <p:nvSpPr>
          <p:cNvPr id="8" name="text">
            <a:extLst xmlns:a="http://schemas.openxmlformats.org/drawingml/2006/main">
              <a:ext uri="{FF2B5EF4-FFF2-40B4-BE49-F238E27FC236}">
                <a16:creationId xmlns:a16="http://schemas.microsoft.com/office/drawing/2014/main" id="{2C128B75-03D8-4792-9BBE-B068F1EA780E}"/>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First selection</a:t>
            </a:r>
          </a:p>
        </p:txBody>
      </p:sp>
      <p:sp>
        <p:nvSpPr>
          <p:cNvPr id="9" name="text">
            <a:extLst xmlns:a="http://schemas.openxmlformats.org/drawingml/2006/main">
              <a:ext uri="{FF2B5EF4-FFF2-40B4-BE49-F238E27FC236}">
                <a16:creationId xmlns:a16="http://schemas.microsoft.com/office/drawing/2014/main" id="{0B54AB15-B319-4B6B-91AA-E189939E97A3}"/>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Choose the most relevant candidate; there is no selected passage to compare yet.</a:t>
            </a:r>
          </a:p>
        </p:txBody>
      </p:sp>
      <p:sp>
        <p:nvSpPr>
          <p:cNvPr id="10" name="text">
            <a:extLst xmlns:a="http://schemas.openxmlformats.org/drawingml/2006/main">
              <a:ext uri="{FF2B5EF4-FFF2-40B4-BE49-F238E27FC236}">
                <a16:creationId xmlns:a16="http://schemas.microsoft.com/office/drawing/2014/main" id="{91357E9E-3461-4932-B0FF-F4F1479B6529}"/>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lambda = 1</a:t>
            </a:r>
          </a:p>
        </p:txBody>
      </p:sp>
      <p:sp>
        <p:nvSpPr>
          <p:cNvPr id="11" name="text">
            <a:extLst xmlns:a="http://schemas.openxmlformats.org/drawingml/2006/main">
              <a:ext uri="{FF2B5EF4-FFF2-40B4-BE49-F238E27FC236}">
                <a16:creationId xmlns:a16="http://schemas.microsoft.com/office/drawing/2014/main" id="{6ADF7F5C-8760-48AC-9575-17C0B4C152A7}"/>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Follow relevance only; redundancy has no penalty.</a:t>
            </a:r>
          </a:p>
        </p:txBody>
      </p:sp>
      <p:sp>
        <p:nvSpPr>
          <p:cNvPr id="12" name="text">
            <a:extLst xmlns:a="http://schemas.openxmlformats.org/drawingml/2006/main">
              <a:ext uri="{FF2B5EF4-FFF2-40B4-BE49-F238E27FC236}">
                <a16:creationId xmlns:a16="http://schemas.microsoft.com/office/drawing/2014/main" id="{6C8F5FEB-DF05-461B-8099-DE937D9DF682}"/>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lambda = 0.65</a:t>
            </a:r>
          </a:p>
        </p:txBody>
      </p:sp>
      <p:sp>
        <p:nvSpPr>
          <p:cNvPr id="13" name="text">
            <a:extLst xmlns:a="http://schemas.openxmlformats.org/drawingml/2006/main">
              <a:ext uri="{FF2B5EF4-FFF2-40B4-BE49-F238E27FC236}">
                <a16:creationId xmlns:a16="http://schemas.microsoft.com/office/drawing/2014/main" id="{9E23F1BA-AD26-4C7C-B3A9-B71C73A9E2C3}"/>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Use the notebook's initial balance; compare it with 1.0 and 0.25.</a:t>
            </a:r>
          </a:p>
        </p:txBody>
      </p:sp>
    </p:spTree>
    <p:extLst>
      <p:ext uri="{BB962C8B-B14F-4D97-AF65-F5344CB8AC3E}">
        <p14:creationId xmlns:p14="http://schemas.microsoft.com/office/powerpoint/2010/main" val="1290361009"/>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ECB24321-1913-45F4-A610-F0994BFB6A40}"/>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07</a:t>
            </a:r>
          </a:p>
        </p:txBody>
      </p:sp>
      <p:sp>
        <p:nvSpPr>
          <p:cNvPr id="2" name="slide-title">
            <a:extLst xmlns:a="http://schemas.openxmlformats.org/drawingml/2006/main">
              <a:ext uri="{FF2B5EF4-FFF2-40B4-BE49-F238E27FC236}">
                <a16:creationId xmlns:a16="http://schemas.microsoft.com/office/drawing/2014/main" id="{B3005A6C-43D7-49EB-B3F6-A9A1A0A28B3A}"/>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Children find detail; parents restore context</a:t>
            </a:r>
          </a:p>
        </p:txBody>
      </p:sp>
      <p:sp>
        <p:nvSpPr>
          <p:cNvPr id="3" name="lead">
            <a:extLst xmlns:a="http://schemas.openxmlformats.org/drawingml/2006/main">
              <a:ext uri="{FF2B5EF4-FFF2-40B4-BE49-F238E27FC236}">
                <a16:creationId xmlns:a16="http://schemas.microsoft.com/office/drawing/2014/main" id="{E322C6E4-B816-4B43-967A-14F4E5CB6A46}"/>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Search small passages, then return each matching source document once.</a:t>
            </a:r>
          </a:p>
        </p:txBody>
      </p:sp>
      <p:sp>
        <p:nvSpPr>
          <p:cNvPr id="4" name="text">
            <a:extLst xmlns:a="http://schemas.openxmlformats.org/drawingml/2006/main">
              <a:ext uri="{FF2B5EF4-FFF2-40B4-BE49-F238E27FC236}">
                <a16:creationId xmlns:a16="http://schemas.microsoft.com/office/drawing/2014/main" id="{0DFE76AC-80BF-4DC1-890C-010BD7B8CEF8}"/>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07  /  Advanced retrieval</a:t>
            </a:r>
          </a:p>
        </p:txBody>
      </p:sp>
      <p:sp>
        <p:nvSpPr>
          <p:cNvPr id="5" name="page-number">
            <a:extLst xmlns:a="http://schemas.openxmlformats.org/drawingml/2006/main">
              <a:ext uri="{FF2B5EF4-FFF2-40B4-BE49-F238E27FC236}">
                <a16:creationId xmlns:a16="http://schemas.microsoft.com/office/drawing/2014/main" id="{8CC561BF-B451-4CE6-A7E2-541D17F9A67F}"/>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graphicFrame>
        <p:nvGraphicFramePr>
          <p:cNvPr id="6" name="">
            <a:extLst xmlns:a="http://schemas.openxmlformats.org/drawingml/2006/main">
              <a:ext uri="{FF2B5EF4-FFF2-40B4-BE49-F238E27FC236}">
                <a16:creationId xmlns:a16="http://schemas.microsoft.com/office/drawing/2014/main" id="{52EF0D57-A8EB-4D1B-B078-58DA5D94102E}"/>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Child retrieval</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Precise fragments often match a focused query well.</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Parent expansion</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Use source_id to fetch the complete policy and preserve matched_child_ids.</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Context budget</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Return at most 3 parents; compare parent and child character counts.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Citation change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The final evidence uses parent IDs, so the answer should cite those IDs.</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77445605"/>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3DEE64AB-4902-43D0-83B0-80375121C54F}"/>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07</a:t>
            </a:r>
          </a:p>
        </p:txBody>
      </p:sp>
      <p:sp>
        <p:nvSpPr>
          <p:cNvPr id="2" name="slide-title">
            <a:extLst xmlns:a="http://schemas.openxmlformats.org/drawingml/2006/main">
              <a:ext uri="{FF2B5EF4-FFF2-40B4-BE49-F238E27FC236}">
                <a16:creationId xmlns:a16="http://schemas.microsoft.com/office/drawing/2014/main" id="{CE0E5AC5-94E5-4E52-968E-4B984179EADC}"/>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HyDE is a retrieval probe, never evidence</a:t>
            </a:r>
          </a:p>
        </p:txBody>
      </p:sp>
      <p:sp>
        <p:nvSpPr>
          <p:cNvPr id="3" name="lead">
            <a:extLst xmlns:a="http://schemas.openxmlformats.org/drawingml/2006/main">
              <a:ext uri="{FF2B5EF4-FFF2-40B4-BE49-F238E27FC236}">
                <a16:creationId xmlns:a16="http://schemas.microsoft.com/office/drawing/2014/main" id="{5A72DBBD-674A-459C-A2D3-3872DBFF348F}"/>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generated hypothetical passage can suggest where to search, but it may contain false facts.</a:t>
            </a:r>
          </a:p>
        </p:txBody>
      </p:sp>
      <p:sp>
        <p:nvSpPr>
          <p:cNvPr id="4" name="text">
            <a:extLst xmlns:a="http://schemas.openxmlformats.org/drawingml/2006/main">
              <a:ext uri="{FF2B5EF4-FFF2-40B4-BE49-F238E27FC236}">
                <a16:creationId xmlns:a16="http://schemas.microsoft.com/office/drawing/2014/main" id="{348D3F0F-5F6F-4326-8529-E25E6D123FCC}"/>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07  /  Advanced retrieval</a:t>
            </a:r>
          </a:p>
        </p:txBody>
      </p:sp>
      <p:sp>
        <p:nvSpPr>
          <p:cNvPr id="5" name="page-number">
            <a:extLst xmlns:a="http://schemas.openxmlformats.org/drawingml/2006/main">
              <a:ext uri="{FF2B5EF4-FFF2-40B4-BE49-F238E27FC236}">
                <a16:creationId xmlns:a16="http://schemas.microsoft.com/office/drawing/2014/main" id="{28199AAD-0BEF-4FC6-8959-C43761894E3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sp>
        <p:nvSpPr>
          <p:cNvPr id="6" name="text">
            <a:extLst xmlns:a="http://schemas.openxmlformats.org/drawingml/2006/main">
              <a:ext uri="{FF2B5EF4-FFF2-40B4-BE49-F238E27FC236}">
                <a16:creationId xmlns:a16="http://schemas.microsoft.com/office/drawing/2014/main" id="{453223F8-56CA-4851-A743-1612AE578959}"/>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Generate a hypothesis</a:t>
            </a:r>
          </a:p>
        </p:txBody>
      </p:sp>
      <p:sp>
        <p:nvSpPr>
          <p:cNvPr id="7" name="text">
            <a:extLst xmlns:a="http://schemas.openxmlformats.org/drawingml/2006/main">
              <a:ext uri="{FF2B5EF4-FFF2-40B4-BE49-F238E27FC236}">
                <a16:creationId xmlns:a16="http://schemas.microsoft.com/office/drawing/2014/main" id="{9624D2AB-B470-4A12-B186-66873B5C2094}"/>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Claude writes a short plausible handbook passage for the question.</a:t>
            </a:r>
          </a:p>
        </p:txBody>
      </p:sp>
      <p:sp>
        <p:nvSpPr>
          <p:cNvPr id="8" name="text">
            <a:extLst xmlns:a="http://schemas.openxmlformats.org/drawingml/2006/main">
              <a:ext uri="{FF2B5EF4-FFF2-40B4-BE49-F238E27FC236}">
                <a16:creationId xmlns:a16="http://schemas.microsoft.com/office/drawing/2014/main" id="{F66DD402-835C-46E2-B903-1271A982459B}"/>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Embed and search</a:t>
            </a:r>
          </a:p>
        </p:txBody>
      </p:sp>
      <p:sp>
        <p:nvSpPr>
          <p:cNvPr id="9" name="text">
            <a:extLst xmlns:a="http://schemas.openxmlformats.org/drawingml/2006/main">
              <a:ext uri="{FF2B5EF4-FFF2-40B4-BE49-F238E27FC236}">
                <a16:creationId xmlns:a16="http://schemas.microsoft.com/office/drawing/2014/main" id="{E4B2E59D-6AEA-4AC2-99CD-1A8CE01A5756}"/>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Retrieve real corpus passages near the hypothesis in vector space.</a:t>
            </a:r>
          </a:p>
        </p:txBody>
      </p:sp>
      <p:sp>
        <p:nvSpPr>
          <p:cNvPr id="10" name="text">
            <a:extLst xmlns:a="http://schemas.openxmlformats.org/drawingml/2006/main">
              <a:ext uri="{FF2B5EF4-FFF2-40B4-BE49-F238E27FC236}">
                <a16:creationId xmlns:a16="http://schemas.microsoft.com/office/drawing/2014/main" id="{3182187D-07E6-4F86-91A2-FA5E5A05E90B}"/>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Use real sources only</a:t>
            </a:r>
          </a:p>
        </p:txBody>
      </p:sp>
      <p:sp>
        <p:nvSpPr>
          <p:cNvPr id="11" name="text">
            <a:extLst xmlns:a="http://schemas.openxmlformats.org/drawingml/2006/main">
              <a:ext uri="{FF2B5EF4-FFF2-40B4-BE49-F238E27FC236}">
                <a16:creationId xmlns:a16="http://schemas.microsoft.com/office/drawing/2014/main" id="{4D27B017-1357-4D42-BEB9-BD3310305096}"/>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Exclude the hypothesis from the final evidence and citations.</a:t>
            </a:r>
          </a:p>
        </p:txBody>
      </p:sp>
      <p:sp>
        <p:nvSpPr>
          <p:cNvPr id="12" name="text">
            <a:extLst xmlns:a="http://schemas.openxmlformats.org/drawingml/2006/main">
              <a:ext uri="{FF2B5EF4-FFF2-40B4-BE49-F238E27FC236}">
                <a16:creationId xmlns:a16="http://schemas.microsoft.com/office/drawing/2014/main" id="{54A534AD-B252-45A8-85EF-8313F799C093}"/>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Optional experiment</a:t>
            </a:r>
          </a:p>
        </p:txBody>
      </p:sp>
      <p:sp>
        <p:nvSpPr>
          <p:cNvPr id="13" name="text">
            <a:extLst xmlns:a="http://schemas.openxmlformats.org/drawingml/2006/main">
              <a:ext uri="{FF2B5EF4-FFF2-40B4-BE49-F238E27FC236}">
                <a16:creationId xmlns:a16="http://schemas.microsoft.com/office/drawing/2014/main" id="{0CB50F57-BE74-4D37-98B0-3D6FA3AB05BC}"/>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RUN_HYDE is off by default and adds one live Claude request when enabled.</a:t>
            </a:r>
          </a:p>
        </p:txBody>
      </p:sp>
    </p:spTree>
    <p:extLst>
      <p:ext uri="{BB962C8B-B14F-4D97-AF65-F5344CB8AC3E}">
        <p14:creationId xmlns:p14="http://schemas.microsoft.com/office/powerpoint/2010/main" val="1787890265"/>
      </p:ext>
    </p:extLst>
  </p:cSld>
</p:sld>
</file>

<file path=ppt/slides/slide7.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6003C080-E034-4E0C-A660-A221472A4BA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07</a:t>
            </a:r>
          </a:p>
        </p:txBody>
      </p:sp>
      <p:sp>
        <p:nvSpPr>
          <p:cNvPr id="2" name="slide-title">
            <a:extLst xmlns:a="http://schemas.openxmlformats.org/drawingml/2006/main">
              <a:ext uri="{FF2B5EF4-FFF2-40B4-BE49-F238E27FC236}">
                <a16:creationId xmlns:a16="http://schemas.microsoft.com/office/drawing/2014/main" id="{DAB1E08C-12EB-44B0-8A2A-CB2FA3E19EBF}"/>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add one technique at a time</a:t>
            </a:r>
          </a:p>
        </p:txBody>
      </p:sp>
      <p:sp>
        <p:nvSpPr>
          <p:cNvPr id="3" name="lead">
            <a:extLst xmlns:a="http://schemas.openxmlformats.org/drawingml/2006/main">
              <a:ext uri="{FF2B5EF4-FFF2-40B4-BE49-F238E27FC236}">
                <a16:creationId xmlns:a16="http://schemas.microsoft.com/office/drawing/2014/main" id="{CE3CF3AD-4ABC-4B9B-A0CF-B8FF3DDD249A}"/>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Keep the original question visible as the evidence becomes broader and less repetitive.</a:t>
            </a:r>
          </a:p>
        </p:txBody>
      </p:sp>
      <p:sp>
        <p:nvSpPr>
          <p:cNvPr id="4" name="text">
            <a:extLst xmlns:a="http://schemas.openxmlformats.org/drawingml/2006/main">
              <a:ext uri="{FF2B5EF4-FFF2-40B4-BE49-F238E27FC236}">
                <a16:creationId xmlns:a16="http://schemas.microsoft.com/office/drawing/2014/main" id="{0843F4C5-D35B-4B49-8D94-F699D86303AD}"/>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07  /  Advanced retrieval</a:t>
            </a:r>
          </a:p>
        </p:txBody>
      </p:sp>
      <p:sp>
        <p:nvSpPr>
          <p:cNvPr id="5" name="page-number">
            <a:extLst xmlns:a="http://schemas.openxmlformats.org/drawingml/2006/main">
              <a:ext uri="{FF2B5EF4-FFF2-40B4-BE49-F238E27FC236}">
                <a16:creationId xmlns:a16="http://schemas.microsoft.com/office/drawing/2014/main" id="{6B5690AB-40A0-4733-938C-4F31918DDB94}"/>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62735DAC-1C50-4C62-8A40-4D899C8FEAB4}"/>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5C7F582B-6BE8-411F-BFBF-92438D520AAC}"/>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Establish baseline</a:t>
            </a:r>
          </a:p>
        </p:txBody>
      </p:sp>
      <p:sp>
        <p:nvSpPr>
          <p:cNvPr id="8" name="text">
            <a:extLst xmlns:a="http://schemas.openxmlformats.org/drawingml/2006/main">
              <a:ext uri="{FF2B5EF4-FFF2-40B4-BE49-F238E27FC236}">
                <a16:creationId xmlns:a16="http://schemas.microsoft.com/office/drawing/2014/main" id="{C51113AC-3420-4217-9A5E-7E3832656382}"/>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Run Step 1 and record coverage of the two expected policy sources.</a:t>
            </a:r>
          </a:p>
        </p:txBody>
      </p:sp>
      <p:sp>
        <p:nvSpPr>
          <p:cNvPr id="9" name="text">
            <a:extLst xmlns:a="http://schemas.openxmlformats.org/drawingml/2006/main">
              <a:ext uri="{FF2B5EF4-FFF2-40B4-BE49-F238E27FC236}">
                <a16:creationId xmlns:a16="http://schemas.microsoft.com/office/drawing/2014/main" id="{BB3F23C2-5D0E-47A5-A496-F34BFBB1F888}"/>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62E30D02-64F9-4087-BCC5-74FE26280E90}"/>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Expand</a:t>
            </a:r>
          </a:p>
        </p:txBody>
      </p:sp>
      <p:sp>
        <p:nvSpPr>
          <p:cNvPr id="11" name="text">
            <a:extLst xmlns:a="http://schemas.openxmlformats.org/drawingml/2006/main">
              <a:ext uri="{FF2B5EF4-FFF2-40B4-BE49-F238E27FC236}">
                <a16:creationId xmlns:a16="http://schemas.microsoft.com/office/drawing/2014/main" id="{C95BFB0B-3F60-4A65-AF7C-8340C25BB9FF}"/>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Run Steps 2-3 and inspect every search rewrite before fusion.</a:t>
            </a:r>
          </a:p>
        </p:txBody>
      </p:sp>
      <p:sp>
        <p:nvSpPr>
          <p:cNvPr id="12" name="text">
            <a:extLst xmlns:a="http://schemas.openxmlformats.org/drawingml/2006/main">
              <a:ext uri="{FF2B5EF4-FFF2-40B4-BE49-F238E27FC236}">
                <a16:creationId xmlns:a16="http://schemas.microsoft.com/office/drawing/2014/main" id="{439152C9-C87A-4C65-A529-403EBF5BAF65}"/>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D6F98C2A-A421-42AD-94B0-CDE24972454C}"/>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Diversify and expand</a:t>
            </a:r>
          </a:p>
        </p:txBody>
      </p:sp>
      <p:sp>
        <p:nvSpPr>
          <p:cNvPr id="14" name="text">
            <a:extLst xmlns:a="http://schemas.openxmlformats.org/drawingml/2006/main">
              <a:ext uri="{FF2B5EF4-FFF2-40B4-BE49-F238E27FC236}">
                <a16:creationId xmlns:a16="http://schemas.microsoft.com/office/drawing/2014/main" id="{E5ED6838-5CAB-4CA2-98A9-272FDEB7A214}"/>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Compare MMR settings, then show parent IDs and context size.</a:t>
            </a:r>
          </a:p>
        </p:txBody>
      </p:sp>
      <p:sp>
        <p:nvSpPr>
          <p:cNvPr id="15" name="text">
            <a:extLst xmlns:a="http://schemas.openxmlformats.org/drawingml/2006/main">
              <a:ext uri="{FF2B5EF4-FFF2-40B4-BE49-F238E27FC236}">
                <a16:creationId xmlns:a16="http://schemas.microsoft.com/office/drawing/2014/main" id="{98F2285D-06B9-47E9-9BD2-2976DED3A9ED}"/>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D4956FD3-CE59-46DD-9CDE-C50EAFED99A0}"/>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Answer</a:t>
            </a:r>
          </a:p>
        </p:txBody>
      </p:sp>
      <p:sp>
        <p:nvSpPr>
          <p:cNvPr id="17" name="text">
            <a:extLst xmlns:a="http://schemas.openxmlformats.org/drawingml/2006/main">
              <a:ext uri="{FF2B5EF4-FFF2-40B4-BE49-F238E27FC236}">
                <a16:creationId xmlns:a16="http://schemas.microsoft.com/office/drawing/2014/main" id="{2E8D8896-AD8D-4E53-B13B-917F39A9C415}"/>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Run Step 7; check 5 carryover days, March 31, and 3 remote days with approval.</a:t>
            </a:r>
          </a:p>
        </p:txBody>
      </p:sp>
    </p:spTree>
    <p:extLst>
      <p:ext uri="{BB962C8B-B14F-4D97-AF65-F5344CB8AC3E}">
        <p14:creationId xmlns:p14="http://schemas.microsoft.com/office/powerpoint/2010/main" val="2104497721"/>
      </p:ext>
    </p:extLst>
  </p:cSld>
</p:sld>
</file>

<file path=ppt/slides/slide8.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43481774-2570-4EA6-AF13-745F8C3901FB}"/>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07</a:t>
            </a:r>
          </a:p>
        </p:txBody>
      </p:sp>
      <p:sp>
        <p:nvSpPr>
          <p:cNvPr id="2" name="slide-title">
            <a:extLst xmlns:a="http://schemas.openxmlformats.org/drawingml/2006/main">
              <a:ext uri="{FF2B5EF4-FFF2-40B4-BE49-F238E27FC236}">
                <a16:creationId xmlns:a16="http://schemas.microsoft.com/office/drawing/2014/main" id="{6C43EBC6-A656-4162-8BF4-4969D6F862EB}"/>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Each technique has a distinct failure mode</a:t>
            </a:r>
          </a:p>
        </p:txBody>
      </p:sp>
      <p:sp>
        <p:nvSpPr>
          <p:cNvPr id="3" name="lead">
            <a:extLst xmlns:a="http://schemas.openxmlformats.org/drawingml/2006/main">
              <a:ext uri="{FF2B5EF4-FFF2-40B4-BE49-F238E27FC236}">
                <a16:creationId xmlns:a16="http://schemas.microsoft.com/office/drawing/2014/main" id="{DEB45423-171E-4066-91A8-483CF7F985BD}"/>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More retrieval machinery helps only when it fixes a measured problem.</a:t>
            </a:r>
          </a:p>
        </p:txBody>
      </p:sp>
      <p:sp>
        <p:nvSpPr>
          <p:cNvPr id="4" name="text">
            <a:extLst xmlns:a="http://schemas.openxmlformats.org/drawingml/2006/main">
              <a:ext uri="{FF2B5EF4-FFF2-40B4-BE49-F238E27FC236}">
                <a16:creationId xmlns:a16="http://schemas.microsoft.com/office/drawing/2014/main" id="{22D0E617-9139-4535-A515-CDE84562A5D2}"/>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07  /  Advanced retrieval</a:t>
            </a:r>
          </a:p>
        </p:txBody>
      </p:sp>
      <p:sp>
        <p:nvSpPr>
          <p:cNvPr id="5" name="page-number">
            <a:extLst xmlns:a="http://schemas.openxmlformats.org/drawingml/2006/main">
              <a:ext uri="{FF2B5EF4-FFF2-40B4-BE49-F238E27FC236}">
                <a16:creationId xmlns:a16="http://schemas.microsoft.com/office/drawing/2014/main" id="{B1B8A59B-A039-4CAE-A807-8707CC4918F6}"/>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08</a:t>
            </a:r>
          </a:p>
        </p:txBody>
      </p:sp>
      <p:graphicFrame>
        <p:nvGraphicFramePr>
          <p:cNvPr id="6" name="">
            <a:extLst xmlns:a="http://schemas.openxmlformats.org/drawingml/2006/main">
              <a:ext uri="{FF2B5EF4-FFF2-40B4-BE49-F238E27FC236}">
                <a16:creationId xmlns:a16="http://schemas.microsoft.com/office/drawing/2014/main" id="{EF175EEB-C44D-4BE0-AE26-49404E5B8F87}"/>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Query expansion</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A rewrite can change intent or introduce irrelevant searches.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MMR</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Diverse passages can still be irrelevant to the question.</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Parent context</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Longer sources can add distracting text and increase token cost.</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HyDE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A false hypothesis can push retrieval toward a mistaken assumption.</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2027842525"/>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2EBB9282-BFA9-4D80-BD62-126A45767D2A}"/>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07</a:t>
            </a:r>
          </a:p>
        </p:txBody>
      </p:sp>
      <p:sp>
        <p:nvSpPr>
          <p:cNvPr id="2" name="slide-title">
            <a:extLst xmlns:a="http://schemas.openxmlformats.org/drawingml/2006/main">
              <a:ext uri="{FF2B5EF4-FFF2-40B4-BE49-F238E27FC236}">
                <a16:creationId xmlns:a16="http://schemas.microsoft.com/office/drawing/2014/main" id="{C0622569-0BA4-4693-B8DC-8D71F8B27612}"/>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Exercise: price plus retention</a:t>
            </a:r>
          </a:p>
        </p:txBody>
      </p:sp>
      <p:sp>
        <p:nvSpPr>
          <p:cNvPr id="3" name="lead">
            <a:extLst xmlns:a="http://schemas.openxmlformats.org/drawingml/2006/main">
              <a:ext uri="{FF2B5EF4-FFF2-40B4-BE49-F238E27FC236}">
                <a16:creationId xmlns:a16="http://schemas.microsoft.com/office/drawing/2014/main" id="{885D48EE-CB0D-4E0E-AE86-BD873CE028DC}"/>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Use a new two-part request to test whether the method transfers.</a:t>
            </a:r>
          </a:p>
        </p:txBody>
      </p:sp>
      <p:sp>
        <p:nvSpPr>
          <p:cNvPr id="4" name="text">
            <a:extLst xmlns:a="http://schemas.openxmlformats.org/drawingml/2006/main">
              <a:ext uri="{FF2B5EF4-FFF2-40B4-BE49-F238E27FC236}">
                <a16:creationId xmlns:a16="http://schemas.microsoft.com/office/drawing/2014/main" id="{92602038-F091-4E82-939F-EE8D2D565D2A}"/>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07  /  Advanced retrieval</a:t>
            </a:r>
          </a:p>
        </p:txBody>
      </p:sp>
      <p:sp>
        <p:nvSpPr>
          <p:cNvPr id="5" name="page-number">
            <a:extLst xmlns:a="http://schemas.openxmlformats.org/drawingml/2006/main">
              <a:ext uri="{FF2B5EF4-FFF2-40B4-BE49-F238E27FC236}">
                <a16:creationId xmlns:a16="http://schemas.microsoft.com/office/drawing/2014/main" id="{B72B6130-895C-4AEE-96EC-BB8FA69F9EA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12BE872D-1465-489A-B6AF-F389405BB43F}"/>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Question</a:t>
            </a:r>
          </a:p>
        </p:txBody>
      </p:sp>
      <p:sp>
        <p:nvSpPr>
          <p:cNvPr id="7" name="text">
            <a:extLst xmlns:a="http://schemas.openxmlformats.org/drawingml/2006/main">
              <a:ext uri="{FF2B5EF4-FFF2-40B4-BE49-F238E27FC236}">
                <a16:creationId xmlns:a16="http://schemas.microsoft.com/office/drawing/2014/main" id="{493B3077-15EE-4F99-BB67-AB19BA0082DC}"/>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What does Team cost, and how long is its data retained?</a:t>
            </a:r>
          </a:p>
        </p:txBody>
      </p:sp>
      <p:sp>
        <p:nvSpPr>
          <p:cNvPr id="8" name="text">
            <a:extLst xmlns:a="http://schemas.openxmlformats.org/drawingml/2006/main">
              <a:ext uri="{FF2B5EF4-FFF2-40B4-BE49-F238E27FC236}">
                <a16:creationId xmlns:a16="http://schemas.microsoft.com/office/drawing/2014/main" id="{53225CAC-2A8E-440C-AE1F-B43CACB766E2}"/>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Searches</a:t>
            </a:r>
          </a:p>
        </p:txBody>
      </p:sp>
      <p:sp>
        <p:nvSpPr>
          <p:cNvPr id="9" name="text">
            <a:extLst xmlns:a="http://schemas.openxmlformats.org/drawingml/2006/main">
              <a:ext uri="{FF2B5EF4-FFF2-40B4-BE49-F238E27FC236}">
                <a16:creationId xmlns:a16="http://schemas.microsoft.com/office/drawing/2014/main" id="{A23FFCC6-3ED9-4661-BCD4-8E6D0C1D14DA}"/>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Keep the original, then add Team price annual billing and Team data retention days.</a:t>
            </a:r>
          </a:p>
        </p:txBody>
      </p:sp>
      <p:sp>
        <p:nvSpPr>
          <p:cNvPr id="10" name="text">
            <a:extLst xmlns:a="http://schemas.openxmlformats.org/drawingml/2006/main">
              <a:ext uri="{FF2B5EF4-FFF2-40B4-BE49-F238E27FC236}">
                <a16:creationId xmlns:a16="http://schemas.microsoft.com/office/drawing/2014/main" id="{100D169C-A2F8-4174-A085-3144B600DA78}"/>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Inspect</a:t>
            </a:r>
          </a:p>
        </p:txBody>
      </p:sp>
      <p:sp>
        <p:nvSpPr>
          <p:cNvPr id="11" name="text">
            <a:extLst xmlns:a="http://schemas.openxmlformats.org/drawingml/2006/main">
              <a:ext uri="{FF2B5EF4-FFF2-40B4-BE49-F238E27FC236}">
                <a16:creationId xmlns:a16="http://schemas.microsoft.com/office/drawing/2014/main" id="{8AA979E5-A089-4B68-AF6A-B1AF5FFE22CC}"/>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Fuse, select with MMR, and expand up to 3 parents; read complete qualifications.</a:t>
            </a:r>
          </a:p>
        </p:txBody>
      </p:sp>
      <p:sp>
        <p:nvSpPr>
          <p:cNvPr id="12" name="text">
            <a:extLst xmlns:a="http://schemas.openxmlformats.org/drawingml/2006/main">
              <a:ext uri="{FF2B5EF4-FFF2-40B4-BE49-F238E27FC236}">
                <a16:creationId xmlns:a16="http://schemas.microsoft.com/office/drawing/2014/main" id="{1C931FDF-D5E6-4CAC-A97E-9F89321270E2}"/>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Expected discussion</a:t>
            </a:r>
          </a:p>
        </p:txBody>
      </p:sp>
      <p:sp>
        <p:nvSpPr>
          <p:cNvPr id="13" name="text">
            <a:extLst xmlns:a="http://schemas.openxmlformats.org/drawingml/2006/main">
              <a:ext uri="{FF2B5EF4-FFF2-40B4-BE49-F238E27FC236}">
                <a16:creationId xmlns:a16="http://schemas.microsoft.com/office/drawing/2014/main" id="{769D07E0-7352-4A44-8A4E-503196273EF9}"/>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Coverage should include pricing and retention; variety alone does not prove completeness.</a:t>
            </a:r>
          </a:p>
        </p:txBody>
      </p:sp>
    </p:spTree>
    <p:extLst>
      <p:ext uri="{BB962C8B-B14F-4D97-AF65-F5344CB8AC3E}">
        <p14:creationId xmlns:p14="http://schemas.microsoft.com/office/powerpoint/2010/main" val="20666664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2026-10-11T09:48:32.7240000Z</dcterms:created>
  <dcterms:modified xsi:type="dcterms:W3CDTF">2026-10-11T09:48:32.7240000Z</dcterms:modified>
</coreProperties>
</file>