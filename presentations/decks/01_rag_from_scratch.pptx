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98c16561104177" /><Relationship Type="http://schemas.openxmlformats.org/officeDocument/2006/relationships/extended-properties" Target="/docProps/app.xml" Id="R78e0f272c5d24914" /><Relationship Type="http://schemas.openxmlformats.org/officeDocument/2006/relationships/officeDocument" Target="/ppt/presentation.xml" Id="Re6594512b15b424e" /></Relationships>
</file>

<file path=ppt/presentation.xml><?xml version="1.0" encoding="utf-8"?>
<p:presentation xmlns:p="http://schemas.openxmlformats.org/presentationml/2006/main">
  <p:sldMasterIdLst>
    <p:sldMasterId xmlns:r="http://schemas.openxmlformats.org/officeDocument/2006/relationships" id="2147483648" r:id="Re817a24cfcdd49a4"/>
  </p:sldMasterIdLst>
  <p:notesMasterIdLst>
    <p:notesMasterId xmlns:r="http://schemas.openxmlformats.org/officeDocument/2006/relationships" r:id="Rb05547d68cae4638"/>
  </p:notesMasterIdLst>
  <p:sldIdLst>
    <p:sldId xmlns:r="http://schemas.openxmlformats.org/officeDocument/2006/relationships" id="256" r:id="Rc6e01eff32854b1c"/>
    <p:sldId xmlns:r="http://schemas.openxmlformats.org/officeDocument/2006/relationships" id="257" r:id="R0408a70a97af4b17"/>
    <p:sldId xmlns:r="http://schemas.openxmlformats.org/officeDocument/2006/relationships" id="258" r:id="Rc6d40cb1622d4728"/>
    <p:sldId xmlns:r="http://schemas.openxmlformats.org/officeDocument/2006/relationships" id="259" r:id="R2d5e60bd47344e24"/>
    <p:sldId xmlns:r="http://schemas.openxmlformats.org/officeDocument/2006/relationships" id="260" r:id="Rd09c522b001a45ec"/>
    <p:sldId xmlns:r="http://schemas.openxmlformats.org/officeDocument/2006/relationships" id="261" r:id="Rc4c914f1132d434c"/>
    <p:sldId xmlns:r="http://schemas.openxmlformats.org/officeDocument/2006/relationships" id="262" r:id="Raac4569ed1074768"/>
    <p:sldId xmlns:r="http://schemas.openxmlformats.org/officeDocument/2006/relationships" id="263" r:id="R1b3dd10578744cd4"/>
    <p:sldId xmlns:r="http://schemas.openxmlformats.org/officeDocument/2006/relationships" id="264" r:id="R2bc50af12df54b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b5e09acdf544f3" /><Relationship Type="http://schemas.openxmlformats.org/officeDocument/2006/relationships/slideMaster" Target="/ppt/slideMasters/slideMaster1.xml" Id="Re817a24cfcdd49a4" /><Relationship Type="http://schemas.openxmlformats.org/officeDocument/2006/relationships/notesMaster" Target="/ppt/notesMasters/notesMaster1.xml" Id="Rb05547d68cae4638" /><Relationship Type="http://schemas.openxmlformats.org/officeDocument/2006/relationships/presProps" Target="/ppt/presProps.xml" Id="R44faea185849470e" /><Relationship Type="http://schemas.openxmlformats.org/officeDocument/2006/relationships/tableStyles" Target="/ppt/tableStyles.xml" Id="R952b4a7b9ea647aa" /><Relationship Type="http://schemas.openxmlformats.org/officeDocument/2006/relationships/slide" Target="/ppt/slides/slide1.xml" Id="Rc6e01eff32854b1c" /><Relationship Type="http://schemas.openxmlformats.org/officeDocument/2006/relationships/slide" Target="/ppt/slides/slide2.xml" Id="R0408a70a97af4b17" /><Relationship Type="http://schemas.openxmlformats.org/officeDocument/2006/relationships/slide" Target="/ppt/slides/slide3.xml" Id="Rc6d40cb1622d4728" /><Relationship Type="http://schemas.openxmlformats.org/officeDocument/2006/relationships/slide" Target="/ppt/slides/slide4.xml" Id="R2d5e60bd47344e24" /><Relationship Type="http://schemas.openxmlformats.org/officeDocument/2006/relationships/slide" Target="/ppt/slides/slide5.xml" Id="Rd09c522b001a45ec" /><Relationship Type="http://schemas.openxmlformats.org/officeDocument/2006/relationships/slide" Target="/ppt/slides/slide6.xml" Id="Rc4c914f1132d434c" /><Relationship Type="http://schemas.openxmlformats.org/officeDocument/2006/relationships/slide" Target="/ppt/slides/slide7.xml" Id="Raac4569ed1074768" /><Relationship Type="http://schemas.openxmlformats.org/officeDocument/2006/relationships/slide" Target="/ppt/slides/slide8.xml" Id="R1b3dd10578744cd4" /><Relationship Type="http://schemas.openxmlformats.org/officeDocument/2006/relationships/slide" Target="/ppt/slides/slide9.xml" Id="R2bc50af12df54b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d9cb49944d4c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8e13dbff114092" /><Relationship Type="http://schemas.openxmlformats.org/officeDocument/2006/relationships/notesMaster" Target="/ppt/notesMasters/notesMaster1.xml" Id="R6c80e488644947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c6499dbaee43ea" /><Relationship Type="http://schemas.openxmlformats.org/officeDocument/2006/relationships/notesMaster" Target="/ppt/notesMasters/notesMaster1.xml" Id="R9b07690ff42441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ae2f3e48be42f4" /><Relationship Type="http://schemas.openxmlformats.org/officeDocument/2006/relationships/notesMaster" Target="/ppt/notesMasters/notesMaster1.xml" Id="Rcf409c4403104e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6ffb9f4de24fd1" /><Relationship Type="http://schemas.openxmlformats.org/officeDocument/2006/relationships/notesMaster" Target="/ppt/notesMasters/notesMaster1.xml" Id="R968aff55983848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08dbe1fd484f80" /><Relationship Type="http://schemas.openxmlformats.org/officeDocument/2006/relationships/notesMaster" Target="/ppt/notesMasters/notesMaster1.xml" Id="R1b7360b1274441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7adcde044e4fbd" /><Relationship Type="http://schemas.openxmlformats.org/officeDocument/2006/relationships/notesMaster" Target="/ppt/notesMasters/notesMaster1.xml" Id="Rcb0ed8f4361e4f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d7cd40ab234793" /><Relationship Type="http://schemas.openxmlformats.org/officeDocument/2006/relationships/notesMaster" Target="/ppt/notesMasters/notesMaster1.xml" Id="R59e4c0cec7d44b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4cae59e4f14505" /><Relationship Type="http://schemas.openxmlformats.org/officeDocument/2006/relationships/notesMaster" Target="/ppt/notesMasters/notesMaster1.xml" Id="R0182b382f69f48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82e8d6312841fd" /><Relationship Type="http://schemas.openxmlformats.org/officeDocument/2006/relationships/notesMaster" Target="/ppt/notesMasters/notesMaster1.xml" Id="R4273c649e4a643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notebooks/01_rag_from_scratch.ipynb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notebooks/01_rag_from_scratch.ipynb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sections 1 and 2. Read the benefits policy first, then show the response to the same question without evidence. Avoid promising that the model will hallucinate; uncertainty or a request for more context is an appropriate response. The demonstration is about information access, not manufacturing a bad answer. Later, section 6 places the two responses side by side. Use the source as the evaluation reference and ask whether each statement is supported. This establishes why retrieval is useful and why fluency alone is a weak success measure.</a:t>
            </a:r>
          </a:p>
          <a:p xmlns:a="http://schemas.openxmlformats.org/drawingml/2006/main">
            <a:r>
              <a:t/>
            </a:r>
          </a:p>
          <a:p xmlns:a="http://schemas.openxmlformats.org/drawingml/2006/main">
            <a:r>
              <a:t>NOTEBOOK: notebooks/01_rag_from_scratch.ipynb</a:t>
            </a:r>
          </a:p>
          <a:p xmlns:a="http://schemas.openxmlformats.org/drawingml/2006/main">
            <a:r>
              <a:t/>
            </a:r>
          </a:p>
          <a:p xmlns:a="http://schemas.openxmlformats.org/drawingml/2006/main">
            <a:r>
              <a:t>SOURCES</a:t>
            </a:r>
          </a:p>
          <a:p xmlns:a="http://schemas.openxmlformats.org/drawingml/2006/main">
            <a:r>
              <a:t>notebooks/01_rag_from_scratch.ipynb — sections 1, 2 and 6</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map for sections 3 through 6. Keep the responsibilities separate even though the implementation is short. Tokenization creates comparable word units, scoring orders possible evidence, and selecting top k limits what reaches the generator. The prompt formats and constrains use of that evidence; it does not retrieve missing facts. Verification remains necessary after generation. Show that the hit records carry matched words as well as scores, making the retriever's behavior explainable to a beginner. This is a transparent baseline rather than a production search claim.</a:t>
            </a:r>
          </a:p>
          <a:p xmlns:a="http://schemas.openxmlformats.org/drawingml/2006/main">
            <a:r>
              <a:t/>
            </a:r>
          </a:p>
          <a:p xmlns:a="http://schemas.openxmlformats.org/drawingml/2006/main">
            <a:r>
              <a:t>NOTEBOOK: notebooks/01_rag_from_scratch.ipynb</a:t>
            </a:r>
          </a:p>
          <a:p xmlns:a="http://schemas.openxmlformats.org/drawingml/2006/main">
            <a:r>
              <a:t/>
            </a:r>
          </a:p>
          <a:p xmlns:a="http://schemas.openxmlformats.org/drawingml/2006/main">
            <a:r>
              <a:t>SOURCES</a:t>
            </a:r>
          </a:p>
          <a:p xmlns:a="http://schemas.openxmlformats.org/drawingml/2006/main">
            <a:r>
              <a:t>notebooks/01_rag_from_scratch.ipynb — sections 3–6</a:t>
            </a:r>
          </a:p>
          <a:p xmlns:a="http://schemas.openxmlformats.org/drawingml/2006/main">
            <a:r>
              <a:t>https://arxiv.org/abs/2005.11401</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tokenizer in section 3, then the manual_search function in section 4. The arithmetic on this slide is an illustrative input to the notebook's formula, not a measured corpus result. Set membership removes repetition, so this is cosine similarity over binary word features. Explain why dividing by the geometric mean of set sizes reduces the benefit of simply containing many words. Inspect the matched_words column for the real question. The score is useful for ordering this corpus and must not be presented as a probability of correctness.</a:t>
            </a:r>
          </a:p>
          <a:p xmlns:a="http://schemas.openxmlformats.org/drawingml/2006/main">
            <a:r>
              <a:t/>
            </a:r>
          </a:p>
          <a:p xmlns:a="http://schemas.openxmlformats.org/drawingml/2006/main">
            <a:r>
              <a:t>NOTEBOOK: notebooks/01_rag_from_scratch.ipynb</a:t>
            </a:r>
          </a:p>
          <a:p xmlns:a="http://schemas.openxmlformats.org/drawingml/2006/main">
            <a:r>
              <a:t/>
            </a:r>
          </a:p>
          <a:p xmlns:a="http://schemas.openxmlformats.org/drawingml/2006/main">
            <a:r>
              <a:t>SOURCES</a:t>
            </a:r>
          </a:p>
          <a:p xmlns:a="http://schemas.openxmlformats.org/drawingml/2006/main">
            <a:r>
              <a:t>notebooks/01_rag_from_scratch.ipynb — sections 3 and 4</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section 5 and display the exact assembled prompt. Ask learners to identify the evidence boundary, question, source labels, and grounding rule. The evidence is data that may contain arbitrary language; text from a document should not become a new instruction to the assistant. Explain that this prompt is a useful baseline and not a complete defense against malicious inputs. After section 6, check whether a cited ID appeared in the evidence and whether that source supports the associated statement. Citation formatting and factual support are separate checks.</a:t>
            </a:r>
          </a:p>
          <a:p xmlns:a="http://schemas.openxmlformats.org/drawingml/2006/main">
            <a:r>
              <a:t/>
            </a:r>
          </a:p>
          <a:p xmlns:a="http://schemas.openxmlformats.org/drawingml/2006/main">
            <a:r>
              <a:t>NOTEBOOK: notebooks/01_rag_from_scratch.ipynb</a:t>
            </a:r>
          </a:p>
          <a:p xmlns:a="http://schemas.openxmlformats.org/drawingml/2006/main">
            <a:r>
              <a:t/>
            </a:r>
          </a:p>
          <a:p xmlns:a="http://schemas.openxmlformats.org/drawingml/2006/main">
            <a:r>
              <a:t>SOURCES</a:t>
            </a:r>
          </a:p>
          <a:p xmlns:a="http://schemas.openxmlformats.org/drawingml/2006/main">
            <a:r>
              <a:t>notebooks/01_rag_from_scratch.ipynb — sections 5 and 6</a:t>
            </a:r>
          </a:p>
          <a:p xmlns:a="http://schemas.openxmlformats.org/drawingml/2006/main">
            <a:r>
              <a:t>https://platform.claude.com/docs/en/test-and-evaluate/strengthen-guardrails/reduce-hallucinations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Sections 7 and 8 make two different weaknesses visible. An unanswerable query can still produce ranked hits because word similarity does not detect whether all requested facts exist. Separately, hit@k measures whether a labeled document reached the result list; it does not judge the final prose. Work through one row of the retrieval table and compare hit@1 with hit@3. A higher k may include the expected document while also adding distracting text. Encourage learners to diagnose the failed stage rather than treating every bad answer as a prompting issue.</a:t>
            </a:r>
          </a:p>
          <a:p xmlns:a="http://schemas.openxmlformats.org/drawingml/2006/main">
            <a:r>
              <a:t/>
            </a:r>
          </a:p>
          <a:p xmlns:a="http://schemas.openxmlformats.org/drawingml/2006/main">
            <a:r>
              <a:t>NOTEBOOK: notebooks/01_rag_from_scratch.ipynb</a:t>
            </a:r>
          </a:p>
          <a:p xmlns:a="http://schemas.openxmlformats.org/drawingml/2006/main">
            <a:r>
              <a:t/>
            </a:r>
          </a:p>
          <a:p xmlns:a="http://schemas.openxmlformats.org/drawingml/2006/main">
            <a:r>
              <a:t>SOURCES</a:t>
            </a:r>
          </a:p>
          <a:p xmlns:a="http://schemas.openxmlformats.org/drawingml/2006/main">
            <a:r>
              <a:t>notebooks/01_rag_from_scratch.ipynb — sections 7 and 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implementation choices with their practical consequences. The tokenizer is intentionally English-oriented and the retriever matches literal terms; it has no learned representation of synonyms. The notebook's exercise changes wording to reveal this limitation without claiming that every paraphrase must fail. More evidence is not automatically better, because the generator can be distracted or combine unrelated policies. Ask learners to explain the difference between missing source coverage and incorrect answer synthesis. Notebook 03 introduces semantic embeddings, while later lessons combine retrieval methods and evaluate them systematically.</a:t>
            </a:r>
          </a:p>
          <a:p xmlns:a="http://schemas.openxmlformats.org/drawingml/2006/main">
            <a:r>
              <a:t/>
            </a:r>
          </a:p>
          <a:p xmlns:a="http://schemas.openxmlformats.org/drawingml/2006/main">
            <a:r>
              <a:t>NOTEBOOK: notebooks/01_rag_from_scratch.ipynb</a:t>
            </a:r>
          </a:p>
          <a:p xmlns:a="http://schemas.openxmlformats.org/drawingml/2006/main">
            <a:r>
              <a:t/>
            </a:r>
          </a:p>
          <a:p xmlns:a="http://schemas.openxmlformats.org/drawingml/2006/main">
            <a:r>
              <a:t>SOURCES</a:t>
            </a:r>
          </a:p>
          <a:p xmlns:a="http://schemas.openxmlformats.org/drawingml/2006/main">
            <a:r>
              <a:t>notebooks/01_rag_from_scratch.ipynb — section 9; What you should now be able to explain</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prepared sequence to keep a practical class focused on visible causality. When showing the no-evidence answer, compare it with the source without exaggerating its failure. During scoring, invite the audience to identify a matched term that helps and a common term that adds noise. Before generation, read the evidence block out loud enough to establish what information the model actually receives. In offline mode, explain that only retrieval, prompt construction, and smoke-check mechanics are demonstrated; the skip message is not a substitute for live answer behavior.</a:t>
            </a:r>
          </a:p>
          <a:p xmlns:a="http://schemas.openxmlformats.org/drawingml/2006/main">
            <a:r>
              <a:t/>
            </a:r>
          </a:p>
          <a:p xmlns:a="http://schemas.openxmlformats.org/drawingml/2006/main">
            <a:r>
              <a:t>NOTEBOOK: notebooks/01_rag_from_scratch.ipynb</a:t>
            </a:r>
          </a:p>
          <a:p xmlns:a="http://schemas.openxmlformats.org/drawingml/2006/main">
            <a:r>
              <a:t/>
            </a:r>
          </a:p>
          <a:p xmlns:a="http://schemas.openxmlformats.org/drawingml/2006/main">
            <a:r>
              <a:t>SOURCES</a:t>
            </a:r>
          </a:p>
          <a:p xmlns:a="http://schemas.openxmlformats.org/drawingml/2006/main">
            <a:r>
              <a:t>notebooks/01_rag_from_scratch.ipynb — sections 1–8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time to attempt section 9 before revealing the sample solution. The function should preserve retrieved IDs and the offline flag alongside the answer, making later inspection possible. Ask each learner to change only k or the query wording, not both at once, so the effect remains interpretable. The remote-work policy's number and approval requirement must both survive in the answer. If a result disappoints, have the learner identify whether the right source was missing, the required passage was missing, or the generator omitted a qualification.</a:t>
            </a:r>
          </a:p>
          <a:p xmlns:a="http://schemas.openxmlformats.org/drawingml/2006/main">
            <a:r>
              <a:t/>
            </a:r>
          </a:p>
          <a:p xmlns:a="http://schemas.openxmlformats.org/drawingml/2006/main">
            <a:r>
              <a:t>NOTEBOOK: notebooks/01_rag_from_scratch.ipynb</a:t>
            </a:r>
          </a:p>
          <a:p xmlns:a="http://schemas.openxmlformats.org/drawingml/2006/main">
            <a:r>
              <a:t/>
            </a:r>
          </a:p>
          <a:p xmlns:a="http://schemas.openxmlformats.org/drawingml/2006/main">
            <a:r>
              <a:t>SOURCES</a:t>
            </a:r>
          </a:p>
          <a:p xmlns:a="http://schemas.openxmlformats.org/drawingml/2006/main">
            <a:r>
              <a:t>notebooks/01_rag_from_scratch.ipynb — section 9</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6364c588dc4d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d72ea7ff2340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47962b8a1544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5530a2f16b48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252bc4ab394c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1f77417ca645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EE6BAB-52E7-4CE3-92C6-649FAC8FD5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E293CE-7748-4443-BB3C-76295A88F4B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F23233-A68D-4F97-BF9D-BB38B38DBB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BC4C6A-45CD-4625-BEAA-DB0C09B49E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A087C3-6199-48F3-87EC-25F326BEAF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22DC72-3060-43E9-9795-D324A11561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6A38F0-3648-4468-A22B-5BCB2D977F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E74657-9086-4CD0-BF6F-019903D01E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78FD1B-A84E-467D-A2D9-F36C88C372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A84543-5F7D-4E43-B77C-6931CB65D8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4aebfd58224060" /><Relationship Type="http://schemas.openxmlformats.org/officeDocument/2006/relationships/slideLayout" Target="/ppt/slideLayouts/slideLayout1.xml" Id="R702b0cb76a7641bd" /><Relationship Type="http://schemas.openxmlformats.org/officeDocument/2006/relationships/slideLayout" Target="/ppt/slideLayouts/slideLayout2.xml" Id="R0a7763ee190941a8" /><Relationship Type="http://schemas.openxmlformats.org/officeDocument/2006/relationships/slideLayout" Target="/ppt/slideLayouts/slideLayout3.xml" Id="Rd4fc52bcf14e4160" /><Relationship Type="http://schemas.openxmlformats.org/officeDocument/2006/relationships/slideLayout" Target="/ppt/slideLayouts/slideLayout4.xml" Id="Rc10d4d235b844840" /><Relationship Type="http://schemas.openxmlformats.org/officeDocument/2006/relationships/slideLayout" Target="/ppt/slideLayouts/slideLayout5.xml" Id="R24d8f307b9964fcc" /><Relationship Type="http://schemas.openxmlformats.org/officeDocument/2006/relationships/slideLayout" Target="/ppt/slideLayouts/slideLayout6.xml" Id="Re5929d25d71747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2b0cb76a7641bd"/>
    <p:sldLayoutId xmlns:r="http://schemas.openxmlformats.org/officeDocument/2006/relationships" id="2147483650" r:id="R0a7763ee190941a8"/>
    <p:sldLayoutId xmlns:r="http://schemas.openxmlformats.org/officeDocument/2006/relationships" id="2147483651" r:id="Rd4fc52bcf14e4160"/>
    <p:sldLayoutId xmlns:r="http://schemas.openxmlformats.org/officeDocument/2006/relationships" id="2147483652" r:id="Rc10d4d235b844840"/>
    <p:sldLayoutId xmlns:r="http://schemas.openxmlformats.org/officeDocument/2006/relationships" id="2147483653" r:id="R24d8f307b9964fcc"/>
    <p:sldLayoutId xmlns:r="http://schemas.openxmlformats.org/officeDocument/2006/relationships" id="2147483654" r:id="Re5929d25d71747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e8e4c6060504272" /><Relationship Type="http://schemas.openxmlformats.org/officeDocument/2006/relationships/image" Target="/ppt/media/image.png" Id="R463a8648976d4e5f" /><Relationship Type="http://schemas.openxmlformats.org/officeDocument/2006/relationships/notesSlide" Target="/ppt/notesSlides/notesSlide1.xml" Id="R87ccabc0eb4b42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0e9be3cf23d4299" /><Relationship Type="http://schemas.openxmlformats.org/officeDocument/2006/relationships/notesSlide" Target="/ppt/notesSlides/notesSlide2.xml" Id="Rf8b67678c11b43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e89e5894d34b08" /><Relationship Type="http://schemas.openxmlformats.org/officeDocument/2006/relationships/notesSlide" Target="/ppt/notesSlides/notesSlide3.xml" Id="R90f9dcd7bfc245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dbbe87ea8544db" /><Relationship Type="http://schemas.openxmlformats.org/officeDocument/2006/relationships/notesSlide" Target="/ppt/notesSlides/notesSlide4.xml" Id="Rdb9d94c10d9f4d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9a91b8bb3544284" /><Relationship Type="http://schemas.openxmlformats.org/officeDocument/2006/relationships/notesSlide" Target="/ppt/notesSlides/notesSlide5.xml" Id="R3c7de7fa6afa48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202ecbb10ca4a7d" /><Relationship Type="http://schemas.openxmlformats.org/officeDocument/2006/relationships/notesSlide" Target="/ppt/notesSlides/notesSlide6.xml" Id="R91f8028237c54b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122452e42d4e43" /><Relationship Type="http://schemas.openxmlformats.org/officeDocument/2006/relationships/notesSlide" Target="/ppt/notesSlides/notesSlide7.xml" Id="R7d4b1160f7f141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6d8c57fa636461e" /><Relationship Type="http://schemas.openxmlformats.org/officeDocument/2006/relationships/notesSlide" Target="/ppt/notesSlides/notesSlide8.xml" Id="R857c9734aaa741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c3adc233b324ef6" /><Relationship Type="http://schemas.openxmlformats.org/officeDocument/2006/relationships/notesSlide" Target="/ppt/notesSlides/notesSlide9.xml" Id="R115d6e5bdfc7450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6EA8011C-1EB0-415E-8099-DC145FCBA879}"/>
              </a:ext>
            </a:extLst>
          </p:cNvPr>
          <p:cNvPicPr>
            <a:picLocks xmlns:a="http://schemas.openxmlformats.org/drawingml/2006/main" noChangeAspect="1"/>
          </p:cNvPicPr>
          <p:nvPr/>
        </p:nvPicPr>
        <p:blipFill>
          <a:blip xmlns:r="http://schemas.openxmlformats.org/officeDocument/2006/relationships" xmlns:a="http://schemas.openxmlformats.org/drawingml/2006/main" r:embed="R463a8648976d4e5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79F2CB7A-675D-471C-870E-E09EE863A7AB}"/>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01</a:t>
            </a:r>
          </a:p>
        </p:txBody>
      </p:sp>
      <p:sp>
        <p:nvSpPr>
          <p:cNvPr id="3" name="deck-title">
            <a:extLst xmlns:a="http://schemas.openxmlformats.org/drawingml/2006/main">
              <a:ext uri="{FF2B5EF4-FFF2-40B4-BE49-F238E27FC236}">
                <a16:creationId xmlns:a16="http://schemas.microsoft.com/office/drawing/2014/main" id="{D2DDEE3E-4AC6-4F43-B2D1-7D7F67BE3655}"/>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Build RAG from scratch</a:t>
            </a:r>
          </a:p>
        </p:txBody>
      </p:sp>
      <p:sp>
        <p:nvSpPr>
          <p:cNvPr id="4" name="text">
            <a:extLst xmlns:a="http://schemas.openxmlformats.org/drawingml/2006/main">
              <a:ext uri="{FF2B5EF4-FFF2-40B4-BE49-F238E27FC236}">
                <a16:creationId xmlns:a16="http://schemas.microsoft.com/office/drawing/2014/main" id="{22B02AF9-B204-40E8-B9C4-E60C44FE8FD2}"/>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Visible scoring · Evidence prompts · Citations and unanswered questions</a:t>
            </a:r>
          </a:p>
        </p:txBody>
      </p:sp>
      <p:sp>
        <p:nvSpPr>
          <p:cNvPr id="5" name="text">
            <a:extLst xmlns:a="http://schemas.openxmlformats.org/drawingml/2006/main">
              <a:ext uri="{FF2B5EF4-FFF2-40B4-BE49-F238E27FC236}">
                <a16:creationId xmlns:a16="http://schemas.microsoft.com/office/drawing/2014/main" id="{AA1E8EC9-B1F8-42C3-BDF3-7A9EBC789012}"/>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01_rag_from_scratch.ipynb</a:t>
            </a:r>
          </a:p>
        </p:txBody>
      </p:sp>
    </p:spTree>
    <p:extLst>
      <p:ext uri="{BB962C8B-B14F-4D97-AF65-F5344CB8AC3E}">
        <p14:creationId xmlns:p14="http://schemas.microsoft.com/office/powerpoint/2010/main" val="1142452140"/>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F08A8AF-6FBD-4DEA-85EE-ABCAA3717EA7}"/>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01</a:t>
            </a:r>
          </a:p>
        </p:txBody>
      </p:sp>
      <p:sp>
        <p:nvSpPr>
          <p:cNvPr id="2" name="slide-title">
            <a:extLst xmlns:a="http://schemas.openxmlformats.org/drawingml/2006/main">
              <a:ext uri="{FF2B5EF4-FFF2-40B4-BE49-F238E27FC236}">
                <a16:creationId xmlns:a16="http://schemas.microsoft.com/office/drawing/2014/main" id="{7ABFA352-D905-47B8-8176-04CDAC622F46}"/>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 fluent answer does not imply source access</a:t>
            </a:r>
          </a:p>
        </p:txBody>
      </p:sp>
      <p:sp>
        <p:nvSpPr>
          <p:cNvPr id="3" name="lead">
            <a:extLst xmlns:a="http://schemas.openxmlformats.org/drawingml/2006/main">
              <a:ext uri="{FF2B5EF4-FFF2-40B4-BE49-F238E27FC236}">
                <a16:creationId xmlns:a16="http://schemas.microsoft.com/office/drawing/2014/main" id="{247B4C45-F1C0-4BB1-881F-B3EDB286EECD}"/>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model cannot reliably know the custom policies in our fictional teaching corpus without seeing them.</a:t>
            </a:r>
          </a:p>
        </p:txBody>
      </p:sp>
      <p:sp>
        <p:nvSpPr>
          <p:cNvPr id="4" name="text">
            <a:extLst xmlns:a="http://schemas.openxmlformats.org/drawingml/2006/main">
              <a:ext uri="{FF2B5EF4-FFF2-40B4-BE49-F238E27FC236}">
                <a16:creationId xmlns:a16="http://schemas.microsoft.com/office/drawing/2014/main" id="{D434BECC-8B36-4436-BF8C-F6B618242575}"/>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01  /  Build RAG from scratch</a:t>
            </a:r>
          </a:p>
        </p:txBody>
      </p:sp>
      <p:sp>
        <p:nvSpPr>
          <p:cNvPr id="5" name="page-number">
            <a:extLst xmlns:a="http://schemas.openxmlformats.org/drawingml/2006/main">
              <a:ext uri="{FF2B5EF4-FFF2-40B4-BE49-F238E27FC236}">
                <a16:creationId xmlns:a16="http://schemas.microsoft.com/office/drawing/2014/main" id="{06238A44-2E0A-4DB3-986C-D0338C7EEBB9}"/>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graphicFrame>
        <p:nvGraphicFramePr>
          <p:cNvPr id="6" name="">
            <a:extLst xmlns:a="http://schemas.openxmlformats.org/drawingml/2006/main">
              <a:ext uri="{FF2B5EF4-FFF2-40B4-BE49-F238E27FC236}">
                <a16:creationId xmlns:a16="http://schemas.microsoft.com/office/drawing/2014/main" id="{6D14DB58-00E6-40F0-9AF4-DCDC8584EBC2}"/>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No evidence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Claude may admit uncertainty, request context, or speculate. Hallucination is not guaranteed.</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Retrieved evidence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Selected policy text gives the model a basis for answering the specific company question.</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Fair comparison</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Use the same carry-forward question and compare both responses with the benefits policy.</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Success condition</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The answer preserves the source's 5-day limit and March 31 deadline, with a supporting citation.</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2083930586"/>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C93793F-3D7E-439E-B2D2-6CA6A1540842}"/>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01</a:t>
            </a:r>
          </a:p>
        </p:txBody>
      </p:sp>
      <p:sp>
        <p:nvSpPr>
          <p:cNvPr id="2" name="slide-title">
            <a:extLst xmlns:a="http://schemas.openxmlformats.org/drawingml/2006/main">
              <a:ext uri="{FF2B5EF4-FFF2-40B4-BE49-F238E27FC236}">
                <a16:creationId xmlns:a16="http://schemas.microsoft.com/office/drawing/2014/main" id="{C9A9827F-9E42-43B0-B37D-ABC55F7D0925}"/>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Implement RAG with visible building blocks</a:t>
            </a:r>
          </a:p>
        </p:txBody>
      </p:sp>
      <p:sp>
        <p:nvSpPr>
          <p:cNvPr id="3" name="lead">
            <a:extLst xmlns:a="http://schemas.openxmlformats.org/drawingml/2006/main">
              <a:ext uri="{FF2B5EF4-FFF2-40B4-BE49-F238E27FC236}">
                <a16:creationId xmlns:a16="http://schemas.microsoft.com/office/drawing/2014/main" id="{E4FC94AC-4212-431A-B108-4024E551DC53}"/>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Ordinary Python is enough to expose every important operation in a small teaching pipeline.</a:t>
            </a:r>
          </a:p>
        </p:txBody>
      </p:sp>
      <p:sp>
        <p:nvSpPr>
          <p:cNvPr id="4" name="text">
            <a:extLst xmlns:a="http://schemas.openxmlformats.org/drawingml/2006/main">
              <a:ext uri="{FF2B5EF4-FFF2-40B4-BE49-F238E27FC236}">
                <a16:creationId xmlns:a16="http://schemas.microsoft.com/office/drawing/2014/main" id="{A3437D47-94CA-40B3-88C3-DD5A046D90E1}"/>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01  /  Build RAG from scratch</a:t>
            </a:r>
          </a:p>
        </p:txBody>
      </p:sp>
      <p:sp>
        <p:nvSpPr>
          <p:cNvPr id="5" name="page-number">
            <a:extLst xmlns:a="http://schemas.openxmlformats.org/drawingml/2006/main">
              <a:ext uri="{FF2B5EF4-FFF2-40B4-BE49-F238E27FC236}">
                <a16:creationId xmlns:a16="http://schemas.microsoft.com/office/drawing/2014/main" id="{2ADBE6AE-0CA3-4664-8FD5-1AAC0A235D51}"/>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9722758D-B25D-4146-B701-47142DA49D6D}"/>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Prepare and score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Tokenize the question and documents, then calculate a normalized word-overlap score.</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Select evidence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Sort the documents by score and keep the top k, along with IDs, text, and metadata.</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Prompt and generate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Format the evidence block, add grounding instructions, and send the question to Claude.</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Verify</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Compare each answer claim and citation with the exact retrieved text.</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87407205"/>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04569435-7D4C-48BE-9461-286793C47EE1}"/>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01</a:t>
            </a:r>
          </a:p>
        </p:txBody>
      </p:sp>
      <p:sp>
        <p:nvSpPr>
          <p:cNvPr id="2" name="slide-title">
            <a:extLst xmlns:a="http://schemas.openxmlformats.org/drawingml/2006/main">
              <a:ext uri="{FF2B5EF4-FFF2-40B4-BE49-F238E27FC236}">
                <a16:creationId xmlns:a16="http://schemas.microsoft.com/office/drawing/2014/main" id="{0B0C5360-DA55-4282-B3A2-961E20E4F589}"/>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Make the retrieval score understandable</a:t>
            </a:r>
          </a:p>
        </p:txBody>
      </p:sp>
      <p:sp>
        <p:nvSpPr>
          <p:cNvPr id="3" name="lead">
            <a:extLst xmlns:a="http://schemas.openxmlformats.org/drawingml/2006/main">
              <a:ext uri="{FF2B5EF4-FFF2-40B4-BE49-F238E27FC236}">
                <a16:creationId xmlns:a16="http://schemas.microsoft.com/office/drawing/2014/main" id="{3D5A704F-E779-403C-85FC-7B25E68F779E}"/>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Binary-word cosine rewards overlap while reducing the advantage of a longer document.</a:t>
            </a:r>
          </a:p>
        </p:txBody>
      </p:sp>
      <p:sp>
        <p:nvSpPr>
          <p:cNvPr id="4" name="text">
            <a:extLst xmlns:a="http://schemas.openxmlformats.org/drawingml/2006/main">
              <a:ext uri="{FF2B5EF4-FFF2-40B4-BE49-F238E27FC236}">
                <a16:creationId xmlns:a16="http://schemas.microsoft.com/office/drawing/2014/main" id="{D4B7527A-75B3-4743-B9B2-951CBEFE1168}"/>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01  /  Build RAG from scratch</a:t>
            </a:r>
          </a:p>
        </p:txBody>
      </p:sp>
      <p:sp>
        <p:nvSpPr>
          <p:cNvPr id="5" name="page-number">
            <a:extLst xmlns:a="http://schemas.openxmlformats.org/drawingml/2006/main">
              <a:ext uri="{FF2B5EF4-FFF2-40B4-BE49-F238E27FC236}">
                <a16:creationId xmlns:a16="http://schemas.microsoft.com/office/drawing/2014/main" id="{BB9E905C-84EE-4EB7-A187-6CAF3ECBB6D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sp>
        <p:nvSpPr>
          <p:cNvPr id="6" name="text">
            <a:extLst xmlns:a="http://schemas.openxmlformats.org/drawingml/2006/main">
              <a:ext uri="{FF2B5EF4-FFF2-40B4-BE49-F238E27FC236}">
                <a16:creationId xmlns:a16="http://schemas.microsoft.com/office/drawing/2014/main" id="{509423DE-18FB-4ACF-9F52-544498D08A96}"/>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Tokenize</a:t>
            </a:r>
          </a:p>
        </p:txBody>
      </p:sp>
      <p:sp>
        <p:nvSpPr>
          <p:cNvPr id="7" name="text">
            <a:extLst xmlns:a="http://schemas.openxmlformats.org/drawingml/2006/main">
              <a:ext uri="{FF2B5EF4-FFF2-40B4-BE49-F238E27FC236}">
                <a16:creationId xmlns:a16="http://schemas.microsoft.com/office/drawing/2014/main" id="{07FB1BB6-1888-4440-A48E-32D94269E0B9}"/>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Lowercase text, keep letters and numbers, and remove a small set of common English words.</a:t>
            </a:r>
          </a:p>
        </p:txBody>
      </p:sp>
      <p:sp>
        <p:nvSpPr>
          <p:cNvPr id="8" name="text">
            <a:extLst xmlns:a="http://schemas.openxmlformats.org/drawingml/2006/main">
              <a:ext uri="{FF2B5EF4-FFF2-40B4-BE49-F238E27FC236}">
                <a16:creationId xmlns:a16="http://schemas.microsoft.com/office/drawing/2014/main" id="{16ACAA0C-6CA9-455E-B98D-E487B5272392}"/>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Use sets</a:t>
            </a:r>
          </a:p>
        </p:txBody>
      </p:sp>
      <p:sp>
        <p:nvSpPr>
          <p:cNvPr id="9" name="text">
            <a:extLst xmlns:a="http://schemas.openxmlformats.org/drawingml/2006/main">
              <a:ext uri="{FF2B5EF4-FFF2-40B4-BE49-F238E27FC236}">
                <a16:creationId xmlns:a16="http://schemas.microsoft.com/office/drawing/2014/main" id="{0F868601-FFF0-4D5A-9DB2-D7930CED2CD5}"/>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Repeated occurrences of a word count once in this deliberately simple retriever.</a:t>
            </a:r>
          </a:p>
        </p:txBody>
      </p:sp>
      <p:sp>
        <p:nvSpPr>
          <p:cNvPr id="10" name="text">
            <a:extLst xmlns:a="http://schemas.openxmlformats.org/drawingml/2006/main">
              <a:ext uri="{FF2B5EF4-FFF2-40B4-BE49-F238E27FC236}">
                <a16:creationId xmlns:a16="http://schemas.microsoft.com/office/drawing/2014/main" id="{C67D1B44-8C41-4DB4-9ABF-C4D8418B639B}"/>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Calculate</a:t>
            </a:r>
          </a:p>
        </p:txBody>
      </p:sp>
      <p:sp>
        <p:nvSpPr>
          <p:cNvPr id="11" name="text">
            <a:extLst xmlns:a="http://schemas.openxmlformats.org/drawingml/2006/main">
              <a:ext uri="{FF2B5EF4-FFF2-40B4-BE49-F238E27FC236}">
                <a16:creationId xmlns:a16="http://schemas.microsoft.com/office/drawing/2014/main" id="{5C33797F-3F52-4136-9A80-D7C59F9DDA6E}"/>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score = shared-word count / square root of (query-word count × document-word count).</a:t>
            </a:r>
          </a:p>
        </p:txBody>
      </p:sp>
      <p:sp>
        <p:nvSpPr>
          <p:cNvPr id="12" name="text">
            <a:extLst xmlns:a="http://schemas.openxmlformats.org/drawingml/2006/main">
              <a:ext uri="{FF2B5EF4-FFF2-40B4-BE49-F238E27FC236}">
                <a16:creationId xmlns:a16="http://schemas.microsoft.com/office/drawing/2014/main" id="{0F0521DC-77D5-402F-A58A-1FF296C31AE2}"/>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Toy arithmetic</a:t>
            </a:r>
          </a:p>
        </p:txBody>
      </p:sp>
      <p:sp>
        <p:nvSpPr>
          <p:cNvPr id="13" name="text">
            <a:extLst xmlns:a="http://schemas.openxmlformats.org/drawingml/2006/main">
              <a:ext uri="{FF2B5EF4-FFF2-40B4-BE49-F238E27FC236}">
                <a16:creationId xmlns:a16="http://schemas.microsoft.com/office/drawing/2014/main" id="{3E2380B4-A1F3-482E-A5CF-DC21503B15B2}"/>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For 2 shared words, 4 query words, and 9 document words: 2 / √36 = 0.333.</a:t>
            </a:r>
          </a:p>
        </p:txBody>
      </p:sp>
    </p:spTree>
    <p:extLst>
      <p:ext uri="{BB962C8B-B14F-4D97-AF65-F5344CB8AC3E}">
        <p14:creationId xmlns:p14="http://schemas.microsoft.com/office/powerpoint/2010/main" val="2017912861"/>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364FFA46-228D-4832-8290-D0B6160C19FB}"/>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01</a:t>
            </a:r>
          </a:p>
        </p:txBody>
      </p:sp>
      <p:sp>
        <p:nvSpPr>
          <p:cNvPr id="2" name="slide-title">
            <a:extLst xmlns:a="http://schemas.openxmlformats.org/drawingml/2006/main">
              <a:ext uri="{FF2B5EF4-FFF2-40B4-BE49-F238E27FC236}">
                <a16:creationId xmlns:a16="http://schemas.microsoft.com/office/drawing/2014/main" id="{8725B4CD-AF5C-47E7-9321-FC3B67229305}"/>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The prompt must preserve evidence identity</a:t>
            </a:r>
          </a:p>
        </p:txBody>
      </p:sp>
      <p:sp>
        <p:nvSpPr>
          <p:cNvPr id="3" name="lead">
            <a:extLst xmlns:a="http://schemas.openxmlformats.org/drawingml/2006/main">
              <a:ext uri="{FF2B5EF4-FFF2-40B4-BE49-F238E27FC236}">
                <a16:creationId xmlns:a16="http://schemas.microsoft.com/office/drawing/2014/main" id="{90BF318F-DB86-4F60-80B7-BB7407C3A9F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useful grounded prompt states what the evidence is and how the model should use it.</a:t>
            </a:r>
          </a:p>
        </p:txBody>
      </p:sp>
      <p:sp>
        <p:nvSpPr>
          <p:cNvPr id="4" name="text">
            <a:extLst xmlns:a="http://schemas.openxmlformats.org/drawingml/2006/main">
              <a:ext uri="{FF2B5EF4-FFF2-40B4-BE49-F238E27FC236}">
                <a16:creationId xmlns:a16="http://schemas.microsoft.com/office/drawing/2014/main" id="{0B141DBC-70DF-4C5F-92E6-6E31E1E08222}"/>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01  /  Build RAG from scratch</a:t>
            </a:r>
          </a:p>
        </p:txBody>
      </p:sp>
      <p:sp>
        <p:nvSpPr>
          <p:cNvPr id="5" name="page-number">
            <a:extLst xmlns:a="http://schemas.openxmlformats.org/drawingml/2006/main">
              <a:ext uri="{FF2B5EF4-FFF2-40B4-BE49-F238E27FC236}">
                <a16:creationId xmlns:a16="http://schemas.microsoft.com/office/drawing/2014/main" id="{374E73C8-9D05-458C-A4A8-5F60608D07B1}"/>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sp>
        <p:nvSpPr>
          <p:cNvPr id="6" name="text">
            <a:extLst xmlns:a="http://schemas.openxmlformats.org/drawingml/2006/main">
              <a:ext uri="{FF2B5EF4-FFF2-40B4-BE49-F238E27FC236}">
                <a16:creationId xmlns:a16="http://schemas.microsoft.com/office/drawing/2014/main" id="{DFF72745-6424-45FF-AC67-5BE537595AD3}"/>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Labeled evidence</a:t>
            </a:r>
          </a:p>
        </p:txBody>
      </p:sp>
      <p:sp>
        <p:nvSpPr>
          <p:cNvPr id="7" name="text">
            <a:extLst xmlns:a="http://schemas.openxmlformats.org/drawingml/2006/main">
              <a:ext uri="{FF2B5EF4-FFF2-40B4-BE49-F238E27FC236}">
                <a16:creationId xmlns:a16="http://schemas.microsoft.com/office/drawing/2014/main" id="{3D0A4D77-A10F-415D-966C-D07B69611978}"/>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Include each document's ID, source, and text so a claim can point to a retrievable source.</a:t>
            </a:r>
          </a:p>
        </p:txBody>
      </p:sp>
      <p:sp>
        <p:nvSpPr>
          <p:cNvPr id="8" name="text">
            <a:extLst xmlns:a="http://schemas.openxmlformats.org/drawingml/2006/main">
              <a:ext uri="{FF2B5EF4-FFF2-40B4-BE49-F238E27FC236}">
                <a16:creationId xmlns:a16="http://schemas.microsoft.com/office/drawing/2014/main" id="{8DEB6AF1-5F5D-454B-8DC2-5102ED60CD30}"/>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Grounding instruction</a:t>
            </a:r>
          </a:p>
        </p:txBody>
      </p:sp>
      <p:sp>
        <p:nvSpPr>
          <p:cNvPr id="9" name="text">
            <a:extLst xmlns:a="http://schemas.openxmlformats.org/drawingml/2006/main">
              <a:ext uri="{FF2B5EF4-FFF2-40B4-BE49-F238E27FC236}">
                <a16:creationId xmlns:a16="http://schemas.microsoft.com/office/drawing/2014/main" id="{AC67D3A1-5759-41D0-8541-3AE4AF667C4C}"/>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Answer only from supplied evidence and state when the evidence cannot answer the question.</a:t>
            </a:r>
          </a:p>
        </p:txBody>
      </p:sp>
      <p:sp>
        <p:nvSpPr>
          <p:cNvPr id="10" name="text">
            <a:extLst xmlns:a="http://schemas.openxmlformats.org/drawingml/2006/main">
              <a:ext uri="{FF2B5EF4-FFF2-40B4-BE49-F238E27FC236}">
                <a16:creationId xmlns:a16="http://schemas.microsoft.com/office/drawing/2014/main" id="{791B3AF8-D9DA-45B7-A052-69BAA15251CD}"/>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Citation instruction</a:t>
            </a:r>
          </a:p>
        </p:txBody>
      </p:sp>
      <p:sp>
        <p:nvSpPr>
          <p:cNvPr id="11" name="text">
            <a:extLst xmlns:a="http://schemas.openxmlformats.org/drawingml/2006/main">
              <a:ext uri="{FF2B5EF4-FFF2-40B4-BE49-F238E27FC236}">
                <a16:creationId xmlns:a16="http://schemas.microsoft.com/office/drawing/2014/main" id="{1DF9DDF3-B7D9-4AC4-AA57-C6922D820C90}"/>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Request document IDs in brackets for factual claims.</a:t>
            </a:r>
          </a:p>
        </p:txBody>
      </p:sp>
      <p:sp>
        <p:nvSpPr>
          <p:cNvPr id="12" name="text">
            <a:extLst xmlns:a="http://schemas.openxmlformats.org/drawingml/2006/main">
              <a:ext uri="{FF2B5EF4-FFF2-40B4-BE49-F238E27FC236}">
                <a16:creationId xmlns:a16="http://schemas.microsoft.com/office/drawing/2014/main" id="{803E058B-F640-436A-A1F6-8A590F409C02}"/>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Trust boundary</a:t>
            </a:r>
          </a:p>
        </p:txBody>
      </p:sp>
      <p:sp>
        <p:nvSpPr>
          <p:cNvPr id="13" name="text">
            <a:extLst xmlns:a="http://schemas.openxmlformats.org/drawingml/2006/main">
              <a:ext uri="{FF2B5EF4-FFF2-40B4-BE49-F238E27FC236}">
                <a16:creationId xmlns:a16="http://schemas.microsoft.com/office/drawing/2014/main" id="{30C592CE-D206-4D87-8210-7B254BFF1640}"/>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Treat retrieved text as untrusted data. A prompt instruction alone is not complete security.</a:t>
            </a:r>
          </a:p>
        </p:txBody>
      </p:sp>
    </p:spTree>
    <p:extLst>
      <p:ext uri="{BB962C8B-B14F-4D97-AF65-F5344CB8AC3E}">
        <p14:creationId xmlns:p14="http://schemas.microsoft.com/office/powerpoint/2010/main" val="12067815"/>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C6DBA126-4FDC-4E84-986A-6CCBBBBC513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01</a:t>
            </a:r>
          </a:p>
        </p:txBody>
      </p:sp>
      <p:sp>
        <p:nvSpPr>
          <p:cNvPr id="2" name="slide-title">
            <a:extLst xmlns:a="http://schemas.openxmlformats.org/drawingml/2006/main">
              <a:ext uri="{FF2B5EF4-FFF2-40B4-BE49-F238E27FC236}">
                <a16:creationId xmlns:a16="http://schemas.microsoft.com/office/drawing/2014/main" id="{9EE13DA7-BA1A-4998-AD10-9FE2ABD42039}"/>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Separate retrieval quality from answer quality</a:t>
            </a:r>
          </a:p>
        </p:txBody>
      </p:sp>
      <p:sp>
        <p:nvSpPr>
          <p:cNvPr id="3" name="lead">
            <a:extLst xmlns:a="http://schemas.openxmlformats.org/drawingml/2006/main">
              <a:ext uri="{FF2B5EF4-FFF2-40B4-BE49-F238E27FC236}">
                <a16:creationId xmlns:a16="http://schemas.microsoft.com/office/drawing/2014/main" id="{E8091C39-7B44-4369-B751-20EAB305C6C4}"/>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retriever can find the right document while the generator still writes an unsupported answer.</a:t>
            </a:r>
          </a:p>
        </p:txBody>
      </p:sp>
      <p:sp>
        <p:nvSpPr>
          <p:cNvPr id="4" name="text">
            <a:extLst xmlns:a="http://schemas.openxmlformats.org/drawingml/2006/main">
              <a:ext uri="{FF2B5EF4-FFF2-40B4-BE49-F238E27FC236}">
                <a16:creationId xmlns:a16="http://schemas.microsoft.com/office/drawing/2014/main" id="{5BBC89B8-F9FB-4D36-B14E-F0806FF5515C}"/>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01  /  Build RAG from scratch</a:t>
            </a:r>
          </a:p>
        </p:txBody>
      </p:sp>
      <p:sp>
        <p:nvSpPr>
          <p:cNvPr id="5" name="page-number">
            <a:extLst xmlns:a="http://schemas.openxmlformats.org/drawingml/2006/main">
              <a:ext uri="{FF2B5EF4-FFF2-40B4-BE49-F238E27FC236}">
                <a16:creationId xmlns:a16="http://schemas.microsoft.com/office/drawing/2014/main" id="{9FB9EBD2-BAD4-4765-BB55-3F2225B5948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graphicFrame>
        <p:nvGraphicFramePr>
          <p:cNvPr id="6" name="">
            <a:extLst xmlns:a="http://schemas.openxmlformats.org/drawingml/2006/main">
              <a:ext uri="{FF2B5EF4-FFF2-40B4-BE49-F238E27FC236}">
                <a16:creationId xmlns:a16="http://schemas.microsoft.com/office/drawing/2014/main" id="{ACAB60BD-D67B-4205-BD32-7ACA99FD8525}"/>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Retrieval check</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hit@k asks whether a known relevant document appears among the first k results.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Answer check</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Read the answer and verify its facts, conditions, and citations against selected evidence.</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Unanswerable check</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The pet-insurance limit is absent. Nearby policies cannot establish that missing number.</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Scope of the experiment</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Four hand-labeled queries are a smoke check, not a statistically strong benchmark.</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083757168"/>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0B04C845-3C08-43F6-82CB-9BA41958BB29}"/>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01</a:t>
            </a:r>
          </a:p>
        </p:txBody>
      </p:sp>
      <p:sp>
        <p:nvSpPr>
          <p:cNvPr id="2" name="slide-title">
            <a:extLst xmlns:a="http://schemas.openxmlformats.org/drawingml/2006/main">
              <a:ext uri="{FF2B5EF4-FFF2-40B4-BE49-F238E27FC236}">
                <a16:creationId xmlns:a16="http://schemas.microsoft.com/office/drawing/2014/main" id="{69E79693-215F-4591-AE34-2388394EB528}"/>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Understand what this baseline cannot solve</a:t>
            </a:r>
          </a:p>
        </p:txBody>
      </p:sp>
      <p:sp>
        <p:nvSpPr>
          <p:cNvPr id="3" name="lead">
            <a:extLst xmlns:a="http://schemas.openxmlformats.org/drawingml/2006/main">
              <a:ext uri="{FF2B5EF4-FFF2-40B4-BE49-F238E27FC236}">
                <a16:creationId xmlns:a16="http://schemas.microsoft.com/office/drawing/2014/main" id="{B0EEDD15-6A33-4450-A4BE-19D1194BA2F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Simple word overlap exposes mechanics and also reveals why stronger retrieval methods are useful.</a:t>
            </a:r>
          </a:p>
        </p:txBody>
      </p:sp>
      <p:sp>
        <p:nvSpPr>
          <p:cNvPr id="4" name="text">
            <a:extLst xmlns:a="http://schemas.openxmlformats.org/drawingml/2006/main">
              <a:ext uri="{FF2B5EF4-FFF2-40B4-BE49-F238E27FC236}">
                <a16:creationId xmlns:a16="http://schemas.microsoft.com/office/drawing/2014/main" id="{50EDB6DC-F37F-4B65-8A50-2DE5E97E7DD7}"/>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01  /  Build RAG from scratch</a:t>
            </a:r>
          </a:p>
        </p:txBody>
      </p:sp>
      <p:sp>
        <p:nvSpPr>
          <p:cNvPr id="5" name="page-number">
            <a:extLst xmlns:a="http://schemas.openxmlformats.org/drawingml/2006/main">
              <a:ext uri="{FF2B5EF4-FFF2-40B4-BE49-F238E27FC236}">
                <a16:creationId xmlns:a16="http://schemas.microsoft.com/office/drawing/2014/main" id="{331F109B-DEA9-44C5-86AE-CD7048C5FB44}"/>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DF8CE173-44EA-4A44-A3DA-E21B58FBBB91}"/>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Paraphrases</a:t>
            </a:r>
          </a:p>
        </p:txBody>
      </p:sp>
      <p:sp>
        <p:nvSpPr>
          <p:cNvPr id="7" name="text">
            <a:extLst xmlns:a="http://schemas.openxmlformats.org/drawingml/2006/main">
              <a:ext uri="{FF2B5EF4-FFF2-40B4-BE49-F238E27FC236}">
                <a16:creationId xmlns:a16="http://schemas.microsoft.com/office/drawing/2014/main" id="{03E6466B-A0A7-48A1-BF86-6149C47809E2}"/>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Working away from the office may share few words with a policy titled remote work.</a:t>
            </a:r>
          </a:p>
        </p:txBody>
      </p:sp>
      <p:sp>
        <p:nvSpPr>
          <p:cNvPr id="8" name="text">
            <a:extLst xmlns:a="http://schemas.openxmlformats.org/drawingml/2006/main">
              <a:ext uri="{FF2B5EF4-FFF2-40B4-BE49-F238E27FC236}">
                <a16:creationId xmlns:a16="http://schemas.microsoft.com/office/drawing/2014/main" id="{29A576D1-4A7C-480F-948B-61B1C2143118}"/>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Missing facts</a:t>
            </a:r>
          </a:p>
        </p:txBody>
      </p:sp>
      <p:sp>
        <p:nvSpPr>
          <p:cNvPr id="9" name="text">
            <a:extLst xmlns:a="http://schemas.openxmlformats.org/drawingml/2006/main">
              <a:ext uri="{FF2B5EF4-FFF2-40B4-BE49-F238E27FC236}">
                <a16:creationId xmlns:a16="http://schemas.microsoft.com/office/drawing/2014/main" id="{3804F113-FFB4-4A79-8525-395D9CC38B31}"/>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Better prompt wording cannot recover a policy that never reached the evidence block.</a:t>
            </a:r>
          </a:p>
        </p:txBody>
      </p:sp>
      <p:sp>
        <p:nvSpPr>
          <p:cNvPr id="10" name="text">
            <a:extLst xmlns:a="http://schemas.openxmlformats.org/drawingml/2006/main">
              <a:ext uri="{FF2B5EF4-FFF2-40B4-BE49-F238E27FC236}">
                <a16:creationId xmlns:a16="http://schemas.microsoft.com/office/drawing/2014/main" id="{DB315E8D-D3DB-47CD-B932-763F498818BC}"/>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Extra context</a:t>
            </a:r>
          </a:p>
        </p:txBody>
      </p:sp>
      <p:sp>
        <p:nvSpPr>
          <p:cNvPr id="11" name="text">
            <a:extLst xmlns:a="http://schemas.openxmlformats.org/drawingml/2006/main">
              <a:ext uri="{FF2B5EF4-FFF2-40B4-BE49-F238E27FC236}">
                <a16:creationId xmlns:a16="http://schemas.microsoft.com/office/drawing/2014/main" id="{2E0320DF-D489-4DC5-8BE9-6355F527A465}"/>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Increasing k can improve coverage or introduce unrelated material; inspect the change.</a:t>
            </a:r>
          </a:p>
        </p:txBody>
      </p:sp>
      <p:sp>
        <p:nvSpPr>
          <p:cNvPr id="12" name="text">
            <a:extLst xmlns:a="http://schemas.openxmlformats.org/drawingml/2006/main">
              <a:ext uri="{FF2B5EF4-FFF2-40B4-BE49-F238E27FC236}">
                <a16:creationId xmlns:a16="http://schemas.microsoft.com/office/drawing/2014/main" id="{1F5BCADD-9EF6-4181-A4A8-C6E4BCD063B9}"/>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Unsupported certainty</a:t>
            </a:r>
          </a:p>
        </p:txBody>
      </p:sp>
      <p:sp>
        <p:nvSpPr>
          <p:cNvPr id="13" name="text">
            <a:extLst xmlns:a="http://schemas.openxmlformats.org/drawingml/2006/main">
              <a:ext uri="{FF2B5EF4-FFF2-40B4-BE49-F238E27FC236}">
                <a16:creationId xmlns:a16="http://schemas.microsoft.com/office/drawing/2014/main" id="{E89AFDD3-8494-441E-93B2-A8BE69BD4A5D}"/>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Neither a large similarity score nor a citation-looking string proves a claim is true.</a:t>
            </a:r>
          </a:p>
        </p:txBody>
      </p:sp>
    </p:spTree>
    <p:extLst>
      <p:ext uri="{BB962C8B-B14F-4D97-AF65-F5344CB8AC3E}">
        <p14:creationId xmlns:p14="http://schemas.microsoft.com/office/powerpoint/2010/main" val="1403443447"/>
      </p:ext>
    </p:extLst>
  </p:cSld>
</p:sld>
</file>

<file path=ppt/slides/slide8.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7F921150-70D6-46F4-B718-B67E6A70052C}"/>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01</a:t>
            </a:r>
          </a:p>
        </p:txBody>
      </p:sp>
      <p:sp>
        <p:nvSpPr>
          <p:cNvPr id="2" name="slide-title">
            <a:extLst xmlns:a="http://schemas.openxmlformats.org/drawingml/2006/main">
              <a:ext uri="{FF2B5EF4-FFF2-40B4-BE49-F238E27FC236}">
                <a16:creationId xmlns:a16="http://schemas.microsoft.com/office/drawing/2014/main" id="{094745E1-48B7-4509-A84C-45500CB150D3}"/>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inspect scoring, prompt, and answer</a:t>
            </a:r>
          </a:p>
        </p:txBody>
      </p:sp>
      <p:sp>
        <p:nvSpPr>
          <p:cNvPr id="3" name="lead">
            <a:extLst xmlns:a="http://schemas.openxmlformats.org/drawingml/2006/main">
              <a:ext uri="{FF2B5EF4-FFF2-40B4-BE49-F238E27FC236}">
                <a16:creationId xmlns:a16="http://schemas.microsoft.com/office/drawing/2014/main" id="{7D169AD6-2A2B-40E9-9B52-CCF73186E55B}"/>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Pause at each boundary so the audience can predict the next output.</a:t>
            </a:r>
          </a:p>
        </p:txBody>
      </p:sp>
      <p:sp>
        <p:nvSpPr>
          <p:cNvPr id="4" name="text">
            <a:extLst xmlns:a="http://schemas.openxmlformats.org/drawingml/2006/main">
              <a:ext uri="{FF2B5EF4-FFF2-40B4-BE49-F238E27FC236}">
                <a16:creationId xmlns:a16="http://schemas.microsoft.com/office/drawing/2014/main" id="{FC6827EF-0237-4478-8B7C-8FB990990E73}"/>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01  /  Build RAG from scratch</a:t>
            </a:r>
          </a:p>
        </p:txBody>
      </p:sp>
      <p:sp>
        <p:nvSpPr>
          <p:cNvPr id="5" name="page-number">
            <a:extLst xmlns:a="http://schemas.openxmlformats.org/drawingml/2006/main">
              <a:ext uri="{FF2B5EF4-FFF2-40B4-BE49-F238E27FC236}">
                <a16:creationId xmlns:a16="http://schemas.microsoft.com/office/drawing/2014/main" id="{55E0C394-773C-4CE7-98D8-136AB541D762}"/>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9337C655-0BFA-42EE-ABE7-A5A5AAAD3C72}"/>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80C73A74-5B7D-4AA6-89A8-BF233A2E63DA}"/>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Source and baseline</a:t>
            </a:r>
          </a:p>
        </p:txBody>
      </p:sp>
      <p:sp>
        <p:nvSpPr>
          <p:cNvPr id="8" name="text">
            <a:extLst xmlns:a="http://schemas.openxmlformats.org/drawingml/2006/main">
              <a:ext uri="{FF2B5EF4-FFF2-40B4-BE49-F238E27FC236}">
                <a16:creationId xmlns:a16="http://schemas.microsoft.com/office/drawing/2014/main" id="{A4B97418-289F-4B6B-A448-61376F19E4D6}"/>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Sections 1–2: read benefits_leave, then ask the carry-forward question without evidence.</a:t>
            </a:r>
          </a:p>
        </p:txBody>
      </p:sp>
      <p:sp>
        <p:nvSpPr>
          <p:cNvPr id="9" name="text">
            <a:extLst xmlns:a="http://schemas.openxmlformats.org/drawingml/2006/main">
              <a:ext uri="{FF2B5EF4-FFF2-40B4-BE49-F238E27FC236}">
                <a16:creationId xmlns:a16="http://schemas.microsoft.com/office/drawing/2014/main" id="{F2722719-85FE-4275-B4A6-615EA7A75486}"/>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BEACB2EF-609E-4442-8A6C-15A4FBFCE4E7}"/>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Visible retrieval</a:t>
            </a:r>
          </a:p>
        </p:txBody>
      </p:sp>
      <p:sp>
        <p:nvSpPr>
          <p:cNvPr id="11" name="text">
            <a:extLst xmlns:a="http://schemas.openxmlformats.org/drawingml/2006/main">
              <a:ext uri="{FF2B5EF4-FFF2-40B4-BE49-F238E27FC236}">
                <a16:creationId xmlns:a16="http://schemas.microsoft.com/office/drawing/2014/main" id="{F57499A7-82F9-40D6-9699-80210295BB00}"/>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Sections 3–4: print tokens, matched words, scores, and the top policy text.</a:t>
            </a:r>
          </a:p>
        </p:txBody>
      </p:sp>
      <p:sp>
        <p:nvSpPr>
          <p:cNvPr id="12" name="text">
            <a:extLst xmlns:a="http://schemas.openxmlformats.org/drawingml/2006/main">
              <a:ext uri="{FF2B5EF4-FFF2-40B4-BE49-F238E27FC236}">
                <a16:creationId xmlns:a16="http://schemas.microsoft.com/office/drawing/2014/main" id="{E3F22028-246C-4A90-AC92-665A0A51A50B}"/>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4E5C1470-8CD2-4DCF-BDF7-0EA10F5A6367}"/>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Grounded generation</a:t>
            </a:r>
          </a:p>
        </p:txBody>
      </p:sp>
      <p:sp>
        <p:nvSpPr>
          <p:cNvPr id="14" name="text">
            <a:extLst xmlns:a="http://schemas.openxmlformats.org/drawingml/2006/main">
              <a:ext uri="{FF2B5EF4-FFF2-40B4-BE49-F238E27FC236}">
                <a16:creationId xmlns:a16="http://schemas.microsoft.com/office/drawing/2014/main" id="{5D8E3062-1B01-4888-B397-A580E423AD19}"/>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Sections 5–6: show the entire prompt and verify 5 days through March 31.</a:t>
            </a:r>
          </a:p>
        </p:txBody>
      </p:sp>
      <p:sp>
        <p:nvSpPr>
          <p:cNvPr id="15" name="text">
            <a:extLst xmlns:a="http://schemas.openxmlformats.org/drawingml/2006/main">
              <a:ext uri="{FF2B5EF4-FFF2-40B4-BE49-F238E27FC236}">
                <a16:creationId xmlns:a16="http://schemas.microsoft.com/office/drawing/2014/main" id="{9EAB87DB-2B57-4E33-89D8-419DD0F302E7}"/>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B8D5ACCC-C11A-4DAF-B48E-62E83EE4474C}"/>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Failure and measurement</a:t>
            </a:r>
          </a:p>
        </p:txBody>
      </p:sp>
      <p:sp>
        <p:nvSpPr>
          <p:cNvPr id="17" name="text">
            <a:extLst xmlns:a="http://schemas.openxmlformats.org/drawingml/2006/main">
              <a:ext uri="{FF2B5EF4-FFF2-40B4-BE49-F238E27FC236}">
                <a16:creationId xmlns:a16="http://schemas.microsoft.com/office/drawing/2014/main" id="{5416A219-A593-4196-AFC7-D1F8847E49C9}"/>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Sections 7–8: ask the absent pet-insurance question and inspect hit@1 versus hit@3.</a:t>
            </a:r>
          </a:p>
        </p:txBody>
      </p:sp>
    </p:spTree>
    <p:extLst>
      <p:ext uri="{BB962C8B-B14F-4D97-AF65-F5344CB8AC3E}">
        <p14:creationId xmlns:p14="http://schemas.microsoft.com/office/powerpoint/2010/main" val="1327380510"/>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FCF87DCF-B009-492A-BBE3-904FDBBAF910}"/>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01</a:t>
            </a:r>
          </a:p>
        </p:txBody>
      </p:sp>
      <p:sp>
        <p:nvSpPr>
          <p:cNvPr id="2" name="slide-title">
            <a:extLst xmlns:a="http://schemas.openxmlformats.org/drawingml/2006/main">
              <a:ext uri="{FF2B5EF4-FFF2-40B4-BE49-F238E27FC236}">
                <a16:creationId xmlns:a16="http://schemas.microsoft.com/office/drawing/2014/main" id="{476C20B8-9E8C-409B-8B85-2A6C8D69C0C7}"/>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Wrap the pipeline, then perturb one variable</a:t>
            </a:r>
          </a:p>
        </p:txBody>
      </p:sp>
      <p:sp>
        <p:nvSpPr>
          <p:cNvPr id="3" name="lead">
            <a:extLst xmlns:a="http://schemas.openxmlformats.org/drawingml/2006/main">
              <a:ext uri="{FF2B5EF4-FFF2-40B4-BE49-F238E27FC236}">
                <a16:creationId xmlns:a16="http://schemas.microsoft.com/office/drawing/2014/main" id="{E6C8CD88-70C0-4F58-9AA9-3CB1E6BEF6ED}"/>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Return both the answer and the retrieved IDs so the result stays explainable.</a:t>
            </a:r>
          </a:p>
        </p:txBody>
      </p:sp>
      <p:sp>
        <p:nvSpPr>
          <p:cNvPr id="4" name="text">
            <a:extLst xmlns:a="http://schemas.openxmlformats.org/drawingml/2006/main">
              <a:ext uri="{FF2B5EF4-FFF2-40B4-BE49-F238E27FC236}">
                <a16:creationId xmlns:a16="http://schemas.microsoft.com/office/drawing/2014/main" id="{621832FE-CF7D-4C5F-8FD1-6BF89562E7E6}"/>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01  /  Build RAG from scratch</a:t>
            </a:r>
          </a:p>
        </p:txBody>
      </p:sp>
      <p:sp>
        <p:nvSpPr>
          <p:cNvPr id="5" name="page-number">
            <a:extLst xmlns:a="http://schemas.openxmlformats.org/drawingml/2006/main">
              <a:ext uri="{FF2B5EF4-FFF2-40B4-BE49-F238E27FC236}">
                <a16:creationId xmlns:a16="http://schemas.microsoft.com/office/drawing/2014/main" id="{2701879A-F629-4F07-9CD2-9D05B3A5F3B2}"/>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92982E29-7064-4F3F-B30C-6402B2F85A4D}"/>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Build</a:t>
            </a:r>
          </a:p>
        </p:txBody>
      </p:sp>
      <p:sp>
        <p:nvSpPr>
          <p:cNvPr id="7" name="text">
            <a:extLst xmlns:a="http://schemas.openxmlformats.org/drawingml/2006/main">
              <a:ext uri="{FF2B5EF4-FFF2-40B4-BE49-F238E27FC236}">
                <a16:creationId xmlns:a16="http://schemas.microsoft.com/office/drawing/2014/main" id="{64B619B5-71D3-48F9-BD77-E80376C35B3F}"/>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Write answer_question(question, k) using retrieval followed by grounded generation.</a:t>
            </a:r>
          </a:p>
        </p:txBody>
      </p:sp>
      <p:sp>
        <p:nvSpPr>
          <p:cNvPr id="8" name="text">
            <a:extLst xmlns:a="http://schemas.openxmlformats.org/drawingml/2006/main">
              <a:ext uri="{FF2B5EF4-FFF2-40B4-BE49-F238E27FC236}">
                <a16:creationId xmlns:a16="http://schemas.microsoft.com/office/drawing/2014/main" id="{546B24F1-6B48-48B1-9A99-85F6DA804D98}"/>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Compare</a:t>
            </a:r>
          </a:p>
        </p:txBody>
      </p:sp>
      <p:sp>
        <p:nvSpPr>
          <p:cNvPr id="9" name="text">
            <a:extLst xmlns:a="http://schemas.openxmlformats.org/drawingml/2006/main">
              <a:ext uri="{FF2B5EF4-FFF2-40B4-BE49-F238E27FC236}">
                <a16:creationId xmlns:a16="http://schemas.microsoft.com/office/drawing/2014/main" id="{F4F6CF4D-6C34-48D2-8A68-555A52F3B375}"/>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Ask about remote work with k = 1 and k = 4; inspect whether extra evidence adds useful coverage.</a:t>
            </a:r>
          </a:p>
        </p:txBody>
      </p:sp>
      <p:sp>
        <p:nvSpPr>
          <p:cNvPr id="10" name="text">
            <a:extLst xmlns:a="http://schemas.openxmlformats.org/drawingml/2006/main">
              <a:ext uri="{FF2B5EF4-FFF2-40B4-BE49-F238E27FC236}">
                <a16:creationId xmlns:a16="http://schemas.microsoft.com/office/drawing/2014/main" id="{CFCC7B62-1427-4A07-875F-F11D8FD0BE09}"/>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Paraphrase</a:t>
            </a:r>
          </a:p>
        </p:txBody>
      </p:sp>
      <p:sp>
        <p:nvSpPr>
          <p:cNvPr id="11" name="text">
            <a:extLst xmlns:a="http://schemas.openxmlformats.org/drawingml/2006/main">
              <a:ext uri="{FF2B5EF4-FFF2-40B4-BE49-F238E27FC236}">
                <a16:creationId xmlns:a16="http://schemas.microsoft.com/office/drawing/2014/main" id="{4EAEFBBE-D5FA-461A-AFF2-044FB18134C8}"/>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Replace remote work with working away from the office and compare the selected sources.</a:t>
            </a:r>
          </a:p>
        </p:txBody>
      </p:sp>
      <p:sp>
        <p:nvSpPr>
          <p:cNvPr id="12" name="text">
            <a:extLst xmlns:a="http://schemas.openxmlformats.org/drawingml/2006/main">
              <a:ext uri="{FF2B5EF4-FFF2-40B4-BE49-F238E27FC236}">
                <a16:creationId xmlns:a16="http://schemas.microsoft.com/office/drawing/2014/main" id="{AA8C099C-D4FB-42AB-A203-89AF1725100D}"/>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discussion</a:t>
            </a:r>
          </a:p>
        </p:txBody>
      </p:sp>
      <p:sp>
        <p:nvSpPr>
          <p:cNvPr id="13" name="text">
            <a:extLst xmlns:a="http://schemas.openxmlformats.org/drawingml/2006/main">
              <a:ext uri="{FF2B5EF4-FFF2-40B4-BE49-F238E27FC236}">
                <a16:creationId xmlns:a16="http://schemas.microsoft.com/office/drawing/2014/main" id="{03EC1D6A-F7B8-43F5-ACEB-AA719A53136C}"/>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policy permits 3 days per week with manager approval. Explain any retrieval or support gap.</a:t>
            </a:r>
          </a:p>
        </p:txBody>
      </p:sp>
    </p:spTree>
    <p:extLst>
      <p:ext uri="{BB962C8B-B14F-4D97-AF65-F5344CB8AC3E}">
        <p14:creationId xmlns:p14="http://schemas.microsoft.com/office/powerpoint/2010/main" val="21326376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2026-10-11T09:49:11.8960000Z</dcterms:created>
  <dcterms:modified xsi:type="dcterms:W3CDTF">2026-10-11T09:49:11.8960000Z</dcterms:modified>
</coreProperties>
</file>