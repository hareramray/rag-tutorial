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4ccf77dc724863" /><Relationship Type="http://schemas.openxmlformats.org/officeDocument/2006/relationships/extended-properties" Target="/docProps/app.xml" Id="R850d22354fb24d23" /><Relationship Type="http://schemas.openxmlformats.org/officeDocument/2006/relationships/officeDocument" Target="/ppt/presentation.xml" Id="Reaf5f433269f4154" /></Relationships>
</file>

<file path=ppt/presentation.xml><?xml version="1.0" encoding="utf-8"?>
<p:presentation xmlns:p="http://schemas.openxmlformats.org/presentationml/2006/main">
  <p:sldMasterIdLst>
    <p:sldMasterId xmlns:r="http://schemas.openxmlformats.org/officeDocument/2006/relationships" id="2147483648" r:id="Recb09fb268c247d5"/>
  </p:sldMasterIdLst>
  <p:notesMasterIdLst>
    <p:notesMasterId xmlns:r="http://schemas.openxmlformats.org/officeDocument/2006/relationships" r:id="R67ce4eb41f4048c7"/>
  </p:notesMasterIdLst>
  <p:sldIdLst>
    <p:sldId xmlns:r="http://schemas.openxmlformats.org/officeDocument/2006/relationships" id="256" r:id="Reca7056dc5d247e7"/>
    <p:sldId xmlns:r="http://schemas.openxmlformats.org/officeDocument/2006/relationships" id="257" r:id="Rb945e5a654384f6c"/>
    <p:sldId xmlns:r="http://schemas.openxmlformats.org/officeDocument/2006/relationships" id="258" r:id="R03c5734606c84a0b"/>
    <p:sldId xmlns:r="http://schemas.openxmlformats.org/officeDocument/2006/relationships" id="259" r:id="Rf1de7b290dca42bb"/>
    <p:sldId xmlns:r="http://schemas.openxmlformats.org/officeDocument/2006/relationships" id="260" r:id="R68b51e4444614ccb"/>
    <p:sldId xmlns:r="http://schemas.openxmlformats.org/officeDocument/2006/relationships" id="261" r:id="R1a0b62f940c443ee"/>
    <p:sldId xmlns:r="http://schemas.openxmlformats.org/officeDocument/2006/relationships" id="262" r:id="R20e1dae86ff94a3d"/>
    <p:sldId xmlns:r="http://schemas.openxmlformats.org/officeDocument/2006/relationships" id="263" r:id="R895fb51892584015"/>
    <p:sldId xmlns:r="http://schemas.openxmlformats.org/officeDocument/2006/relationships" id="264" r:id="R9802902a99a548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eb7ef9e53b422e" /><Relationship Type="http://schemas.openxmlformats.org/officeDocument/2006/relationships/slideMaster" Target="/ppt/slideMasters/slideMaster1.xml" Id="Recb09fb268c247d5" /><Relationship Type="http://schemas.openxmlformats.org/officeDocument/2006/relationships/notesMaster" Target="/ppt/notesMasters/notesMaster1.xml" Id="R67ce4eb41f4048c7" /><Relationship Type="http://schemas.openxmlformats.org/officeDocument/2006/relationships/presProps" Target="/ppt/presProps.xml" Id="R139a41d464f04bfb" /><Relationship Type="http://schemas.openxmlformats.org/officeDocument/2006/relationships/tableStyles" Target="/ppt/tableStyles.xml" Id="R5abf5c1b740b4aad" /><Relationship Type="http://schemas.openxmlformats.org/officeDocument/2006/relationships/slide" Target="/ppt/slides/slide1.xml" Id="Reca7056dc5d247e7" /><Relationship Type="http://schemas.openxmlformats.org/officeDocument/2006/relationships/slide" Target="/ppt/slides/slide2.xml" Id="Rb945e5a654384f6c" /><Relationship Type="http://schemas.openxmlformats.org/officeDocument/2006/relationships/slide" Target="/ppt/slides/slide3.xml" Id="R03c5734606c84a0b" /><Relationship Type="http://schemas.openxmlformats.org/officeDocument/2006/relationships/slide" Target="/ppt/slides/slide4.xml" Id="Rf1de7b290dca42bb" /><Relationship Type="http://schemas.openxmlformats.org/officeDocument/2006/relationships/slide" Target="/ppt/slides/slide5.xml" Id="R68b51e4444614ccb" /><Relationship Type="http://schemas.openxmlformats.org/officeDocument/2006/relationships/slide" Target="/ppt/slides/slide6.xml" Id="R1a0b62f940c443ee" /><Relationship Type="http://schemas.openxmlformats.org/officeDocument/2006/relationships/slide" Target="/ppt/slides/slide7.xml" Id="R20e1dae86ff94a3d" /><Relationship Type="http://schemas.openxmlformats.org/officeDocument/2006/relationships/slide" Target="/ppt/slides/slide8.xml" Id="R895fb51892584015" /><Relationship Type="http://schemas.openxmlformats.org/officeDocument/2006/relationships/slide" Target="/ppt/slides/slide9.xml" Id="R9802902a99a548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aa81c0fad544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0e6897f45145ed" /><Relationship Type="http://schemas.openxmlformats.org/officeDocument/2006/relationships/notesMaster" Target="/ppt/notesMasters/notesMaster1.xml" Id="R86808ecdc98f42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0d378a21334d02" /><Relationship Type="http://schemas.openxmlformats.org/officeDocument/2006/relationships/notesMaster" Target="/ppt/notesMasters/notesMaster1.xml" Id="R214b64fa94f24b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41aba977354cc7" /><Relationship Type="http://schemas.openxmlformats.org/officeDocument/2006/relationships/notesMaster" Target="/ppt/notesMasters/notesMaster1.xml" Id="Rb9f0fab845634d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df522ba3694cfb" /><Relationship Type="http://schemas.openxmlformats.org/officeDocument/2006/relationships/notesMaster" Target="/ppt/notesMasters/notesMaster1.xml" Id="R97500bdd924649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1c98e92e02454f" /><Relationship Type="http://schemas.openxmlformats.org/officeDocument/2006/relationships/notesMaster" Target="/ppt/notesMasters/notesMaster1.xml" Id="R74343bc07db941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3edb31e7df4e10" /><Relationship Type="http://schemas.openxmlformats.org/officeDocument/2006/relationships/notesMaster" Target="/ppt/notesMasters/notesMaster1.xml" Id="Rd5ab0ce0b35b40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fd9a7927414f45" /><Relationship Type="http://schemas.openxmlformats.org/officeDocument/2006/relationships/notesMaster" Target="/ppt/notesMasters/notesMaster1.xml" Id="R129d1dbd9aeb4f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90daf200aa4dcf" /><Relationship Type="http://schemas.openxmlformats.org/officeDocument/2006/relationships/notesMaster" Target="/ppt/notesMasters/notesMaster1.xml" Id="Rcfef6a44006843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b8dcf2e59943c5" /><Relationship Type="http://schemas.openxmlformats.org/officeDocument/2006/relationships/notesMaster" Target="/ppt/notesMasters/notesMaster1.xml" Id="R2342c31d44e64e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notebooks/09_evaluation_and_experiments.ipynb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notebooks/09_evaluation_and_experiments.ipynb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labeled question table and distinguish source IDs from chunk IDs. This choice defines what the metrics mean. If two chunks come from one policy, counting both as independent relevant documents would overstate source coverage. Section 3 keeps the highest-ranked positive-score chunk from each source. The benchmark is small and fictional: useful for teaching reproducible evaluation, but insufficient to establish production quality. Unsupported questions have empty relevance labels and need abstention analysis rather than an undefined ordinary recall score. Notebook reference: notebooks/09_evaluation_and_experiments.ipynb, Sections 1 and 3.</a:t>
            </a:r>
          </a:p>
          <a:p xmlns:a="http://schemas.openxmlformats.org/drawingml/2006/main">
            <a:r>
              <a:t/>
            </a:r>
          </a:p>
          <a:p xmlns:a="http://schemas.openxmlformats.org/drawingml/2006/main">
            <a:r>
              <a:t>NOTEBOOK: notebooks/09_evaluation_and_experiments.ipynb</a:t>
            </a:r>
          </a:p>
          <a:p xmlns:a="http://schemas.openxmlformats.org/drawingml/2006/main">
            <a:r>
              <a:t/>
            </a:r>
          </a:p>
          <a:p xmlns:a="http://schemas.openxmlformats.org/drawingml/2006/main">
            <a:r>
              <a:t>SOURCES</a:t>
            </a:r>
          </a:p>
          <a:p xmlns:a="http://schemas.openxmlformats.org/drawingml/2006/main">
            <a:r>
              <a:t>notebooks/09_evaluation_and_experiments.ipynb - Sections 1 and 3</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learners calculate the values before executing hand_check. Precision asks how much of the result budget is relevant; recall asks how much needed evidence was found; reciprocal rank emphasizes how soon a relevant source appears. Here precision divides by k even when fewer results are returned. State that convention explicitly because implementations can differ. These metrics inspect retrieval, not whether a generated answer is faithful, complete, or useful. Perfect source recall can still return a particular chunk that omits an important qualification. Notebook reference: notebooks/09_evaluation_and_experiments.ipynb, Section 2.</a:t>
            </a:r>
          </a:p>
          <a:p xmlns:a="http://schemas.openxmlformats.org/drawingml/2006/main">
            <a:r>
              <a:t/>
            </a:r>
          </a:p>
          <a:p xmlns:a="http://schemas.openxmlformats.org/drawingml/2006/main">
            <a:r>
              <a:t>NOTEBOOK: notebooks/09_evaluation_and_experiments.ipynb</a:t>
            </a:r>
          </a:p>
          <a:p xmlns:a="http://schemas.openxmlformats.org/drawingml/2006/main">
            <a:r>
              <a:t/>
            </a:r>
          </a:p>
          <a:p xmlns:a="http://schemas.openxmlformats.org/drawingml/2006/main">
            <a:r>
              <a:t>SOURCES</a:t>
            </a:r>
          </a:p>
          <a:p xmlns:a="http://schemas.openxmlformats.org/drawingml/2006/main">
            <a:r>
              <a:t>notebooks/09_evaluation_and_experiments.ipynb - Section 2</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nine-configuration grid and explain why TF-IDF keeps this experiment local and transparent. Chunk units are whitespace-delimited words, not model tokens. The explicit tie-breaker makes selection repeatable, but a tiny dataset can produce ties and ceiling effects. Once the configuration is frozen, evaluate the held-out questions. If those failures inspire a new design, the old test set has influenced development; collect a fresh final test set for an unbiased comparison. Avoid repeatedly adjusting parameters until this one test table looks perfect. Notebook reference: notebooks/09_evaluation_and_experiments.ipynb, Sections 4-5.</a:t>
            </a:r>
          </a:p>
          <a:p xmlns:a="http://schemas.openxmlformats.org/drawingml/2006/main">
            <a:r>
              <a:t/>
            </a:r>
          </a:p>
          <a:p xmlns:a="http://schemas.openxmlformats.org/drawingml/2006/main">
            <a:r>
              <a:t>NOTEBOOK: notebooks/09_evaluation_and_experiments.ipynb</a:t>
            </a:r>
          </a:p>
          <a:p xmlns:a="http://schemas.openxmlformats.org/drawingml/2006/main">
            <a:r>
              <a:t/>
            </a:r>
          </a:p>
          <a:p xmlns:a="http://schemas.openxmlformats.org/drawingml/2006/main">
            <a:r>
              <a:t>SOURCES</a:t>
            </a:r>
          </a:p>
          <a:p xmlns:a="http://schemas.openxmlformats.org/drawingml/2006/main">
            <a:r>
              <a:t>notebooks/09_evaluation_and_experiments.ipynb - Sections 4-5</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correct source with a short selected chunk to explain the gap between source recall and answer support. The optional generation experiment uses the same deduplicated source budget as retrieval, so it does not silently gain larger context. An answer can be supported yet incomplete, or complete-sounding yet unsupported. Latency on this tiny corpus excludes index construction and is noisy; it cannot establish production performance. A useful report keeps these dimensions visible instead of reducing everything to one attractive leaderboard number. Notebook reference: notebooks/09_evaluation_and_experiments.ipynb, Sections 3, 7, and Exercise.</a:t>
            </a:r>
          </a:p>
          <a:p xmlns:a="http://schemas.openxmlformats.org/drawingml/2006/main">
            <a:r>
              <a:t/>
            </a:r>
          </a:p>
          <a:p xmlns:a="http://schemas.openxmlformats.org/drawingml/2006/main">
            <a:r>
              <a:t>NOTEBOOK: notebooks/09_evaluation_and_experiments.ipynb</a:t>
            </a:r>
          </a:p>
          <a:p xmlns:a="http://schemas.openxmlformats.org/drawingml/2006/main">
            <a:r>
              <a:t/>
            </a:r>
          </a:p>
          <a:p xmlns:a="http://schemas.openxmlformats.org/drawingml/2006/main">
            <a:r>
              <a:t>SOURCES</a:t>
            </a:r>
          </a:p>
          <a:p xmlns:a="http://schemas.openxmlformats.org/drawingml/2006/main">
            <a:r>
              <a:t>notebooks/09_evaluation_and_experiments.ipynb - Sections 3, 7, and Exercise</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Section 6 and ask whether the passage actually contains an answer, not merely similar words. A query about an unsupported benefit may still match a general benefits policy. Raising a threshold can reduce some false answers while rejecting valid questions, so both directions matter. The notebook presents score inspection as error analysis, not a trustworthy confidence system. Keep unanswerable questions outside ordinary recall averages and report their behavior explicitly. Reimbursement for a trip to Mars remains unsupported unless relevant policy evidence is added. Notebook reference: notebooks/09_evaluation_and_experiments.ipynb, Section 6 and Exercise.</a:t>
            </a:r>
          </a:p>
          <a:p xmlns:a="http://schemas.openxmlformats.org/drawingml/2006/main">
            <a:r>
              <a:t/>
            </a:r>
          </a:p>
          <a:p xmlns:a="http://schemas.openxmlformats.org/drawingml/2006/main">
            <a:r>
              <a:t>NOTEBOOK: notebooks/09_evaluation_and_experiments.ipynb</a:t>
            </a:r>
          </a:p>
          <a:p xmlns:a="http://schemas.openxmlformats.org/drawingml/2006/main">
            <a:r>
              <a:t/>
            </a:r>
          </a:p>
          <a:p xmlns:a="http://schemas.openxmlformats.org/drawingml/2006/main">
            <a:r>
              <a:t>SOURCES</a:t>
            </a:r>
          </a:p>
          <a:p xmlns:a="http://schemas.openxmlformats.org/drawingml/2006/main">
            <a:r>
              <a:t>notebooks/09_evaluation_and_experiments.ipynb - Section 6 and Exercise</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judge toggle off for the main demonstration so retrieval evaluation runs without API charges. The notebook saves a development leaderboard, held-out results, and evaluation_run.json in artifacts. Show how the corpus digest links results to source content without exporting credentials or full generated answers. A production record should also capture package, prompt, and dataset versions and relevant seeds. Invite the audience to reproduce a hand-calculated metric first; this makes averages easier to trust and highlights the scoring convention used throughout the experiment. Notebook reference: notebooks/09_evaluation_and_experiments.ipynb, Sections 2, 4, 5, and 8.</a:t>
            </a:r>
          </a:p>
          <a:p xmlns:a="http://schemas.openxmlformats.org/drawingml/2006/main">
            <a:r>
              <a:t/>
            </a:r>
          </a:p>
          <a:p xmlns:a="http://schemas.openxmlformats.org/drawingml/2006/main">
            <a:r>
              <a:t>NOTEBOOK: notebooks/09_evaluation_and_experiments.ipynb</a:t>
            </a:r>
          </a:p>
          <a:p xmlns:a="http://schemas.openxmlformats.org/drawingml/2006/main">
            <a:r>
              <a:t/>
            </a:r>
          </a:p>
          <a:p xmlns:a="http://schemas.openxmlformats.org/drawingml/2006/main">
            <a:r>
              <a:t>SOURCES</a:t>
            </a:r>
          </a:p>
          <a:p xmlns:a="http://schemas.openxmlformats.org/drawingml/2006/main">
            <a:r>
              <a:t>notebooks/09_evaluation_and_experiments.ipynb - Sections 2, 4, 5, and 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rubric and parse_judge before enabling calls. An ordinal score represents a category, not a calibrated probability. The judge receives the question, reference, evidence, and answer, yet may still miss unsupported claims. The parser checks format and score range; it cannot establish judgment correctness. Skipped generation remains unmeasured, and malformed or truncated output remains invalid. For comparisons, use human review, representative examples, and blinded answer order rather than trusting a tiny automated leaderboard alone. The toggle is an explicit opt-in with a bounded request budget. Notebook reference: notebooks/09_evaluation_and_experiments.ipynb, Section 7.</a:t>
            </a:r>
          </a:p>
          <a:p xmlns:a="http://schemas.openxmlformats.org/drawingml/2006/main">
            <a:r>
              <a:t/>
            </a:r>
          </a:p>
          <a:p xmlns:a="http://schemas.openxmlformats.org/drawingml/2006/main">
            <a:r>
              <a:t>NOTEBOOK: notebooks/09_evaluation_and_experiments.ipynb</a:t>
            </a:r>
          </a:p>
          <a:p xmlns:a="http://schemas.openxmlformats.org/drawingml/2006/main">
            <a:r>
              <a:t/>
            </a:r>
          </a:p>
          <a:p xmlns:a="http://schemas.openxmlformats.org/drawingml/2006/main">
            <a:r>
              <a:t>SOURCES</a:t>
            </a:r>
          </a:p>
          <a:p xmlns:a="http://schemas.openxmlformats.org/drawingml/2006/main">
            <a:r>
              <a:t>notebooks/09_evaluation_and_experiments.ipynb - Section 7</a:t>
            </a:r>
          </a:p>
          <a:p xmlns:a="http://schemas.openxmlformats.org/drawingml/2006/main">
            <a:r>
              <a:t>https://platform.claude.com/docs/en/test-and-evaluate/define-success</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learners to justify every relevance label by reading the corpus. A label describes available evidence, not assumptions about what a company ought to provide. The trip-to-Mars example should not inherit a travel-policy label merely because it shares a topic. After rerunning the development grid, inspect a changed row and explain why it moved. Keep the held-out split unchanged during this exercise. Close by distinguishing improved performance on these examples from evidence that the system generalizes to real user questions. Notebook reference: notebooks/09_evaluation_and_experiments.ipynb, Exercise and presenter checkpoint.</a:t>
            </a:r>
          </a:p>
          <a:p xmlns:a="http://schemas.openxmlformats.org/drawingml/2006/main">
            <a:r>
              <a:t/>
            </a:r>
          </a:p>
          <a:p xmlns:a="http://schemas.openxmlformats.org/drawingml/2006/main">
            <a:r>
              <a:t>NOTEBOOK: notebooks/09_evaluation_and_experiments.ipynb</a:t>
            </a:r>
          </a:p>
          <a:p xmlns:a="http://schemas.openxmlformats.org/drawingml/2006/main">
            <a:r>
              <a:t/>
            </a:r>
          </a:p>
          <a:p xmlns:a="http://schemas.openxmlformats.org/drawingml/2006/main">
            <a:r>
              <a:t>SOURCES</a:t>
            </a:r>
          </a:p>
          <a:p xmlns:a="http://schemas.openxmlformats.org/drawingml/2006/main">
            <a:r>
              <a:t>notebooks/09_evaluation_and_experiments.ipynb - Exercise and presenter checkpoint</a:t>
            </a:r>
          </a:p>
          <a:p xmlns:a="http://schemas.openxmlformats.org/drawingml/2006/main">
            <a:r>
              <a:t>https://platform.claude.com/docs/en/test-and-evaluate/develop-tests</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b7cb242eb544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c466253fca44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1e29b941849459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8c034ddfb04e2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940f5281d504a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743a64d2a0648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A309F5-09DE-428E-9874-6331BD54C5F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144AC33-DE26-42BA-9646-49DD34DC48B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F69082-DA6D-4C51-A3B0-F367056E8D0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42C606-D0FC-4F2F-9357-10AA7E3817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BB6838-691E-4E93-9B3E-1482DF2847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7D8E18-D461-4AB1-B839-8F5ED59789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080A0B-3AA3-470F-BB3A-AE2E97EED6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73BE409-56EF-4FE3-80C3-156AB48873F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1801A4-5533-4B96-BD10-3754830924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51D3B9-F779-4426-89B7-4F004A9595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af9f99fc624c4a" /><Relationship Type="http://schemas.openxmlformats.org/officeDocument/2006/relationships/slideLayout" Target="/ppt/slideLayouts/slideLayout1.xml" Id="R2a8b15abb0704a31" /><Relationship Type="http://schemas.openxmlformats.org/officeDocument/2006/relationships/slideLayout" Target="/ppt/slideLayouts/slideLayout2.xml" Id="R6de540a43947423b" /><Relationship Type="http://schemas.openxmlformats.org/officeDocument/2006/relationships/slideLayout" Target="/ppt/slideLayouts/slideLayout3.xml" Id="Rb9ee40c71502418d" /><Relationship Type="http://schemas.openxmlformats.org/officeDocument/2006/relationships/slideLayout" Target="/ppt/slideLayouts/slideLayout4.xml" Id="R9f6e517b013e4731" /><Relationship Type="http://schemas.openxmlformats.org/officeDocument/2006/relationships/slideLayout" Target="/ppt/slideLayouts/slideLayout5.xml" Id="Rd812caa9d1324900" /><Relationship Type="http://schemas.openxmlformats.org/officeDocument/2006/relationships/slideLayout" Target="/ppt/slideLayouts/slideLayout6.xml" Id="R5830a0f6e0be41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8b15abb0704a31"/>
    <p:sldLayoutId xmlns:r="http://schemas.openxmlformats.org/officeDocument/2006/relationships" id="2147483650" r:id="R6de540a43947423b"/>
    <p:sldLayoutId xmlns:r="http://schemas.openxmlformats.org/officeDocument/2006/relationships" id="2147483651" r:id="Rb9ee40c71502418d"/>
    <p:sldLayoutId xmlns:r="http://schemas.openxmlformats.org/officeDocument/2006/relationships" id="2147483652" r:id="R9f6e517b013e4731"/>
    <p:sldLayoutId xmlns:r="http://schemas.openxmlformats.org/officeDocument/2006/relationships" id="2147483653" r:id="Rd812caa9d1324900"/>
    <p:sldLayoutId xmlns:r="http://schemas.openxmlformats.org/officeDocument/2006/relationships" id="2147483654" r:id="R5830a0f6e0be41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4bc11617ba48e7" /><Relationship Type="http://schemas.openxmlformats.org/officeDocument/2006/relationships/image" Target="/ppt/media/image.png" Id="Rd48b5d78e3cf4b70" /><Relationship Type="http://schemas.openxmlformats.org/officeDocument/2006/relationships/notesSlide" Target="/ppt/notesSlides/notesSlide1.xml" Id="R41ec60b4b4fa44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7d5e26f0707400e" /><Relationship Type="http://schemas.openxmlformats.org/officeDocument/2006/relationships/notesSlide" Target="/ppt/notesSlides/notesSlide2.xml" Id="R753fb3e52da141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cb36cfd04e14c9a" /><Relationship Type="http://schemas.openxmlformats.org/officeDocument/2006/relationships/notesSlide" Target="/ppt/notesSlides/notesSlide3.xml" Id="Rdb161ddb261f4f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0cabf88d22c42f6" /><Relationship Type="http://schemas.openxmlformats.org/officeDocument/2006/relationships/notesSlide" Target="/ppt/notesSlides/notesSlide4.xml" Id="R8bb4769261674d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bfbd2de0e2a4f75" /><Relationship Type="http://schemas.openxmlformats.org/officeDocument/2006/relationships/notesSlide" Target="/ppt/notesSlides/notesSlide5.xml" Id="R242e632116eb4d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b00c075c8b84301" /><Relationship Type="http://schemas.openxmlformats.org/officeDocument/2006/relationships/notesSlide" Target="/ppt/notesSlides/notesSlide6.xml" Id="Rb611626c90bf4a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0e9a797c5e148fe" /><Relationship Type="http://schemas.openxmlformats.org/officeDocument/2006/relationships/notesSlide" Target="/ppt/notesSlides/notesSlide7.xml" Id="R6614ae6c296d49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63845017e2c4ee7" /><Relationship Type="http://schemas.openxmlformats.org/officeDocument/2006/relationships/notesSlide" Target="/ppt/notesSlides/notesSlide8.xml" Id="Re7f690c79f024e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f52828a9dc349b2" /><Relationship Type="http://schemas.openxmlformats.org/officeDocument/2006/relationships/notesSlide" Target="/ppt/notesSlides/notesSlide9.xml" Id="R3e80da0c565140b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3A64CA4-3E4B-46B6-8109-87BF35017252}"/>
              </a:ext>
            </a:extLst>
          </p:cNvPr>
          <p:cNvPicPr>
            <a:picLocks xmlns:a="http://schemas.openxmlformats.org/drawingml/2006/main" noChangeAspect="1"/>
          </p:cNvPicPr>
          <p:nvPr/>
        </p:nvPicPr>
        <p:blipFill>
          <a:blip xmlns:r="http://schemas.openxmlformats.org/officeDocument/2006/relationships" xmlns:a="http://schemas.openxmlformats.org/drawingml/2006/main" r:embed="Rd48b5d78e3cf4b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804C621E-E4D4-496B-9187-1076FAB9ED89}"/>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09</a:t>
            </a:r>
          </a:p>
        </p:txBody>
      </p:sp>
      <p:sp>
        <p:nvSpPr>
          <p:cNvPr id="3" name="deck-title">
            <a:extLst xmlns:a="http://schemas.openxmlformats.org/drawingml/2006/main">
              <a:ext uri="{FF2B5EF4-FFF2-40B4-BE49-F238E27FC236}">
                <a16:creationId xmlns:a16="http://schemas.microsoft.com/office/drawing/2014/main" id="{FCF19870-76EE-429A-A7A3-E118D16C5952}"/>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Evaluate RAG systematically</a:t>
            </a:r>
          </a:p>
        </p:txBody>
      </p:sp>
      <p:sp>
        <p:nvSpPr>
          <p:cNvPr id="4" name="text">
            <a:extLst xmlns:a="http://schemas.openxmlformats.org/drawingml/2006/main">
              <a:ext uri="{FF2B5EF4-FFF2-40B4-BE49-F238E27FC236}">
                <a16:creationId xmlns:a16="http://schemas.microsoft.com/office/drawing/2014/main" id="{9CE228E5-FAAA-41BB-AEEB-5CA3A830DBB3}"/>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Measure retrieval, freeze a configuration, and assess answers separately.</a:t>
            </a:r>
          </a:p>
        </p:txBody>
      </p:sp>
      <p:sp>
        <p:nvSpPr>
          <p:cNvPr id="5" name="text">
            <a:extLst xmlns:a="http://schemas.openxmlformats.org/drawingml/2006/main">
              <a:ext uri="{FF2B5EF4-FFF2-40B4-BE49-F238E27FC236}">
                <a16:creationId xmlns:a16="http://schemas.microsoft.com/office/drawing/2014/main" id="{3CE3D3A9-EAEC-4BD7-9CE6-4A8370D35BBD}"/>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09_evaluation_and_experiments.ipynb</a:t>
            </a:r>
          </a:p>
        </p:txBody>
      </p:sp>
    </p:spTree>
    <p:extLst>
      <p:ext uri="{BB962C8B-B14F-4D97-AF65-F5344CB8AC3E}">
        <p14:creationId xmlns:p14="http://schemas.microsoft.com/office/powerpoint/2010/main" val="1779272459"/>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5E468625-87FA-48D5-B870-9D2E3C355F9D}"/>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09</a:t>
            </a:r>
          </a:p>
        </p:txBody>
      </p:sp>
      <p:sp>
        <p:nvSpPr>
          <p:cNvPr id="2" name="slide-title">
            <a:extLst xmlns:a="http://schemas.openxmlformats.org/drawingml/2006/main">
              <a:ext uri="{FF2B5EF4-FFF2-40B4-BE49-F238E27FC236}">
                <a16:creationId xmlns:a16="http://schemas.microsoft.com/office/drawing/2014/main" id="{BBD1424D-8BFC-47AF-8D13-BB63F2F2843A}"/>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Define the evaluation unit before scoring</a:t>
            </a:r>
          </a:p>
        </p:txBody>
      </p:sp>
      <p:sp>
        <p:nvSpPr>
          <p:cNvPr id="3" name="lead">
            <a:extLst xmlns:a="http://schemas.openxmlformats.org/drawingml/2006/main">
              <a:ext uri="{FF2B5EF4-FFF2-40B4-BE49-F238E27FC236}">
                <a16:creationId xmlns:a16="http://schemas.microsoft.com/office/drawing/2014/main" id="{8ED0A12D-F357-4021-B232-6378B741F46D}"/>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This benchmark labels source documents; duplicate chunks must not inflate coverage.</a:t>
            </a:r>
          </a:p>
        </p:txBody>
      </p:sp>
      <p:sp>
        <p:nvSpPr>
          <p:cNvPr id="4" name="text">
            <a:extLst xmlns:a="http://schemas.openxmlformats.org/drawingml/2006/main">
              <a:ext uri="{FF2B5EF4-FFF2-40B4-BE49-F238E27FC236}">
                <a16:creationId xmlns:a16="http://schemas.microsoft.com/office/drawing/2014/main" id="{780E1758-55D7-44F4-90B6-9FE9C1A4B5D7}"/>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09  /  Evaluate RAG systematically</a:t>
            </a:r>
          </a:p>
        </p:txBody>
      </p:sp>
      <p:sp>
        <p:nvSpPr>
          <p:cNvPr id="5" name="page-number">
            <a:extLst xmlns:a="http://schemas.openxmlformats.org/drawingml/2006/main">
              <a:ext uri="{FF2B5EF4-FFF2-40B4-BE49-F238E27FC236}">
                <a16:creationId xmlns:a16="http://schemas.microsoft.com/office/drawing/2014/main" id="{9EEFF752-1A50-474C-BBB0-A34E82C4DEA7}"/>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sp>
        <p:nvSpPr>
          <p:cNvPr id="6" name="text">
            <a:extLst xmlns:a="http://schemas.openxmlformats.org/drawingml/2006/main">
              <a:ext uri="{FF2B5EF4-FFF2-40B4-BE49-F238E27FC236}">
                <a16:creationId xmlns:a16="http://schemas.microsoft.com/office/drawing/2014/main" id="{B853331C-7266-4636-BD73-10C539E08A75}"/>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Question labels</a:t>
            </a:r>
          </a:p>
        </p:txBody>
      </p:sp>
      <p:sp>
        <p:nvSpPr>
          <p:cNvPr id="7" name="text">
            <a:extLst xmlns:a="http://schemas.openxmlformats.org/drawingml/2006/main">
              <a:ext uri="{FF2B5EF4-FFF2-40B4-BE49-F238E27FC236}">
                <a16:creationId xmlns:a16="http://schemas.microsoft.com/office/drawing/2014/main" id="{1E0AF7F2-674B-4B2E-93C1-2CBD4F798456}"/>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Each case lists relevant_ids, answerable, and a dev or test split.</a:t>
            </a:r>
          </a:p>
        </p:txBody>
      </p:sp>
      <p:sp>
        <p:nvSpPr>
          <p:cNvPr id="8" name="text">
            <a:extLst xmlns:a="http://schemas.openxmlformats.org/drawingml/2006/main">
              <a:ext uri="{FF2B5EF4-FFF2-40B4-BE49-F238E27FC236}">
                <a16:creationId xmlns:a16="http://schemas.microsoft.com/office/drawing/2014/main" id="{0A38DE71-74E3-463D-8577-3203B19C949A}"/>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Source identity</a:t>
            </a:r>
          </a:p>
        </p:txBody>
      </p:sp>
      <p:sp>
        <p:nvSpPr>
          <p:cNvPr id="9" name="text">
            <a:extLst xmlns:a="http://schemas.openxmlformats.org/drawingml/2006/main">
              <a:ext uri="{FF2B5EF4-FFF2-40B4-BE49-F238E27FC236}">
                <a16:creationId xmlns:a16="http://schemas.microsoft.com/office/drawing/2014/main" id="{4F970DAA-FCC5-4188-84B5-B3E75E089BC1}"/>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Two chunks from benefits_leave represent 1 source for these metrics.</a:t>
            </a:r>
          </a:p>
        </p:txBody>
      </p:sp>
      <p:sp>
        <p:nvSpPr>
          <p:cNvPr id="10" name="text">
            <a:extLst xmlns:a="http://schemas.openxmlformats.org/drawingml/2006/main">
              <a:ext uri="{FF2B5EF4-FFF2-40B4-BE49-F238E27FC236}">
                <a16:creationId xmlns:a16="http://schemas.microsoft.com/office/drawing/2014/main" id="{88719132-CADF-4B79-9768-2B2E158586FA}"/>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Source budget</a:t>
            </a:r>
          </a:p>
        </p:txBody>
      </p:sp>
      <p:sp>
        <p:nvSpPr>
          <p:cNvPr id="11" name="text">
            <a:extLst xmlns:a="http://schemas.openxmlformats.org/drawingml/2006/main">
              <a:ext uri="{FF2B5EF4-FFF2-40B4-BE49-F238E27FC236}">
                <a16:creationId xmlns:a16="http://schemas.microsoft.com/office/drawing/2014/main" id="{E4347EA9-CC1D-45AB-A711-94531F2E215F}"/>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k counts distinct sources after deduplication, not raw chunks.</a:t>
            </a:r>
          </a:p>
        </p:txBody>
      </p:sp>
      <p:sp>
        <p:nvSpPr>
          <p:cNvPr id="12" name="text">
            <a:extLst xmlns:a="http://schemas.openxmlformats.org/drawingml/2006/main">
              <a:ext uri="{FF2B5EF4-FFF2-40B4-BE49-F238E27FC236}">
                <a16:creationId xmlns:a16="http://schemas.microsoft.com/office/drawing/2014/main" id="{C3EB7CDB-C179-4C20-948C-45D539F6BAAF}"/>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Unsupported cases</a:t>
            </a:r>
          </a:p>
        </p:txBody>
      </p:sp>
      <p:sp>
        <p:nvSpPr>
          <p:cNvPr id="13" name="text">
            <a:extLst xmlns:a="http://schemas.openxmlformats.org/drawingml/2006/main">
              <a:ext uri="{FF2B5EF4-FFF2-40B4-BE49-F238E27FC236}">
                <a16:creationId xmlns:a16="http://schemas.microsoft.com/office/drawing/2014/main" id="{69DD2FD8-2237-4C4C-9219-EFD87F28AE48}"/>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Questions with no relevant source are analyzed separately from recall.</a:t>
            </a:r>
          </a:p>
        </p:txBody>
      </p:sp>
    </p:spTree>
    <p:extLst>
      <p:ext uri="{BB962C8B-B14F-4D97-AF65-F5344CB8AC3E}">
        <p14:creationId xmlns:p14="http://schemas.microsoft.com/office/powerpoint/2010/main" val="1838729198"/>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8FBEE371-8939-4A8F-AAE3-9A3F7173A2A8}"/>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09</a:t>
            </a:r>
          </a:p>
        </p:txBody>
      </p:sp>
      <p:sp>
        <p:nvSpPr>
          <p:cNvPr id="2" name="slide-title">
            <a:extLst xmlns:a="http://schemas.openxmlformats.org/drawingml/2006/main">
              <a:ext uri="{FF2B5EF4-FFF2-40B4-BE49-F238E27FC236}">
                <a16:creationId xmlns:a16="http://schemas.microsoft.com/office/drawing/2014/main" id="{5A0192D5-E188-49BA-AAB1-8B7B08D478F3}"/>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Calculate three metrics by hand</a:t>
            </a:r>
          </a:p>
        </p:txBody>
      </p:sp>
      <p:sp>
        <p:nvSpPr>
          <p:cNvPr id="3" name="lead">
            <a:extLst xmlns:a="http://schemas.openxmlformats.org/drawingml/2006/main">
              <a:ext uri="{FF2B5EF4-FFF2-40B4-BE49-F238E27FC236}">
                <a16:creationId xmlns:a16="http://schemas.microsoft.com/office/drawing/2014/main" id="{F86541EA-34F9-4C9B-9A32-0A196CD7170A}"/>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Retrieved: [A, B, C]. Relevant: {B, D}. Source budget k = 3.</a:t>
            </a:r>
          </a:p>
        </p:txBody>
      </p:sp>
      <p:sp>
        <p:nvSpPr>
          <p:cNvPr id="4" name="text">
            <a:extLst xmlns:a="http://schemas.openxmlformats.org/drawingml/2006/main">
              <a:ext uri="{FF2B5EF4-FFF2-40B4-BE49-F238E27FC236}">
                <a16:creationId xmlns:a16="http://schemas.microsoft.com/office/drawing/2014/main" id="{C3E4A4C6-CE50-4579-A28D-323FF5FD8921}"/>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09  /  Evaluate RAG systematically</a:t>
            </a:r>
          </a:p>
        </p:txBody>
      </p:sp>
      <p:sp>
        <p:nvSpPr>
          <p:cNvPr id="5" name="page-number">
            <a:extLst xmlns:a="http://schemas.openxmlformats.org/drawingml/2006/main">
              <a:ext uri="{FF2B5EF4-FFF2-40B4-BE49-F238E27FC236}">
                <a16:creationId xmlns:a16="http://schemas.microsoft.com/office/drawing/2014/main" id="{3BD02BA0-D6E0-4DCF-95F9-16273CE755F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sp>
        <p:nvSpPr>
          <p:cNvPr id="6" name="text">
            <a:extLst xmlns:a="http://schemas.openxmlformats.org/drawingml/2006/main">
              <a:ext uri="{FF2B5EF4-FFF2-40B4-BE49-F238E27FC236}">
                <a16:creationId xmlns:a16="http://schemas.microsoft.com/office/drawing/2014/main" id="{4484B3CC-38AC-4502-859D-F9C0C1451E66}"/>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Precision@3 = 1/3</a:t>
            </a:r>
          </a:p>
        </p:txBody>
      </p:sp>
      <p:sp>
        <p:nvSpPr>
          <p:cNvPr id="7" name="text">
            <a:extLst xmlns:a="http://schemas.openxmlformats.org/drawingml/2006/main">
              <a:ext uri="{FF2B5EF4-FFF2-40B4-BE49-F238E27FC236}">
                <a16:creationId xmlns:a16="http://schemas.microsoft.com/office/drawing/2014/main" id="{6A8D003A-6651-44BE-BEAC-ACFE81D0C4E1}"/>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One of the 3 budgeted results is relevant.</a:t>
            </a:r>
          </a:p>
        </p:txBody>
      </p:sp>
      <p:sp>
        <p:nvSpPr>
          <p:cNvPr id="8" name="text">
            <a:extLst xmlns:a="http://schemas.openxmlformats.org/drawingml/2006/main">
              <a:ext uri="{FF2B5EF4-FFF2-40B4-BE49-F238E27FC236}">
                <a16:creationId xmlns:a16="http://schemas.microsoft.com/office/drawing/2014/main" id="{DD1CD2BE-483F-4CEC-8D1A-94993FD3A9BA}"/>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Recall@3 = 1/2</a:t>
            </a:r>
          </a:p>
        </p:txBody>
      </p:sp>
      <p:sp>
        <p:nvSpPr>
          <p:cNvPr id="9" name="text">
            <a:extLst xmlns:a="http://schemas.openxmlformats.org/drawingml/2006/main">
              <a:ext uri="{FF2B5EF4-FFF2-40B4-BE49-F238E27FC236}">
                <a16:creationId xmlns:a16="http://schemas.microsoft.com/office/drawing/2014/main" id="{13D5040D-C021-4FD7-908A-0C7FCE992DCD}"/>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One of the 2 relevant sources was retrieved.</a:t>
            </a:r>
          </a:p>
        </p:txBody>
      </p:sp>
      <p:sp>
        <p:nvSpPr>
          <p:cNvPr id="10" name="text">
            <a:extLst xmlns:a="http://schemas.openxmlformats.org/drawingml/2006/main">
              <a:ext uri="{FF2B5EF4-FFF2-40B4-BE49-F238E27FC236}">
                <a16:creationId xmlns:a16="http://schemas.microsoft.com/office/drawing/2014/main" id="{7E134AF2-7B57-4939-9845-6DEA19082D9A}"/>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Reciprocal rank = 1/2</a:t>
            </a:r>
          </a:p>
        </p:txBody>
      </p:sp>
      <p:sp>
        <p:nvSpPr>
          <p:cNvPr id="11" name="text">
            <a:extLst xmlns:a="http://schemas.openxmlformats.org/drawingml/2006/main">
              <a:ext uri="{FF2B5EF4-FFF2-40B4-BE49-F238E27FC236}">
                <a16:creationId xmlns:a16="http://schemas.microsoft.com/office/drawing/2014/main" id="{1939A840-7F3E-4E83-9FE4-37AF9D31BC4C}"/>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first relevant source is at rank 2.</a:t>
            </a:r>
          </a:p>
        </p:txBody>
      </p:sp>
      <p:sp>
        <p:nvSpPr>
          <p:cNvPr id="12" name="text">
            <a:extLst xmlns:a="http://schemas.openxmlformats.org/drawingml/2006/main">
              <a:ext uri="{FF2B5EF4-FFF2-40B4-BE49-F238E27FC236}">
                <a16:creationId xmlns:a16="http://schemas.microsoft.com/office/drawing/2014/main" id="{51440D8C-5F2B-461E-B048-679078ED7DB8}"/>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MRR</a:t>
            </a:r>
          </a:p>
        </p:txBody>
      </p:sp>
      <p:sp>
        <p:nvSpPr>
          <p:cNvPr id="13" name="text">
            <a:extLst xmlns:a="http://schemas.openxmlformats.org/drawingml/2006/main">
              <a:ext uri="{FF2B5EF4-FFF2-40B4-BE49-F238E27FC236}">
                <a16:creationId xmlns:a16="http://schemas.microsoft.com/office/drawing/2014/main" id="{9D519084-A48D-40FC-9402-4F73FCD67547}"/>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Average reciprocal rank across answerable questions.</a:t>
            </a:r>
          </a:p>
        </p:txBody>
      </p:sp>
    </p:spTree>
    <p:extLst>
      <p:ext uri="{BB962C8B-B14F-4D97-AF65-F5344CB8AC3E}">
        <p14:creationId xmlns:p14="http://schemas.microsoft.com/office/powerpoint/2010/main" val="1870578896"/>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BF08198-BCEE-4048-B72E-1C11D5B2862A}"/>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09</a:t>
            </a:r>
          </a:p>
        </p:txBody>
      </p:sp>
      <p:sp>
        <p:nvSpPr>
          <p:cNvPr id="2" name="slide-title">
            <a:extLst xmlns:a="http://schemas.openxmlformats.org/drawingml/2006/main">
              <a:ext uri="{FF2B5EF4-FFF2-40B4-BE49-F238E27FC236}">
                <a16:creationId xmlns:a16="http://schemas.microsoft.com/office/drawing/2014/main" id="{8E34C9CD-F199-4D4D-8C97-09EC19CC80A8}"/>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Tune on development data, then freeze</a:t>
            </a:r>
          </a:p>
        </p:txBody>
      </p:sp>
      <p:sp>
        <p:nvSpPr>
          <p:cNvPr id="3" name="lead">
            <a:extLst xmlns:a="http://schemas.openxmlformats.org/drawingml/2006/main">
              <a:ext uri="{FF2B5EF4-FFF2-40B4-BE49-F238E27FC236}">
                <a16:creationId xmlns:a16="http://schemas.microsoft.com/office/drawing/2014/main" id="{953FA612-5BE2-4BAB-AE87-680A1E187497}"/>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Choose a configuration before opening held-out results.</a:t>
            </a:r>
          </a:p>
        </p:txBody>
      </p:sp>
      <p:sp>
        <p:nvSpPr>
          <p:cNvPr id="4" name="text">
            <a:extLst xmlns:a="http://schemas.openxmlformats.org/drawingml/2006/main">
              <a:ext uri="{FF2B5EF4-FFF2-40B4-BE49-F238E27FC236}">
                <a16:creationId xmlns:a16="http://schemas.microsoft.com/office/drawing/2014/main" id="{648EF2F5-FC35-41A1-9FBB-88C797886F78}"/>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09  /  Evaluate RAG systematically</a:t>
            </a:r>
          </a:p>
        </p:txBody>
      </p:sp>
      <p:sp>
        <p:nvSpPr>
          <p:cNvPr id="5" name="page-number">
            <a:extLst xmlns:a="http://schemas.openxmlformats.org/drawingml/2006/main">
              <a:ext uri="{FF2B5EF4-FFF2-40B4-BE49-F238E27FC236}">
                <a16:creationId xmlns:a16="http://schemas.microsoft.com/office/drawing/2014/main" id="{CD37CFDD-2BCC-40BE-9C72-26D25E7337C1}"/>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graphicFrame>
        <p:nvGraphicFramePr>
          <p:cNvPr id="6" name="">
            <a:extLst xmlns:a="http://schemas.openxmlformats.org/drawingml/2006/main">
              <a:ext uri="{FF2B5EF4-FFF2-40B4-BE49-F238E27FC236}">
                <a16:creationId xmlns:a16="http://schemas.microsoft.com/office/drawing/2014/main" id="{C33A7F64-9F73-41EE-ACD1-7A92A1F3F4B6}"/>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Controlled grid</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Try chunk sizes 60, 90, 140 words and source budgets 1, 3, 5.</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Selection rule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Prefer recall, then MRR, then a smaller k and chunk size when tied.</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Freeze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Store the chosen chunk_size and k before evaluating the test split.</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Report</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Inspect held-out means and failure rows without retuning on that split.</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662961226"/>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3C7DE7D-7B03-4DAB-BA19-3D28F5FB5990}"/>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09</a:t>
            </a:r>
          </a:p>
        </p:txBody>
      </p:sp>
      <p:sp>
        <p:nvSpPr>
          <p:cNvPr id="2" name="slide-title">
            <a:extLst xmlns:a="http://schemas.openxmlformats.org/drawingml/2006/main">
              <a:ext uri="{FF2B5EF4-FFF2-40B4-BE49-F238E27FC236}">
                <a16:creationId xmlns:a16="http://schemas.microsoft.com/office/drawing/2014/main" id="{42A6AF11-7298-4C95-B3C2-24F29FD7226B}"/>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Retrieval and answer quality differ</a:t>
            </a:r>
          </a:p>
        </p:txBody>
      </p:sp>
      <p:sp>
        <p:nvSpPr>
          <p:cNvPr id="3" name="lead">
            <a:extLst xmlns:a="http://schemas.openxmlformats.org/drawingml/2006/main">
              <a:ext uri="{FF2B5EF4-FFF2-40B4-BE49-F238E27FC236}">
                <a16:creationId xmlns:a16="http://schemas.microsoft.com/office/drawing/2014/main" id="{FF4BDAAD-EBF5-4030-B287-2F35BB5F3AE0}"/>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Measure the evidence search separately from claims produced by the model.</a:t>
            </a:r>
          </a:p>
        </p:txBody>
      </p:sp>
      <p:sp>
        <p:nvSpPr>
          <p:cNvPr id="4" name="text">
            <a:extLst xmlns:a="http://schemas.openxmlformats.org/drawingml/2006/main">
              <a:ext uri="{FF2B5EF4-FFF2-40B4-BE49-F238E27FC236}">
                <a16:creationId xmlns:a16="http://schemas.microsoft.com/office/drawing/2014/main" id="{079B6024-4083-4866-BDB7-8FC55A37614C}"/>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09  /  Evaluate RAG systematically</a:t>
            </a:r>
          </a:p>
        </p:txBody>
      </p:sp>
      <p:sp>
        <p:nvSpPr>
          <p:cNvPr id="5" name="page-number">
            <a:extLst xmlns:a="http://schemas.openxmlformats.org/drawingml/2006/main">
              <a:ext uri="{FF2B5EF4-FFF2-40B4-BE49-F238E27FC236}">
                <a16:creationId xmlns:a16="http://schemas.microsoft.com/office/drawing/2014/main" id="{D761B142-9648-47D2-8247-098AFFADB79F}"/>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graphicFrame>
        <p:nvGraphicFramePr>
          <p:cNvPr id="6" name="">
            <a:extLst xmlns:a="http://schemas.openxmlformats.org/drawingml/2006/main">
              <a:ext uri="{FF2B5EF4-FFF2-40B4-BE49-F238E27FC236}">
                <a16:creationId xmlns:a16="http://schemas.microsoft.com/office/drawing/2014/main" id="{DF0F533F-2977-4969-8E97-1E96A83E7BDA}"/>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Retrieval</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Precision, recall, and MRR use labeled source IDs.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Groundedness</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Are factual answer claims supported by the supplied passages?</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Coverage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Does the answer address every part of the question?</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Operational cost</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Track latency and tokens without treating speed as correctness.</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94211206"/>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A4FED644-DE8F-4AD2-A316-929BEF140AFA}"/>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09</a:t>
            </a:r>
          </a:p>
        </p:txBody>
      </p:sp>
      <p:sp>
        <p:nvSpPr>
          <p:cNvPr id="2" name="slide-title">
            <a:extLst xmlns:a="http://schemas.openxmlformats.org/drawingml/2006/main">
              <a:ext uri="{FF2B5EF4-FFF2-40B4-BE49-F238E27FC236}">
                <a16:creationId xmlns:a16="http://schemas.microsoft.com/office/drawing/2014/main" id="{5A586A81-EC63-4A9D-8081-E4723B06057C}"/>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Evaluate abstention with negative examples</a:t>
            </a:r>
          </a:p>
        </p:txBody>
      </p:sp>
      <p:sp>
        <p:nvSpPr>
          <p:cNvPr id="3" name="lead">
            <a:extLst xmlns:a="http://schemas.openxmlformats.org/drawingml/2006/main">
              <a:ext uri="{FF2B5EF4-FFF2-40B4-BE49-F238E27FC236}">
                <a16:creationId xmlns:a16="http://schemas.microsoft.com/office/drawing/2014/main" id="{ABA6D15A-AF5F-4078-A25D-21FFCCC2FBBB}"/>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plausible lexical match does not make an unsupported question answerable.</a:t>
            </a:r>
          </a:p>
        </p:txBody>
      </p:sp>
      <p:sp>
        <p:nvSpPr>
          <p:cNvPr id="4" name="text">
            <a:extLst xmlns:a="http://schemas.openxmlformats.org/drawingml/2006/main">
              <a:ext uri="{FF2B5EF4-FFF2-40B4-BE49-F238E27FC236}">
                <a16:creationId xmlns:a16="http://schemas.microsoft.com/office/drawing/2014/main" id="{30CF8358-9831-47E7-9D25-5A911FBC9145}"/>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09  /  Evaluate RAG systematically</a:t>
            </a:r>
          </a:p>
        </p:txBody>
      </p:sp>
      <p:sp>
        <p:nvSpPr>
          <p:cNvPr id="5" name="page-number">
            <a:extLst xmlns:a="http://schemas.openxmlformats.org/drawingml/2006/main">
              <a:ext uri="{FF2B5EF4-FFF2-40B4-BE49-F238E27FC236}">
                <a16:creationId xmlns:a16="http://schemas.microsoft.com/office/drawing/2014/main" id="{6BC95DDB-E31C-47B1-8F71-FD3EC2EAAE97}"/>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sp>
        <p:nvSpPr>
          <p:cNvPr id="6" name="text">
            <a:extLst xmlns:a="http://schemas.openxmlformats.org/drawingml/2006/main">
              <a:ext uri="{FF2B5EF4-FFF2-40B4-BE49-F238E27FC236}">
                <a16:creationId xmlns:a16="http://schemas.microsoft.com/office/drawing/2014/main" id="{AC36AC4E-4B94-42B6-8BA6-10D940745182}"/>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Inspect negatives</a:t>
            </a:r>
          </a:p>
        </p:txBody>
      </p:sp>
      <p:sp>
        <p:nvSpPr>
          <p:cNvPr id="7" name="text">
            <a:extLst xmlns:a="http://schemas.openxmlformats.org/drawingml/2006/main">
              <a:ext uri="{FF2B5EF4-FFF2-40B4-BE49-F238E27FC236}">
                <a16:creationId xmlns:a16="http://schemas.microsoft.com/office/drawing/2014/main" id="{8ADFEAAB-397B-4746-A800-7B3D0E36939F}"/>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Show top source and score for questions with no supporting policy.</a:t>
            </a:r>
          </a:p>
        </p:txBody>
      </p:sp>
      <p:sp>
        <p:nvSpPr>
          <p:cNvPr id="8" name="text">
            <a:extLst xmlns:a="http://schemas.openxmlformats.org/drawingml/2006/main">
              <a:ext uri="{FF2B5EF4-FFF2-40B4-BE49-F238E27FC236}">
                <a16:creationId xmlns:a16="http://schemas.microsoft.com/office/drawing/2014/main" id="{19BFA698-46BC-4E42-8EB5-03876E18DAEC}"/>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Score limit</a:t>
            </a:r>
          </a:p>
        </p:txBody>
      </p:sp>
      <p:sp>
        <p:nvSpPr>
          <p:cNvPr id="9" name="text">
            <a:extLst xmlns:a="http://schemas.openxmlformats.org/drawingml/2006/main">
              <a:ext uri="{FF2B5EF4-FFF2-40B4-BE49-F238E27FC236}">
                <a16:creationId xmlns:a16="http://schemas.microsoft.com/office/drawing/2014/main" id="{65429866-7307-448B-88A4-6399728E3A7E}"/>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Nonzero similarity is not a calibrated correctness probability.</a:t>
            </a:r>
          </a:p>
        </p:txBody>
      </p:sp>
      <p:sp>
        <p:nvSpPr>
          <p:cNvPr id="10" name="text">
            <a:extLst xmlns:a="http://schemas.openxmlformats.org/drawingml/2006/main">
              <a:ext uri="{FF2B5EF4-FFF2-40B4-BE49-F238E27FC236}">
                <a16:creationId xmlns:a16="http://schemas.microsoft.com/office/drawing/2014/main" id="{6D2AE820-0973-49C5-8186-5B2EE0C36D9F}"/>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Two errors</a:t>
            </a:r>
          </a:p>
        </p:txBody>
      </p:sp>
      <p:sp>
        <p:nvSpPr>
          <p:cNvPr id="11" name="text">
            <a:extLst xmlns:a="http://schemas.openxmlformats.org/drawingml/2006/main">
              <a:ext uri="{FF2B5EF4-FFF2-40B4-BE49-F238E27FC236}">
                <a16:creationId xmlns:a16="http://schemas.microsoft.com/office/drawing/2014/main" id="{69FC7F67-2785-462F-B2AD-ADE6FDCCB94E}"/>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Measure false answers and unnecessary abstentions.</a:t>
            </a:r>
          </a:p>
        </p:txBody>
      </p:sp>
      <p:sp>
        <p:nvSpPr>
          <p:cNvPr id="12" name="text">
            <a:extLst xmlns:a="http://schemas.openxmlformats.org/drawingml/2006/main">
              <a:ext uri="{FF2B5EF4-FFF2-40B4-BE49-F238E27FC236}">
                <a16:creationId xmlns:a16="http://schemas.microsoft.com/office/drawing/2014/main" id="{77EA6441-AECB-4E32-B333-F198BCC4FA87}"/>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Tune carefully</a:t>
            </a:r>
          </a:p>
        </p:txBody>
      </p:sp>
      <p:sp>
        <p:nvSpPr>
          <p:cNvPr id="13" name="text">
            <a:extLst xmlns:a="http://schemas.openxmlformats.org/drawingml/2006/main">
              <a:ext uri="{FF2B5EF4-FFF2-40B4-BE49-F238E27FC236}">
                <a16:creationId xmlns:a16="http://schemas.microsoft.com/office/drawing/2014/main" id="{2C780660-7AC0-4E5A-8731-22748A3A86E7}"/>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Choose thresholds on development positives and negatives, then evaluate separately.</a:t>
            </a:r>
          </a:p>
        </p:txBody>
      </p:sp>
    </p:spTree>
    <p:extLst>
      <p:ext uri="{BB962C8B-B14F-4D97-AF65-F5344CB8AC3E}">
        <p14:creationId xmlns:p14="http://schemas.microsoft.com/office/powerpoint/2010/main" val="2048873643"/>
      </p:ext>
    </p:extLst>
  </p:cSld>
</p:sld>
</file>

<file path=ppt/slides/slide7.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FA0CE994-C0F6-4235-98CA-A503255BCB1B}"/>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09</a:t>
            </a:r>
          </a:p>
        </p:txBody>
      </p:sp>
      <p:sp>
        <p:nvSpPr>
          <p:cNvPr id="2" name="slide-title">
            <a:extLst xmlns:a="http://schemas.openxmlformats.org/drawingml/2006/main">
              <a:ext uri="{FF2B5EF4-FFF2-40B4-BE49-F238E27FC236}">
                <a16:creationId xmlns:a16="http://schemas.microsoft.com/office/drawing/2014/main" id="{C45355E0-5FE0-491C-A772-9E4BAE14BDFD}"/>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run a reproducible experiment</a:t>
            </a:r>
          </a:p>
        </p:txBody>
      </p:sp>
      <p:sp>
        <p:nvSpPr>
          <p:cNvPr id="3" name="lead">
            <a:extLst xmlns:a="http://schemas.openxmlformats.org/drawingml/2006/main">
              <a:ext uri="{FF2B5EF4-FFF2-40B4-BE49-F238E27FC236}">
                <a16:creationId xmlns:a16="http://schemas.microsoft.com/office/drawing/2014/main" id="{7A75769C-061B-4427-93B9-D8EE870FB834}"/>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The default notebook measures retrieval without paid API requests.</a:t>
            </a:r>
          </a:p>
        </p:txBody>
      </p:sp>
      <p:sp>
        <p:nvSpPr>
          <p:cNvPr id="4" name="text">
            <a:extLst xmlns:a="http://schemas.openxmlformats.org/drawingml/2006/main">
              <a:ext uri="{FF2B5EF4-FFF2-40B4-BE49-F238E27FC236}">
                <a16:creationId xmlns:a16="http://schemas.microsoft.com/office/drawing/2014/main" id="{40D2660C-1538-4DCE-99D8-F27471C59C29}"/>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09  /  Evaluate RAG systematically</a:t>
            </a:r>
          </a:p>
        </p:txBody>
      </p:sp>
      <p:sp>
        <p:nvSpPr>
          <p:cNvPr id="5" name="page-number">
            <a:extLst xmlns:a="http://schemas.openxmlformats.org/drawingml/2006/main">
              <a:ext uri="{FF2B5EF4-FFF2-40B4-BE49-F238E27FC236}">
                <a16:creationId xmlns:a16="http://schemas.microsoft.com/office/drawing/2014/main" id="{C536CA29-E90C-402C-B992-E5F8BD6D113A}"/>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07</a:t>
            </a:r>
          </a:p>
        </p:txBody>
      </p:sp>
      <p:sp>
        <p:nvSpPr>
          <p:cNvPr id="6" name="text">
            <a:extLst xmlns:a="http://schemas.openxmlformats.org/drawingml/2006/main">
              <a:ext uri="{FF2B5EF4-FFF2-40B4-BE49-F238E27FC236}">
                <a16:creationId xmlns:a16="http://schemas.microsoft.com/office/drawing/2014/main" id="{41944A51-A46D-455E-91D0-C84E6F3A2E17}"/>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20BC7C4E-2F21-4E07-927D-05FD801E3AC2}"/>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Hand-check</a:t>
            </a:r>
          </a:p>
        </p:txBody>
      </p:sp>
      <p:sp>
        <p:nvSpPr>
          <p:cNvPr id="8" name="text">
            <a:extLst xmlns:a="http://schemas.openxmlformats.org/drawingml/2006/main">
              <a:ext uri="{FF2B5EF4-FFF2-40B4-BE49-F238E27FC236}">
                <a16:creationId xmlns:a16="http://schemas.microsoft.com/office/drawing/2014/main" id="{C88908EF-082A-4227-9703-300915BE3D6C}"/>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Run the metric example and explain the denominators.</a:t>
            </a:r>
          </a:p>
        </p:txBody>
      </p:sp>
      <p:sp>
        <p:nvSpPr>
          <p:cNvPr id="9" name="text">
            <a:extLst xmlns:a="http://schemas.openxmlformats.org/drawingml/2006/main">
              <a:ext uri="{FF2B5EF4-FFF2-40B4-BE49-F238E27FC236}">
                <a16:creationId xmlns:a16="http://schemas.microsoft.com/office/drawing/2014/main" id="{6C079AE6-DA6B-437A-8C66-F3A6DEC4345E}"/>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016A357A-E677-42C0-A530-C38112D06BB9}"/>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Compare</a:t>
            </a:r>
          </a:p>
        </p:txBody>
      </p:sp>
      <p:sp>
        <p:nvSpPr>
          <p:cNvPr id="11" name="text">
            <a:extLst xmlns:a="http://schemas.openxmlformats.org/drawingml/2006/main">
              <a:ext uri="{FF2B5EF4-FFF2-40B4-BE49-F238E27FC236}">
                <a16:creationId xmlns:a16="http://schemas.microsoft.com/office/drawing/2014/main" id="{E1AA5F1D-8DDF-4B4F-B921-0CA39D293C2D}"/>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Build the dev leaderboard and show the recall-versus-budget plot.</a:t>
            </a:r>
          </a:p>
        </p:txBody>
      </p:sp>
      <p:sp>
        <p:nvSpPr>
          <p:cNvPr id="12" name="text">
            <a:extLst xmlns:a="http://schemas.openxmlformats.org/drawingml/2006/main">
              <a:ext uri="{FF2B5EF4-FFF2-40B4-BE49-F238E27FC236}">
                <a16:creationId xmlns:a16="http://schemas.microsoft.com/office/drawing/2014/main" id="{BD8DA817-D476-46F0-8C39-E094663D2A86}"/>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E4E067DB-2B49-4723-9768-A773C3FCC3A1}"/>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Freeze and inspect</a:t>
            </a:r>
          </a:p>
        </p:txBody>
      </p:sp>
      <p:sp>
        <p:nvSpPr>
          <p:cNvPr id="14" name="text">
            <a:extLst xmlns:a="http://schemas.openxmlformats.org/drawingml/2006/main">
              <a:ext uri="{FF2B5EF4-FFF2-40B4-BE49-F238E27FC236}">
                <a16:creationId xmlns:a16="http://schemas.microsoft.com/office/drawing/2014/main" id="{3DDDB270-2C08-4E1D-AEDC-F493E9BB9E31}"/>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Apply the chosen configuration once to test questions; read a failure row.</a:t>
            </a:r>
          </a:p>
        </p:txBody>
      </p:sp>
      <p:sp>
        <p:nvSpPr>
          <p:cNvPr id="15" name="text">
            <a:extLst xmlns:a="http://schemas.openxmlformats.org/drawingml/2006/main">
              <a:ext uri="{FF2B5EF4-FFF2-40B4-BE49-F238E27FC236}">
                <a16:creationId xmlns:a16="http://schemas.microsoft.com/office/drawing/2014/main" id="{C9E9EFDE-2D2B-4205-800D-383219B572A3}"/>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13258FC2-78D0-4C15-BF9D-DF0D5BC4883D}"/>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Save</a:t>
            </a:r>
          </a:p>
        </p:txBody>
      </p:sp>
      <p:sp>
        <p:nvSpPr>
          <p:cNvPr id="17" name="text">
            <a:extLst xmlns:a="http://schemas.openxmlformats.org/drawingml/2006/main">
              <a:ext uri="{FF2B5EF4-FFF2-40B4-BE49-F238E27FC236}">
                <a16:creationId xmlns:a16="http://schemas.microsoft.com/office/drawing/2014/main" id="{97E7408E-4171-4C68-983D-8EFE39BD2BB6}"/>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Write configuration, corpus digest, metric rows, and timestamp to artifacts.</a:t>
            </a:r>
          </a:p>
        </p:txBody>
      </p:sp>
    </p:spTree>
    <p:extLst>
      <p:ext uri="{BB962C8B-B14F-4D97-AF65-F5344CB8AC3E}">
        <p14:creationId xmlns:p14="http://schemas.microsoft.com/office/powerpoint/2010/main" val="182605302"/>
      </p:ext>
    </p:extLst>
  </p:cSld>
</p:sld>
</file>

<file path=ppt/slides/slide8.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F117DE94-5489-4669-8C39-9B7D251D5A1D}"/>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09</a:t>
            </a:r>
          </a:p>
        </p:txBody>
      </p:sp>
      <p:sp>
        <p:nvSpPr>
          <p:cNvPr id="2" name="slide-title">
            <a:extLst xmlns:a="http://schemas.openxmlformats.org/drawingml/2006/main">
              <a:ext uri="{FF2B5EF4-FFF2-40B4-BE49-F238E27FC236}">
                <a16:creationId xmlns:a16="http://schemas.microsoft.com/office/drawing/2014/main" id="{92F17ADF-FA13-41AB-BFBD-91AF6BBF3373}"/>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Use model judges as measured assistants</a:t>
            </a:r>
          </a:p>
        </p:txBody>
      </p:sp>
      <p:sp>
        <p:nvSpPr>
          <p:cNvPr id="3" name="lead">
            <a:extLst xmlns:a="http://schemas.openxmlformats.org/drawingml/2006/main">
              <a:ext uri="{FF2B5EF4-FFF2-40B4-BE49-F238E27FC236}">
                <a16:creationId xmlns:a16="http://schemas.microsoft.com/office/drawing/2014/main" id="{0B66DB29-E3DB-4679-89C4-6C64E7B5C055}"/>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Malformed or skipped judgments are not passing scores.</a:t>
            </a:r>
          </a:p>
        </p:txBody>
      </p:sp>
      <p:sp>
        <p:nvSpPr>
          <p:cNvPr id="4" name="text">
            <a:extLst xmlns:a="http://schemas.openxmlformats.org/drawingml/2006/main">
              <a:ext uri="{FF2B5EF4-FFF2-40B4-BE49-F238E27FC236}">
                <a16:creationId xmlns:a16="http://schemas.microsoft.com/office/drawing/2014/main" id="{BF0B5FD7-6C6E-43D5-AC73-71A876C902AA}"/>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09  /  Evaluate RAG systematically</a:t>
            </a:r>
          </a:p>
        </p:txBody>
      </p:sp>
      <p:sp>
        <p:nvSpPr>
          <p:cNvPr id="5" name="page-number">
            <a:extLst xmlns:a="http://schemas.openxmlformats.org/drawingml/2006/main">
              <a:ext uri="{FF2B5EF4-FFF2-40B4-BE49-F238E27FC236}">
                <a16:creationId xmlns:a16="http://schemas.microsoft.com/office/drawing/2014/main" id="{E29E039D-75D7-4D3B-8A18-A46EF756A2C7}"/>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08</a:t>
            </a:r>
          </a:p>
        </p:txBody>
      </p:sp>
      <p:sp>
        <p:nvSpPr>
          <p:cNvPr id="6" name="text">
            <a:extLst xmlns:a="http://schemas.openxmlformats.org/drawingml/2006/main">
              <a:ext uri="{FF2B5EF4-FFF2-40B4-BE49-F238E27FC236}">
                <a16:creationId xmlns:a16="http://schemas.microsoft.com/office/drawing/2014/main" id="{802DD43D-51A9-4560-B555-F2B7A26AAD11}"/>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Explicit budget</a:t>
            </a:r>
          </a:p>
        </p:txBody>
      </p:sp>
      <p:sp>
        <p:nvSpPr>
          <p:cNvPr id="7" name="text">
            <a:extLst xmlns:a="http://schemas.openxmlformats.org/drawingml/2006/main">
              <a:ext uri="{FF2B5EF4-FFF2-40B4-BE49-F238E27FC236}">
                <a16:creationId xmlns:a16="http://schemas.microsoft.com/office/drawing/2014/main" id="{77F2B33A-C6B2-4D73-AF74-E75250D63DB1}"/>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RUN_CLAUDE_JUDGE: 2 examples, each with 1 answer and 1 judge request; at most 4 calls.</a:t>
            </a:r>
          </a:p>
        </p:txBody>
      </p:sp>
      <p:sp>
        <p:nvSpPr>
          <p:cNvPr id="8" name="text">
            <a:extLst xmlns:a="http://schemas.openxmlformats.org/drawingml/2006/main">
              <a:ext uri="{FF2B5EF4-FFF2-40B4-BE49-F238E27FC236}">
                <a16:creationId xmlns:a16="http://schemas.microsoft.com/office/drawing/2014/main" id="{E504F633-A5C9-429B-BA7D-0F64110719FF}"/>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Rubric</a:t>
            </a:r>
          </a:p>
        </p:txBody>
      </p:sp>
      <p:sp>
        <p:nvSpPr>
          <p:cNvPr id="9" name="text">
            <a:extLst xmlns:a="http://schemas.openxmlformats.org/drawingml/2006/main">
              <a:ext uri="{FF2B5EF4-FFF2-40B4-BE49-F238E27FC236}">
                <a16:creationId xmlns:a16="http://schemas.microsoft.com/office/drawing/2014/main" id="{5F0D2A29-B8B8-4C4E-8644-4D5736B9D184}"/>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Groundedness and coverage each use integer scores 0, 1, or 2.</a:t>
            </a:r>
          </a:p>
        </p:txBody>
      </p:sp>
      <p:sp>
        <p:nvSpPr>
          <p:cNvPr id="10" name="text">
            <a:extLst xmlns:a="http://schemas.openxmlformats.org/drawingml/2006/main">
              <a:ext uri="{FF2B5EF4-FFF2-40B4-BE49-F238E27FC236}">
                <a16:creationId xmlns:a16="http://schemas.microsoft.com/office/drawing/2014/main" id="{69162C78-9EE1-4F71-9A8B-B4C02C5E41B3}"/>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Validate output</a:t>
            </a:r>
          </a:p>
        </p:txBody>
      </p:sp>
      <p:sp>
        <p:nvSpPr>
          <p:cNvPr id="11" name="text">
            <a:extLst xmlns:a="http://schemas.openxmlformats.org/drawingml/2006/main">
              <a:ext uri="{FF2B5EF4-FFF2-40B4-BE49-F238E27FC236}">
                <a16:creationId xmlns:a16="http://schemas.microsoft.com/office/drawing/2014/main" id="{A17528C3-CB4F-493C-9931-28F5CBBA10B7}"/>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Require exact JSON fields and a reason; retain invalid_judgment status.</a:t>
            </a:r>
          </a:p>
        </p:txBody>
      </p:sp>
      <p:sp>
        <p:nvSpPr>
          <p:cNvPr id="12" name="text">
            <a:extLst xmlns:a="http://schemas.openxmlformats.org/drawingml/2006/main">
              <a:ext uri="{FF2B5EF4-FFF2-40B4-BE49-F238E27FC236}">
                <a16:creationId xmlns:a16="http://schemas.microsoft.com/office/drawing/2014/main" id="{570AFE4C-84B9-42AC-87EC-A221A841F080}"/>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Human review</a:t>
            </a:r>
          </a:p>
        </p:txBody>
      </p:sp>
      <p:sp>
        <p:nvSpPr>
          <p:cNvPr id="13" name="text">
            <a:extLst xmlns:a="http://schemas.openxmlformats.org/drawingml/2006/main">
              <a:ext uri="{FF2B5EF4-FFF2-40B4-BE49-F238E27FC236}">
                <a16:creationId xmlns:a16="http://schemas.microsoft.com/office/drawing/2014/main" id="{339B4C00-2CA5-494E-9D8C-F974AA57AD4D}"/>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Shared model blind spots and phrasing preferences can bias ratings.</a:t>
            </a:r>
          </a:p>
        </p:txBody>
      </p:sp>
    </p:spTree>
    <p:extLst>
      <p:ext uri="{BB962C8B-B14F-4D97-AF65-F5344CB8AC3E}">
        <p14:creationId xmlns:p14="http://schemas.microsoft.com/office/powerpoint/2010/main" val="1461312847"/>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35D7276A-3533-44FC-AA83-08D641DB45BC}"/>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09</a:t>
            </a:r>
          </a:p>
        </p:txBody>
      </p:sp>
      <p:sp>
        <p:nvSpPr>
          <p:cNvPr id="2" name="slide-title">
            <a:extLst xmlns:a="http://schemas.openxmlformats.org/drawingml/2006/main">
              <a:ext uri="{FF2B5EF4-FFF2-40B4-BE49-F238E27FC236}">
                <a16:creationId xmlns:a16="http://schemas.microsoft.com/office/drawing/2014/main" id="{2FE79FFF-E8AD-4023-9577-D1CB0D011F73}"/>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Exercise: improve the development set</a:t>
            </a:r>
          </a:p>
        </p:txBody>
      </p:sp>
      <p:sp>
        <p:nvSpPr>
          <p:cNvPr id="3" name="lead">
            <a:extLst xmlns:a="http://schemas.openxmlformats.org/drawingml/2006/main">
              <a:ext uri="{FF2B5EF4-FFF2-40B4-BE49-F238E27FC236}">
                <a16:creationId xmlns:a16="http://schemas.microsoft.com/office/drawing/2014/main" id="{336C2A6C-B928-42E8-958D-34B4B466A237}"/>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Add cases that reflect corpus evidence, then repeat the controlled experiment.</a:t>
            </a:r>
          </a:p>
        </p:txBody>
      </p:sp>
      <p:sp>
        <p:nvSpPr>
          <p:cNvPr id="4" name="text">
            <a:extLst xmlns:a="http://schemas.openxmlformats.org/drawingml/2006/main">
              <a:ext uri="{FF2B5EF4-FFF2-40B4-BE49-F238E27FC236}">
                <a16:creationId xmlns:a16="http://schemas.microsoft.com/office/drawing/2014/main" id="{B1FBD7AF-794B-460A-A8C1-FA49184B869F}"/>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09  /  Evaluate RAG systematically</a:t>
            </a:r>
          </a:p>
        </p:txBody>
      </p:sp>
      <p:sp>
        <p:nvSpPr>
          <p:cNvPr id="5" name="page-number">
            <a:extLst xmlns:a="http://schemas.openxmlformats.org/drawingml/2006/main">
              <a:ext uri="{FF2B5EF4-FFF2-40B4-BE49-F238E27FC236}">
                <a16:creationId xmlns:a16="http://schemas.microsoft.com/office/drawing/2014/main" id="{6EBA5D78-1AA1-4A15-B635-198658B03AB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7008564F-B4E4-4DF4-9C96-70C85A45FC23}"/>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Add cases</a:t>
            </a:r>
          </a:p>
        </p:txBody>
      </p:sp>
      <p:sp>
        <p:nvSpPr>
          <p:cNvPr id="7" name="text">
            <a:extLst xmlns:a="http://schemas.openxmlformats.org/drawingml/2006/main">
              <a:ext uri="{FF2B5EF4-FFF2-40B4-BE49-F238E27FC236}">
                <a16:creationId xmlns:a16="http://schemas.microsoft.com/office/drawing/2014/main" id="{E1045001-623C-4060-8D5D-469AB8FAEB6A}"/>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Write 3 paraphrases and 1 unsupported question in the development split.</a:t>
            </a:r>
          </a:p>
        </p:txBody>
      </p:sp>
      <p:sp>
        <p:nvSpPr>
          <p:cNvPr id="8" name="text">
            <a:extLst xmlns:a="http://schemas.openxmlformats.org/drawingml/2006/main">
              <a:ext uri="{FF2B5EF4-FFF2-40B4-BE49-F238E27FC236}">
                <a16:creationId xmlns:a16="http://schemas.microsoft.com/office/drawing/2014/main" id="{7ECCCF2B-FBD2-4BC4-AFD8-2A17610B4002}"/>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Label evidence</a:t>
            </a:r>
          </a:p>
        </p:txBody>
      </p:sp>
      <p:sp>
        <p:nvSpPr>
          <p:cNvPr id="9" name="text">
            <a:extLst xmlns:a="http://schemas.openxmlformats.org/drawingml/2006/main">
              <a:ext uri="{FF2B5EF4-FFF2-40B4-BE49-F238E27FC236}">
                <a16:creationId xmlns:a16="http://schemas.microsoft.com/office/drawing/2014/main" id="{5058B852-A155-427A-BE39-CE0E45E9F8B4}"/>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When must carried leave be used? should reference benefits_leave.</a:t>
            </a:r>
          </a:p>
        </p:txBody>
      </p:sp>
      <p:sp>
        <p:nvSpPr>
          <p:cNvPr id="10" name="text">
            <a:extLst xmlns:a="http://schemas.openxmlformats.org/drawingml/2006/main">
              <a:ext uri="{FF2B5EF4-FFF2-40B4-BE49-F238E27FC236}">
                <a16:creationId xmlns:a16="http://schemas.microsoft.com/office/drawing/2014/main" id="{35ACAA5D-9BBE-42F6-B68A-80F6B871331B}"/>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Inspect duplicates</a:t>
            </a:r>
          </a:p>
        </p:txBody>
      </p:sp>
      <p:sp>
        <p:nvSpPr>
          <p:cNvPr id="11" name="text">
            <a:extLst xmlns:a="http://schemas.openxmlformats.org/drawingml/2006/main">
              <a:ext uri="{FF2B5EF4-FFF2-40B4-BE49-F238E27FC236}">
                <a16:creationId xmlns:a16="http://schemas.microsoft.com/office/drawing/2014/main" id="{4C432A48-700A-47EC-B104-B0CE07893A23}"/>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Find 2 retrieved chunks from one policy and show why they count as 1 source.</a:t>
            </a:r>
          </a:p>
        </p:txBody>
      </p:sp>
      <p:sp>
        <p:nvSpPr>
          <p:cNvPr id="12" name="text">
            <a:extLst xmlns:a="http://schemas.openxmlformats.org/drawingml/2006/main">
              <a:ext uri="{FF2B5EF4-FFF2-40B4-BE49-F238E27FC236}">
                <a16:creationId xmlns:a16="http://schemas.microsoft.com/office/drawing/2014/main" id="{32F8D8DE-90B5-4854-A5B7-0212F3720E06}"/>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Expected discussion</a:t>
            </a:r>
          </a:p>
        </p:txBody>
      </p:sp>
      <p:sp>
        <p:nvSpPr>
          <p:cNvPr id="13" name="text">
            <a:extLst xmlns:a="http://schemas.openxmlformats.org/drawingml/2006/main">
              <a:ext uri="{FF2B5EF4-FFF2-40B4-BE49-F238E27FC236}">
                <a16:creationId xmlns:a16="http://schemas.microsoft.com/office/drawing/2014/main" id="{04428020-AC74-41A9-8F90-903751B987A2}"/>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Keep test questions untouched; report a failure alongside aggregate metrics.</a:t>
            </a:r>
          </a:p>
        </p:txBody>
      </p:sp>
    </p:spTree>
    <p:extLst>
      <p:ext uri="{BB962C8B-B14F-4D97-AF65-F5344CB8AC3E}">
        <p14:creationId xmlns:p14="http://schemas.microsoft.com/office/powerpoint/2010/main" val="9287664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2026-10-11T09:51:14.8020000Z</dcterms:created>
  <dcterms:modified xsi:type="dcterms:W3CDTF">2026-10-11T09:51:14.8020000Z</dcterms:modified>
</coreProperties>
</file>