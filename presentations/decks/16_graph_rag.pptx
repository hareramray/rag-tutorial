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b5888e8d9743e8" /><Relationship Type="http://schemas.openxmlformats.org/officeDocument/2006/relationships/extended-properties" Target="/docProps/app.xml" Id="Rfe7484d6a1fe41b5" /><Relationship Type="http://schemas.openxmlformats.org/officeDocument/2006/relationships/officeDocument" Target="/ppt/presentation.xml" Id="R9e364b5d2c9b4a87" /></Relationships>
</file>

<file path=ppt/presentation.xml><?xml version="1.0" encoding="utf-8"?>
<p:presentation xmlns:p="http://schemas.openxmlformats.org/presentationml/2006/main">
  <p:sldMasterIdLst>
    <p:sldMasterId xmlns:r="http://schemas.openxmlformats.org/officeDocument/2006/relationships" id="2147483648" r:id="R86208ee216e8434b"/>
  </p:sldMasterIdLst>
  <p:notesMasterIdLst>
    <p:notesMasterId xmlns:r="http://schemas.openxmlformats.org/officeDocument/2006/relationships" r:id="R8719bd3207f34eb9"/>
  </p:notesMasterIdLst>
  <p:sldIdLst>
    <p:sldId xmlns:r="http://schemas.openxmlformats.org/officeDocument/2006/relationships" id="256" r:id="R101b55738c614438"/>
    <p:sldId xmlns:r="http://schemas.openxmlformats.org/officeDocument/2006/relationships" id="257" r:id="R647921674a6240fb"/>
    <p:sldId xmlns:r="http://schemas.openxmlformats.org/officeDocument/2006/relationships" id="258" r:id="Reee54f5c8f8d448f"/>
    <p:sldId xmlns:r="http://schemas.openxmlformats.org/officeDocument/2006/relationships" id="259" r:id="R9232b140105e4895"/>
    <p:sldId xmlns:r="http://schemas.openxmlformats.org/officeDocument/2006/relationships" id="260" r:id="Rf496795ffcfc4c3a"/>
    <p:sldId xmlns:r="http://schemas.openxmlformats.org/officeDocument/2006/relationships" id="261" r:id="Rb0e5ed4c350940ac"/>
    <p:sldId xmlns:r="http://schemas.openxmlformats.org/officeDocument/2006/relationships" id="262" r:id="Rc1702c894c3345e2"/>
    <p:sldId xmlns:r="http://schemas.openxmlformats.org/officeDocument/2006/relationships" id="263" r:id="R536c30dd7a354380"/>
    <p:sldId xmlns:r="http://schemas.openxmlformats.org/officeDocument/2006/relationships" id="264" r:id="R8478727e4eff4c6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6aea53abb44951" /><Relationship Type="http://schemas.openxmlformats.org/officeDocument/2006/relationships/slideMaster" Target="/ppt/slideMasters/slideMaster1.xml" Id="R86208ee216e8434b" /><Relationship Type="http://schemas.openxmlformats.org/officeDocument/2006/relationships/notesMaster" Target="/ppt/notesMasters/notesMaster1.xml" Id="R8719bd3207f34eb9" /><Relationship Type="http://schemas.openxmlformats.org/officeDocument/2006/relationships/presProps" Target="/ppt/presProps.xml" Id="R748da4a013ca4dc4" /><Relationship Type="http://schemas.openxmlformats.org/officeDocument/2006/relationships/tableStyles" Target="/ppt/tableStyles.xml" Id="Ra831a63b9d954e24" /><Relationship Type="http://schemas.openxmlformats.org/officeDocument/2006/relationships/slide" Target="/ppt/slides/slide1.xml" Id="R101b55738c614438" /><Relationship Type="http://schemas.openxmlformats.org/officeDocument/2006/relationships/slide" Target="/ppt/slides/slide2.xml" Id="R647921674a6240fb" /><Relationship Type="http://schemas.openxmlformats.org/officeDocument/2006/relationships/slide" Target="/ppt/slides/slide3.xml" Id="Reee54f5c8f8d448f" /><Relationship Type="http://schemas.openxmlformats.org/officeDocument/2006/relationships/slide" Target="/ppt/slides/slide4.xml" Id="R9232b140105e4895" /><Relationship Type="http://schemas.openxmlformats.org/officeDocument/2006/relationships/slide" Target="/ppt/slides/slide5.xml" Id="Rf496795ffcfc4c3a" /><Relationship Type="http://schemas.openxmlformats.org/officeDocument/2006/relationships/slide" Target="/ppt/slides/slide6.xml" Id="Rb0e5ed4c350940ac" /><Relationship Type="http://schemas.openxmlformats.org/officeDocument/2006/relationships/slide" Target="/ppt/slides/slide7.xml" Id="Rc1702c894c3345e2" /><Relationship Type="http://schemas.openxmlformats.org/officeDocument/2006/relationships/slide" Target="/ppt/slides/slide8.xml" Id="R536c30dd7a354380" /><Relationship Type="http://schemas.openxmlformats.org/officeDocument/2006/relationships/slide" Target="/ppt/slides/slide9.xml" Id="R8478727e4eff4c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e490bccec747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c764cdc0364195" /><Relationship Type="http://schemas.openxmlformats.org/officeDocument/2006/relationships/notesMaster" Target="/ppt/notesMasters/notesMaster1.xml" Id="R18fecbf6a06c46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64230c0f714c84" /><Relationship Type="http://schemas.openxmlformats.org/officeDocument/2006/relationships/notesMaster" Target="/ppt/notesMasters/notesMaster1.xml" Id="R9b9dc7295461455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9a49fc9ac54e79" /><Relationship Type="http://schemas.openxmlformats.org/officeDocument/2006/relationships/notesMaster" Target="/ppt/notesMasters/notesMaster1.xml" Id="Rcd75d8a4bf384f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410407023942a3" /><Relationship Type="http://schemas.openxmlformats.org/officeDocument/2006/relationships/notesMaster" Target="/ppt/notesMasters/notesMaster1.xml" Id="Rd98d05555ee848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dd5b49250341f9" /><Relationship Type="http://schemas.openxmlformats.org/officeDocument/2006/relationships/notesMaster" Target="/ppt/notesMasters/notesMaster1.xml" Id="Rccacafa5e14f45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f6d904625344529" /><Relationship Type="http://schemas.openxmlformats.org/officeDocument/2006/relationships/notesMaster" Target="/ppt/notesMasters/notesMaster1.xml" Id="Race5bf9c372f488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a053dca80c424a" /><Relationship Type="http://schemas.openxmlformats.org/officeDocument/2006/relationships/notesMaster" Target="/ppt/notesMasters/notesMaster1.xml" Id="Re41f419561374eac"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7fe046e68549ed" /><Relationship Type="http://schemas.openxmlformats.org/officeDocument/2006/relationships/notesMaster" Target="/ppt/notesMasters/notesMaster1.xml" Id="Rfa922a73399b4c50" /></Relationships>
</file>

<file path=ppt/notesSlides/_rels/notesSlide9.xml.rels>&#65279;<?xml version="1.0" encoding="utf-8"?><Relationships xmlns="http://schemas.openxmlformats.org/package/2006/relationships"><Relationship Type="http://schemas.openxmlformats.org/officeDocument/2006/relationships/slide" Target="/ppt/slides/slide9.xml" Id="R9df9ca9ef65244d1" /><Relationship Type="http://schemas.openxmlformats.org/officeDocument/2006/relationships/notesMaster" Target="/ppt/notesMasters/notesMaster1.xml" Id="R250d7f181a664c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notebooks/16_graph_rag.ipynb beside this presentation. This deck explains the notebook concepts and supports a live demonstration. Run cells in order from a fresh kernel. Keep retrieved evidence visible before discussing a generated answer. All Northstar Analytics examples are fictional.</a:t>
            </a:r>
          </a:p>
          <a:p xmlns:a="http://schemas.openxmlformats.org/drawingml/2006/main">
            <a:r>
              <a:t/>
            </a:r>
          </a:p>
          <a:p xmlns:a="http://schemas.openxmlformats.org/drawingml/2006/main">
            <a:r>
              <a:t>SOURCE: notebooks/16_graph_rag.ipynb</a:t>
            </a:r>
          </a:p>
          <a:p xmlns:a="http://schemas.openxmlformats.org/drawingml/2006/main">
            <a:r>
              <a:t>COVER: AI-generated abstract background, created for this course; decorative, not an architecture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a triple as a compact way to connect two entities through a named relationship. Then immediately show why the source sentence and qualifiers are necessary: a bare connection can lose timing, conditions, and a denial. The notebook uses manually curated gold triples, which makes graph behavior reproducible without a paid extraction run. An explicit alias table prevents familiar alternate names from becoming unrelated nodes. Before construction, source documents are filtered for this workshop reader. Access controls must precede graph construction because filtering only the final answer cannot undo information already exposed through traversal.</a:t>
            </a:r>
          </a:p>
          <a:p xmlns:a="http://schemas.openxmlformats.org/drawingml/2006/main">
            <a:r>
              <a:t/>
            </a:r>
          </a:p>
          <a:p xmlns:a="http://schemas.openxmlformats.org/drawingml/2006/main">
            <a:r>
              <a:t>NOTEBOOK: notebooks/16_graph_rag.ipynb</a:t>
            </a:r>
          </a:p>
          <a:p xmlns:a="http://schemas.openxmlformats.org/drawingml/2006/main">
            <a:r>
              <a:t/>
            </a:r>
          </a:p>
          <a:p xmlns:a="http://schemas.openxmlformats.org/drawingml/2006/main">
            <a:r>
              <a:t>SOURCES</a:t>
            </a:r>
          </a:p>
          <a:p xmlns:a="http://schemas.openxmlformats.org/drawingml/2006/main">
            <a:r>
              <a:t>notebooks/16_graph_rag.ipynb — sections 1–2</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Sections 2 through 7 show the complete graph retrieval loop. The NetworkX MultiDiGraph preserves direction and allows multiple sourced edges between the same pair of entities. Breadth-first traversal collects an outgoing neighborhood with explicit budgets rather than exploring the whole graph. If a node or edge budget cuts the result short, a truncated flag makes that incompleteness visible. Reaching a node does not create a new direct fact between the start and destination. Each edge remains a separate claim with its own evidence, and the generator must answer from those claims.</a:t>
            </a:r>
          </a:p>
          <a:p xmlns:a="http://schemas.openxmlformats.org/drawingml/2006/main">
            <a:r>
              <a:t/>
            </a:r>
          </a:p>
          <a:p xmlns:a="http://schemas.openxmlformats.org/drawingml/2006/main">
            <a:r>
              <a:t>NOTEBOOK: notebooks/16_graph_rag.ipynb</a:t>
            </a:r>
          </a:p>
          <a:p xmlns:a="http://schemas.openxmlformats.org/drawingml/2006/main">
            <a:r>
              <a:t/>
            </a:r>
          </a:p>
          <a:p xmlns:a="http://schemas.openxmlformats.org/drawingml/2006/main">
            <a:r>
              <a:t>SOURCES</a:t>
            </a:r>
          </a:p>
          <a:p xmlns:a="http://schemas.openxmlformats.org/drawingml/2006/main">
            <a:r>
              <a:t>notebooks/16_graph_rag.ipynb — sections 2–7</a:t>
            </a:r>
          </a:p>
          <a:p xmlns:a="http://schemas.openxmlformats.org/drawingml/2006/main">
            <a:r>
              <a:t>https://networkx.org/documentation/stable/reference/classes/multidigraph.html</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section 5 and display the actual shortest path. The path crosses the onboarding and benefits sources, so learners can see why a relationship structure may help with a question that connects facts. Ask them to distinguish the numerical allowance from its approval and reimbursement conditions. The expected facts are source expectations, not a pre-recorded Claude answer. Section 7 sends the retrieved neighborhood evidence into the same grounded answer helper used elsewhere in the course. Verify that the generated answer cites exact graph evidence IDs and preserves the original conditions rather than compressing them away.</a:t>
            </a:r>
          </a:p>
          <a:p xmlns:a="http://schemas.openxmlformats.org/drawingml/2006/main">
            <a:r>
              <a:t/>
            </a:r>
          </a:p>
          <a:p xmlns:a="http://schemas.openxmlformats.org/drawingml/2006/main">
            <a:r>
              <a:t>NOTEBOOK: notebooks/16_graph_rag.ipynb</a:t>
            </a:r>
          </a:p>
          <a:p xmlns:a="http://schemas.openxmlformats.org/drawingml/2006/main">
            <a:r>
              <a:t/>
            </a:r>
          </a:p>
          <a:p xmlns:a="http://schemas.openxmlformats.org/drawingml/2006/main">
            <a:r>
              <a:t>SOURCES</a:t>
            </a:r>
          </a:p>
          <a:p xmlns:a="http://schemas.openxmlformats.org/drawingml/2006/main">
            <a:r>
              <a:t>notebooks/16_graph_rag.ipynb — sections 5 and 7</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6 compares top-two text retrieval with a two-hop graph neighborhood on one labelled question. Explain source recall as coverage of the expected source documents, not a measure of final answer truth. The tiny example can demonstrate a difference in retrieval behavior but cannot establish that GraphRAG is universally more accurate. Live dense retrieval uses a local sentence model, while offline mode is explicitly labelled as a TF-IDF substitute. Have learners inspect both source lists, including any unrelated graph neighbors, and consider the evidence budget before declaring a winner.</a:t>
            </a:r>
          </a:p>
          <a:p xmlns:a="http://schemas.openxmlformats.org/drawingml/2006/main">
            <a:r>
              <a:t/>
            </a:r>
          </a:p>
          <a:p xmlns:a="http://schemas.openxmlformats.org/drawingml/2006/main">
            <a:r>
              <a:t>NOTEBOOK: notebooks/16_graph_rag.ipynb</a:t>
            </a:r>
          </a:p>
          <a:p xmlns:a="http://schemas.openxmlformats.org/drawingml/2006/main">
            <a:r>
              <a:t/>
            </a:r>
          </a:p>
          <a:p xmlns:a="http://schemas.openxmlformats.org/drawingml/2006/main">
            <a:r>
              <a:t>SOURCES</a:t>
            </a:r>
          </a:p>
          <a:p xmlns:a="http://schemas.openxmlformats.org/drawingml/2006/main">
            <a:r>
              <a:t>notebooks/16_graph_rag.ipynb — section 6</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9 deliberately demonstrates the semantic gap in validation. A fabricated quote fails, but flipping the negative edge’s flag can still pass the current structural and quote checks. Do not insert that misleading edge into the gold graph. Ask learners what additional semantic review would need to verify: the subject, object, relationship meaning, conditions, and polarity. Optional Claude extraction in section 8 produces candidates separately and does not automatically replace curated facts. This is a useful example of why a syntactically valid structured response should not automatically become trusted knowledge.</a:t>
            </a:r>
          </a:p>
          <a:p xmlns:a="http://schemas.openxmlformats.org/drawingml/2006/main">
            <a:r>
              <a:t/>
            </a:r>
          </a:p>
          <a:p xmlns:a="http://schemas.openxmlformats.org/drawingml/2006/main">
            <a:r>
              <a:t>NOTEBOOK: notebooks/16_graph_rag.ipynb</a:t>
            </a:r>
          </a:p>
          <a:p xmlns:a="http://schemas.openxmlformats.org/drawingml/2006/main">
            <a:r>
              <a:t/>
            </a:r>
          </a:p>
          <a:p xmlns:a="http://schemas.openxmlformats.org/drawingml/2006/main">
            <a:r>
              <a:t>SOURCES</a:t>
            </a:r>
          </a:p>
          <a:p xmlns:a="http://schemas.openxmlformats.org/drawingml/2006/main">
            <a:r>
              <a:t>notebooks/16_graph_rag.ipynb — sections 8–9</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10 introduces communities as groups of densely connected entities. The code temporarily ignores direction for clustering, then returns to the original directed edges when producing evidence. That separation prevents the community algorithm from changing the meaning of a relationship. The deterministic report lists exact facts; an optional Claude call can summarize those facts. Explain that proximity in a graph does not authorize inventing a relationship between nearby nodes. This extension does not reproduce Microsoft GraphRAG’s full indexing, hierarchical community reports, or global map-reduce search, and its omitted cross-community facts limit overview coverage.</a:t>
            </a:r>
          </a:p>
          <a:p xmlns:a="http://schemas.openxmlformats.org/drawingml/2006/main">
            <a:r>
              <a:t/>
            </a:r>
          </a:p>
          <a:p xmlns:a="http://schemas.openxmlformats.org/drawingml/2006/main">
            <a:r>
              <a:t>NOTEBOOK: notebooks/16_graph_rag.ipynb</a:t>
            </a:r>
          </a:p>
          <a:p xmlns:a="http://schemas.openxmlformats.org/drawingml/2006/main">
            <a:r>
              <a:t/>
            </a:r>
          </a:p>
          <a:p xmlns:a="http://schemas.openxmlformats.org/drawingml/2006/main">
            <a:r>
              <a:t>SOURCES</a:t>
            </a:r>
          </a:p>
          <a:p xmlns:a="http://schemas.openxmlformats.org/drawingml/2006/main">
            <a:r>
              <a:t>notebooks/16_graph_rag.ipynb — section 10</a:t>
            </a:r>
          </a:p>
          <a:p xmlns:a="http://schemas.openxmlformats.org/drawingml/2006/main">
            <a:r>
              <a:t>https://networkx.org/documentation/stable/reference/algorithms/community.html</a:t>
            </a:r>
          </a:p>
          <a:p xmlns:a="http://schemas.openxmlformats.org/drawingml/2006/main">
            <a:r>
              <a:t>https://microsoft.github.io/graphrag/</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notebook from the top in a fresh kernel. Normal live mode makes one main cached Claude answer request; extraction and community summarization are optional additional calls. Offline mode still runs the real graph construction, traversal, visualization, and source comparisons, while generation is visibly skipped. Pause on the one-hop result and ask which fact requires a second hop. Then inspect the source quote for every edge used in the answer. The most valuable demonstration is the failure example: an automatic check can accept a real quote attached to the wrong polarity.</a:t>
            </a:r>
          </a:p>
          <a:p xmlns:a="http://schemas.openxmlformats.org/drawingml/2006/main">
            <a:r>
              <a:t/>
            </a:r>
          </a:p>
          <a:p xmlns:a="http://schemas.openxmlformats.org/drawingml/2006/main">
            <a:r>
              <a:t>NOTEBOOK: notebooks/16_graph_rag.ipynb</a:t>
            </a:r>
          </a:p>
          <a:p xmlns:a="http://schemas.openxmlformats.org/drawingml/2006/main">
            <a:r>
              <a:t/>
            </a:r>
          </a:p>
          <a:p xmlns:a="http://schemas.openxmlformats.org/drawingml/2006/main">
            <a:r>
              <a:t>SOURCES</a:t>
            </a:r>
          </a:p>
          <a:p xmlns:a="http://schemas.openxmlformats.org/drawingml/2006/main">
            <a:r>
              <a:t>notebooks/16_graph_rag.ipynb — setup and sections 1–10</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11 contains the exercise and a local solution that makes no extra model call. Ask learners to name both relationships rather than report only the terminal number. A one-hop traversal does not reach the ten-schedule node, while the two-hop path does. Emphasize units and the type of limit: active schedules are different from concurrent export jobs. A shared destination also does not make two plans equivalent. The expected discussion should cover alias ambiguity, missing edges, source authorization, traversal budgets, and how a truncated result should be presented honestly.</a:t>
            </a:r>
          </a:p>
          <a:p xmlns:a="http://schemas.openxmlformats.org/drawingml/2006/main">
            <a:r>
              <a:t/>
            </a:r>
          </a:p>
          <a:p xmlns:a="http://schemas.openxmlformats.org/drawingml/2006/main">
            <a:r>
              <a:t>NOTEBOOK: notebooks/16_graph_rag.ipynb</a:t>
            </a:r>
          </a:p>
          <a:p xmlns:a="http://schemas.openxmlformats.org/drawingml/2006/main">
            <a:r>
              <a:t/>
            </a:r>
          </a:p>
          <a:p xmlns:a="http://schemas.openxmlformats.org/drawingml/2006/main">
            <a:r>
              <a:t>SOURCES</a:t>
            </a:r>
          </a:p>
          <a:p xmlns:a="http://schemas.openxmlformats.org/drawingml/2006/main">
            <a:r>
              <a:t>notebooks/16_graph_rag.ipynb — section 11</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daf00718674d5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c7bac36fa5c4c6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f6e4e1e868643b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9d000881c8d469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1d09f0464f8437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6354b70e4a049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4A9D9C-DEEB-4ACB-9795-46F32A47782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848662D-6A46-4F91-9818-EA92D4D27C3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D79181F-7CE8-4C2B-B8D9-19042412F9C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8EA419-51ED-4F3C-ABB8-1E7FD84E6D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2B2B024-C61E-48EF-A91F-3EE4D3D3141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B86240F-7291-4DF3-BD4B-981CB20784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C5D4FB8-3DEC-4B24-9978-331638D4138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37D4DC0-B101-4D6C-90EF-541717931D4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30ABAD0-42AC-43AC-9A98-193D5C89C7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7CCEF3-F554-440F-98AA-A0AE9C4CD36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31eefa16d14fb2" /><Relationship Type="http://schemas.openxmlformats.org/officeDocument/2006/relationships/slideLayout" Target="/ppt/slideLayouts/slideLayout1.xml" Id="Ra8212deafad2442f" /><Relationship Type="http://schemas.openxmlformats.org/officeDocument/2006/relationships/slideLayout" Target="/ppt/slideLayouts/slideLayout2.xml" Id="R48c3aa28f08d48d2" /><Relationship Type="http://schemas.openxmlformats.org/officeDocument/2006/relationships/slideLayout" Target="/ppt/slideLayouts/slideLayout3.xml" Id="R83c67297e64444dd" /><Relationship Type="http://schemas.openxmlformats.org/officeDocument/2006/relationships/slideLayout" Target="/ppt/slideLayouts/slideLayout4.xml" Id="R81f0e1a3424b4ceb" /><Relationship Type="http://schemas.openxmlformats.org/officeDocument/2006/relationships/slideLayout" Target="/ppt/slideLayouts/slideLayout5.xml" Id="R7f7e170c938b4baf" /><Relationship Type="http://schemas.openxmlformats.org/officeDocument/2006/relationships/slideLayout" Target="/ppt/slideLayouts/slideLayout6.xml" Id="Rd0208d21f0b540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212deafad2442f"/>
    <p:sldLayoutId xmlns:r="http://schemas.openxmlformats.org/officeDocument/2006/relationships" id="2147483650" r:id="R48c3aa28f08d48d2"/>
    <p:sldLayoutId xmlns:r="http://schemas.openxmlformats.org/officeDocument/2006/relationships" id="2147483651" r:id="R83c67297e64444dd"/>
    <p:sldLayoutId xmlns:r="http://schemas.openxmlformats.org/officeDocument/2006/relationships" id="2147483652" r:id="R81f0e1a3424b4ceb"/>
    <p:sldLayoutId xmlns:r="http://schemas.openxmlformats.org/officeDocument/2006/relationships" id="2147483653" r:id="R7f7e170c938b4baf"/>
    <p:sldLayoutId xmlns:r="http://schemas.openxmlformats.org/officeDocument/2006/relationships" id="2147483654" r:id="Rd0208d21f0b540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40ce4f67e944f48" /><Relationship Type="http://schemas.openxmlformats.org/officeDocument/2006/relationships/image" Target="/ppt/media/image.png" Id="Rbea9b26ef9584331" /><Relationship Type="http://schemas.openxmlformats.org/officeDocument/2006/relationships/notesSlide" Target="/ppt/notesSlides/notesSlide1.xml" Id="Rd704d5aa627f4d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c0b67825803430c" /><Relationship Type="http://schemas.openxmlformats.org/officeDocument/2006/relationships/notesSlide" Target="/ppt/notesSlides/notesSlide2.xml" Id="R07518d70fb0d48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bca77e342c84804" /><Relationship Type="http://schemas.openxmlformats.org/officeDocument/2006/relationships/notesSlide" Target="/ppt/notesSlides/notesSlide3.xml" Id="R8c9e12799a7948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23e6c0da6d44b45" /><Relationship Type="http://schemas.openxmlformats.org/officeDocument/2006/relationships/notesSlide" Target="/ppt/notesSlides/notesSlide4.xml" Id="R6d338d7190a549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607c83c4e4a4b60" /><Relationship Type="http://schemas.openxmlformats.org/officeDocument/2006/relationships/notesSlide" Target="/ppt/notesSlides/notesSlide5.xml" Id="Rc519c265f4294f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48522d3e77a4352" /><Relationship Type="http://schemas.openxmlformats.org/officeDocument/2006/relationships/notesSlide" Target="/ppt/notesSlides/notesSlide6.xml" Id="Rc557befca8604f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b11266b25994371" /><Relationship Type="http://schemas.openxmlformats.org/officeDocument/2006/relationships/notesSlide" Target="/ppt/notesSlides/notesSlide7.xml" Id="R9c5bfa72fe8740f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7f3f41b75664c6b" /><Relationship Type="http://schemas.openxmlformats.org/officeDocument/2006/relationships/notesSlide" Target="/ppt/notesSlides/notesSlide8.xml" Id="R8eda55deb59b46d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d85eb2469994e31" /><Relationship Type="http://schemas.openxmlformats.org/officeDocument/2006/relationships/notesSlide" Target="/ppt/notesSlides/notesSlide9.xml" Id="R374e0c855c614d3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B0052F4-81AB-4AEE-BEF2-FA9F9BF3E058}"/>
              </a:ext>
            </a:extLst>
          </p:cNvPr>
          <p:cNvPicPr>
            <a:picLocks xmlns:a="http://schemas.openxmlformats.org/drawingml/2006/main" noChangeAspect="1"/>
          </p:cNvPicPr>
          <p:nvPr/>
        </p:nvPicPr>
        <p:blipFill>
          <a:blip xmlns:r="http://schemas.openxmlformats.org/officeDocument/2006/relationships" xmlns:a="http://schemas.openxmlformats.org/drawingml/2006/main" r:embed="Rbea9b26ef958433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
            <a:extLst xmlns:a="http://schemas.openxmlformats.org/drawingml/2006/main">
              <a:ext uri="{FF2B5EF4-FFF2-40B4-BE49-F238E27FC236}">
                <a16:creationId xmlns:a16="http://schemas.microsoft.com/office/drawing/2014/main" id="{54859476-B3B5-4C55-8C53-C407F386FF8B}"/>
              </a:ext>
            </a:extLst>
          </p:cNvPr>
          <p:cNvSpPr>
            <a:spLocks xmlns:a="http://schemas.openxmlformats.org/drawingml/2006/main" noGrp="1"/>
          </p:cNvSpPr>
          <p:nvPr/>
        </p:nvSpPr>
        <p:spPr>
          <a:xfrm xmlns:a="http://schemas.openxmlformats.org/drawingml/2006/main">
            <a:off x="609600" y="609600"/>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70D2CD"/>
                </a:solidFill>
                <a:latin typeface="Calibri"/>
                <a:ea typeface="Calibri"/>
                <a:cs typeface="Calibri"/>
              </a:defRPr>
            </a:defPPr>
          </a:lstStyle>
          <a:p xmlns:a="http://schemas.openxmlformats.org/drawingml/2006/main">
            <a:pPr>
              <a:defRPr sz="1575" b="1">
                <a:solidFill>
                  <a:srgbClr val="70D2CD"/>
                </a:solidFill>
                <a:latin typeface="Calibri"/>
                <a:ea typeface="Calibri"/>
                <a:cs typeface="Calibri"/>
              </a:defRPr>
            </a:pPr>
            <a:r>
              <a:rPr sz="1575" b="1">
                <a:solidFill>
                  <a:srgbClr val="70D2CD"/>
                </a:solidFill>
                <a:latin typeface="Calibri"/>
                <a:ea typeface="Calibri"/>
                <a:cs typeface="Calibri"/>
              </a:rPr>
              <a:t>RAG WORKSHOP  /  NOTEBOOK 16</a:t>
            </a:r>
          </a:p>
        </p:txBody>
      </p:sp>
      <p:sp>
        <p:nvSpPr>
          <p:cNvPr id="3" name="deck-title">
            <a:extLst xmlns:a="http://schemas.openxmlformats.org/drawingml/2006/main">
              <a:ext uri="{FF2B5EF4-FFF2-40B4-BE49-F238E27FC236}">
                <a16:creationId xmlns:a16="http://schemas.microsoft.com/office/drawing/2014/main" id="{9A5A5A49-B2DA-4DD4-BBA6-6627F1C9D213}"/>
              </a:ext>
            </a:extLst>
          </p:cNvPr>
          <p:cNvSpPr>
            <a:spLocks xmlns:a="http://schemas.openxmlformats.org/drawingml/2006/main" noGrp="1"/>
          </p:cNvSpPr>
          <p:nvPr/>
        </p:nvSpPr>
        <p:spPr>
          <a:xfrm xmlns:a="http://schemas.openxmlformats.org/drawingml/2006/main">
            <a:off x="609600" y="2124075"/>
            <a:ext cx="80962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FFFFF"/>
                </a:solidFill>
                <a:latin typeface="Calibri"/>
                <a:ea typeface="Calibri"/>
                <a:cs typeface="Calibri"/>
              </a:defRPr>
            </a:defPPr>
          </a:lstStyle>
          <a:p xmlns:a="http://schemas.openxmlformats.org/drawingml/2006/main">
            <a:pPr>
              <a:defRPr sz="4800" b="1">
                <a:solidFill>
                  <a:srgbClr val="FFFFFF"/>
                </a:solidFill>
                <a:latin typeface="Calibri"/>
                <a:ea typeface="Calibri"/>
                <a:cs typeface="Calibri"/>
              </a:defRPr>
            </a:pPr>
            <a:r>
              <a:rPr sz="4800" b="1">
                <a:solidFill>
                  <a:srgbClr val="FFFFFF"/>
                </a:solidFill>
                <a:latin typeface="Calibri"/>
                <a:ea typeface="Calibri"/>
                <a:cs typeface="Calibri"/>
              </a:rPr>
              <a:t>GraphRAG</a:t>
            </a:r>
          </a:p>
        </p:txBody>
      </p:sp>
      <p:sp>
        <p:nvSpPr>
          <p:cNvPr id="4" name="text">
            <a:extLst xmlns:a="http://schemas.openxmlformats.org/drawingml/2006/main">
              <a:ext uri="{FF2B5EF4-FFF2-40B4-BE49-F238E27FC236}">
                <a16:creationId xmlns:a16="http://schemas.microsoft.com/office/drawing/2014/main" id="{748241FA-7558-4617-9096-6BA1EC03F925}"/>
              </a:ext>
            </a:extLst>
          </p:cNvPr>
          <p:cNvSpPr>
            <a:spLocks xmlns:a="http://schemas.openxmlformats.org/drawingml/2006/main" noGrp="1"/>
          </p:cNvSpPr>
          <p:nvPr/>
        </p:nvSpPr>
        <p:spPr>
          <a:xfrm xmlns:a="http://schemas.openxmlformats.org/drawingml/2006/main">
            <a:off x="609600" y="4171950"/>
            <a:ext cx="733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CADBE3"/>
                </a:solidFill>
                <a:latin typeface="Calibri"/>
                <a:ea typeface="Calibri"/>
                <a:cs typeface="Calibri"/>
              </a:defRPr>
            </a:defPPr>
          </a:lstStyle>
          <a:p xmlns:a="http://schemas.openxmlformats.org/drawingml/2006/main">
            <a:pPr>
              <a:defRPr sz="2250" b="0">
                <a:solidFill>
                  <a:srgbClr val="CADBE3"/>
                </a:solidFill>
                <a:latin typeface="Calibri"/>
                <a:ea typeface="Calibri"/>
                <a:cs typeface="Calibri"/>
              </a:defRPr>
            </a:pPr>
            <a:r>
              <a:rPr sz="2250" b="0">
                <a:solidFill>
                  <a:srgbClr val="CADBE3"/>
                </a:solidFill>
                <a:latin typeface="Calibri"/>
                <a:ea typeface="Calibri"/>
                <a:cs typeface="Calibri"/>
              </a:rPr>
              <a:t>Connect sourced relationships with bounded multi-hop retrieval.</a:t>
            </a:r>
          </a:p>
        </p:txBody>
      </p:sp>
      <p:sp>
        <p:nvSpPr>
          <p:cNvPr id="5" name="text">
            <a:extLst xmlns:a="http://schemas.openxmlformats.org/drawingml/2006/main">
              <a:ext uri="{FF2B5EF4-FFF2-40B4-BE49-F238E27FC236}">
                <a16:creationId xmlns:a16="http://schemas.microsoft.com/office/drawing/2014/main" id="{01AE3D70-A2A1-40D9-8CCA-CB3D04A44D68}"/>
              </a:ext>
            </a:extLst>
          </p:cNvPr>
          <p:cNvSpPr>
            <a:spLocks xmlns:a="http://schemas.openxmlformats.org/drawingml/2006/main" noGrp="1"/>
          </p:cNvSpPr>
          <p:nvPr/>
        </p:nvSpPr>
        <p:spPr>
          <a:xfrm xmlns:a="http://schemas.openxmlformats.org/drawingml/2006/main">
            <a:off x="609600" y="61817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AEC3D0"/>
                </a:solidFill>
                <a:latin typeface="Calibri"/>
                <a:ea typeface="Calibri"/>
                <a:cs typeface="Calibri"/>
              </a:defRPr>
            </a:defPPr>
          </a:lstStyle>
          <a:p xmlns:a="http://schemas.openxmlformats.org/drawingml/2006/main">
            <a:pPr>
              <a:defRPr sz="1575" b="0">
                <a:solidFill>
                  <a:srgbClr val="AEC3D0"/>
                </a:solidFill>
                <a:latin typeface="Calibri"/>
                <a:ea typeface="Calibri"/>
                <a:cs typeface="Calibri"/>
              </a:defRPr>
            </a:pPr>
            <a:r>
              <a:rPr sz="1575" b="0">
                <a:solidFill>
                  <a:srgbClr val="AEC3D0"/>
                </a:solidFill>
                <a:latin typeface="Calibri"/>
                <a:ea typeface="Calibri"/>
                <a:cs typeface="Calibri"/>
              </a:rPr>
              <a:t>16_graph_rag.ipynb</a:t>
            </a:r>
          </a:p>
        </p:txBody>
      </p:sp>
    </p:spTree>
    <p:extLst>
      <p:ext uri="{BB962C8B-B14F-4D97-AF65-F5344CB8AC3E}">
        <p14:creationId xmlns:p14="http://schemas.microsoft.com/office/powerpoint/2010/main" val="424619040"/>
      </p:ext>
    </p:extLst>
  </p:cSld>
</p:sld>
</file>

<file path=ppt/slides/slide2.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062B840C-9903-45DB-90E8-660A075D4388}"/>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16</a:t>
            </a:r>
          </a:p>
        </p:txBody>
      </p:sp>
      <p:sp>
        <p:nvSpPr>
          <p:cNvPr id="2" name="slide-title">
            <a:extLst xmlns:a="http://schemas.openxmlformats.org/drawingml/2006/main">
              <a:ext uri="{FF2B5EF4-FFF2-40B4-BE49-F238E27FC236}">
                <a16:creationId xmlns:a16="http://schemas.microsoft.com/office/drawing/2014/main" id="{D4E73630-0124-4CCB-BD0E-A7DF03191691}"/>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A graph stores relationships as evidence</a:t>
            </a:r>
          </a:p>
        </p:txBody>
      </p:sp>
      <p:sp>
        <p:nvSpPr>
          <p:cNvPr id="3" name="lead">
            <a:extLst xmlns:a="http://schemas.openxmlformats.org/drawingml/2006/main">
              <a:ext uri="{FF2B5EF4-FFF2-40B4-BE49-F238E27FC236}">
                <a16:creationId xmlns:a16="http://schemas.microsoft.com/office/drawing/2014/main" id="{FBC89934-B3C1-498A-BF5A-C37D68F370FD}"/>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 useful knowledge-graph edge needs more than a subject, a predicate, and an object.</a:t>
            </a:r>
          </a:p>
        </p:txBody>
      </p:sp>
      <p:sp>
        <p:nvSpPr>
          <p:cNvPr id="4" name="text">
            <a:extLst xmlns:a="http://schemas.openxmlformats.org/drawingml/2006/main">
              <a:ext uri="{FF2B5EF4-FFF2-40B4-BE49-F238E27FC236}">
                <a16:creationId xmlns:a16="http://schemas.microsoft.com/office/drawing/2014/main" id="{AE4229B2-779C-4F67-B9DB-CE134800A79E}"/>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16  /  GraphRAG</a:t>
            </a:r>
          </a:p>
        </p:txBody>
      </p:sp>
      <p:sp>
        <p:nvSpPr>
          <p:cNvPr id="5" name="page-number">
            <a:extLst xmlns:a="http://schemas.openxmlformats.org/drawingml/2006/main">
              <a:ext uri="{FF2B5EF4-FFF2-40B4-BE49-F238E27FC236}">
                <a16:creationId xmlns:a16="http://schemas.microsoft.com/office/drawing/2014/main" id="{9E38A4D0-2FD3-49A2-93C7-7005B2F8959C}"/>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02</a:t>
            </a:r>
          </a:p>
        </p:txBody>
      </p:sp>
      <p:sp>
        <p:nvSpPr>
          <p:cNvPr id="6" name="text">
            <a:extLst xmlns:a="http://schemas.openxmlformats.org/drawingml/2006/main">
              <a:ext uri="{FF2B5EF4-FFF2-40B4-BE49-F238E27FC236}">
                <a16:creationId xmlns:a16="http://schemas.microsoft.com/office/drawing/2014/main" id="{62CA6F30-DE31-4B3C-8604-91982F5200D0}"/>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Triple</a:t>
            </a:r>
          </a:p>
        </p:txBody>
      </p:sp>
      <p:sp>
        <p:nvSpPr>
          <p:cNvPr id="7" name="text">
            <a:extLst xmlns:a="http://schemas.openxmlformats.org/drawingml/2006/main">
              <a:ext uri="{FF2B5EF4-FFF2-40B4-BE49-F238E27FC236}">
                <a16:creationId xmlns:a16="http://schemas.microsoft.com/office/drawing/2014/main" id="{FF1ADA87-65BA-4CC4-8E9C-19B2D2E2F5DE}"/>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Subject: learning budget · relationship: amount · object: INR 30,000 per year.</a:t>
            </a:r>
          </a:p>
        </p:txBody>
      </p:sp>
      <p:sp>
        <p:nvSpPr>
          <p:cNvPr id="8" name="text">
            <a:extLst xmlns:a="http://schemas.openxmlformats.org/drawingml/2006/main">
              <a:ext uri="{FF2B5EF4-FFF2-40B4-BE49-F238E27FC236}">
                <a16:creationId xmlns:a16="http://schemas.microsoft.com/office/drawing/2014/main" id="{48474BB3-3490-4079-95D2-74C27C9F9902}"/>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Provenance</a:t>
            </a:r>
          </a:p>
        </p:txBody>
      </p:sp>
      <p:sp>
        <p:nvSpPr>
          <p:cNvPr id="9" name="text">
            <a:extLst xmlns:a="http://schemas.openxmlformats.org/drawingml/2006/main">
              <a:ext uri="{FF2B5EF4-FFF2-40B4-BE49-F238E27FC236}">
                <a16:creationId xmlns:a16="http://schemas.microsoft.com/office/drawing/2014/main" id="{929F88E7-ACB6-4036-A97B-C37C922D4B8E}"/>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Keep the source document ID, edge ID, and exact supporting quote.</a:t>
            </a:r>
          </a:p>
        </p:txBody>
      </p:sp>
      <p:sp>
        <p:nvSpPr>
          <p:cNvPr id="10" name="text">
            <a:extLst xmlns:a="http://schemas.openxmlformats.org/drawingml/2006/main">
              <a:ext uri="{FF2B5EF4-FFF2-40B4-BE49-F238E27FC236}">
                <a16:creationId xmlns:a16="http://schemas.microsoft.com/office/drawing/2014/main" id="{D5E361FB-C1D7-46E5-BD1B-840C5F7BB20A}"/>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Qualifiers</a:t>
            </a:r>
          </a:p>
        </p:txBody>
      </p:sp>
      <p:sp>
        <p:nvSpPr>
          <p:cNvPr id="11" name="text">
            <a:extLst xmlns:a="http://schemas.openxmlformats.org/drawingml/2006/main">
              <a:ext uri="{FF2B5EF4-FFF2-40B4-BE49-F238E27FC236}">
                <a16:creationId xmlns:a16="http://schemas.microsoft.com/office/drawing/2014/main" id="{95BBC2B7-9D7A-479A-A89C-6B770C02732D}"/>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Preserve direction, conditions, and negation; an explicitly denied claim must remain negative.</a:t>
            </a:r>
          </a:p>
        </p:txBody>
      </p:sp>
      <p:sp>
        <p:nvSpPr>
          <p:cNvPr id="12" name="text">
            <a:extLst xmlns:a="http://schemas.openxmlformats.org/drawingml/2006/main">
              <a:ext uri="{FF2B5EF4-FFF2-40B4-BE49-F238E27FC236}">
                <a16:creationId xmlns:a16="http://schemas.microsoft.com/office/drawing/2014/main" id="{608795F2-169C-42F4-8DCE-FFA6B234617E}"/>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Entity identity</a:t>
            </a:r>
          </a:p>
        </p:txBody>
      </p:sp>
      <p:sp>
        <p:nvSpPr>
          <p:cNvPr id="13" name="text">
            <a:extLst xmlns:a="http://schemas.openxmlformats.org/drawingml/2006/main">
              <a:ext uri="{FF2B5EF4-FFF2-40B4-BE49-F238E27FC236}">
                <a16:creationId xmlns:a16="http://schemas.microsoft.com/office/drawing/2014/main" id="{754E253B-0EAB-4824-A94F-C6518F7D7D94}"/>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Resolve aliases such as “new hire” to a stable onboarding entity ID.</a:t>
            </a:r>
          </a:p>
        </p:txBody>
      </p:sp>
    </p:spTree>
    <p:extLst>
      <p:ext uri="{BB962C8B-B14F-4D97-AF65-F5344CB8AC3E}">
        <p14:creationId xmlns:p14="http://schemas.microsoft.com/office/powerpoint/2010/main" val="1533066509"/>
      </p:ext>
    </p:extLst>
  </p:cSld>
</p:sld>
</file>

<file path=ppt/slides/slide3.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FCBC4609-3982-4AEA-9432-7D2053606AEE}"/>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WORKFLOW  /  NOTEBOOK 16</a:t>
            </a:r>
          </a:p>
        </p:txBody>
      </p:sp>
      <p:sp>
        <p:nvSpPr>
          <p:cNvPr id="2" name="slide-title">
            <a:extLst xmlns:a="http://schemas.openxmlformats.org/drawingml/2006/main">
              <a:ext uri="{FF2B5EF4-FFF2-40B4-BE49-F238E27FC236}">
                <a16:creationId xmlns:a16="http://schemas.microsoft.com/office/drawing/2014/main" id="{1EC48574-FF6D-4943-94BF-4F666EB4070C}"/>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Build a bounded path from question to answer</a:t>
            </a:r>
          </a:p>
        </p:txBody>
      </p:sp>
      <p:sp>
        <p:nvSpPr>
          <p:cNvPr id="3" name="lead">
            <a:extLst xmlns:a="http://schemas.openxmlformats.org/drawingml/2006/main">
              <a:ext uri="{FF2B5EF4-FFF2-40B4-BE49-F238E27FC236}">
                <a16:creationId xmlns:a16="http://schemas.microsoft.com/office/drawing/2014/main" id="{4490DCDB-F1B1-49C0-A57B-5FD649C65208}"/>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Graph retrieval starts with an entity and follows explicit sourced links.</a:t>
            </a:r>
          </a:p>
        </p:txBody>
      </p:sp>
      <p:sp>
        <p:nvSpPr>
          <p:cNvPr id="4" name="text">
            <a:extLst xmlns:a="http://schemas.openxmlformats.org/drawingml/2006/main">
              <a:ext uri="{FF2B5EF4-FFF2-40B4-BE49-F238E27FC236}">
                <a16:creationId xmlns:a16="http://schemas.microsoft.com/office/drawing/2014/main" id="{0EA435D3-6AF3-4F90-B0A8-FB8D4D0D5AE0}"/>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16  /  GraphRAG</a:t>
            </a:r>
          </a:p>
        </p:txBody>
      </p:sp>
      <p:sp>
        <p:nvSpPr>
          <p:cNvPr id="5" name="page-number">
            <a:extLst xmlns:a="http://schemas.openxmlformats.org/drawingml/2006/main">
              <a:ext uri="{FF2B5EF4-FFF2-40B4-BE49-F238E27FC236}">
                <a16:creationId xmlns:a16="http://schemas.microsoft.com/office/drawing/2014/main" id="{DEF8A0AF-DE25-49C3-B31E-540C806CB94C}"/>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03</a:t>
            </a:r>
          </a:p>
        </p:txBody>
      </p:sp>
      <p:graphicFrame>
        <p:nvGraphicFramePr>
          <p:cNvPr id="6" name="">
            <a:extLst xmlns:a="http://schemas.openxmlformats.org/drawingml/2006/main">
              <a:ext uri="{FF2B5EF4-FFF2-40B4-BE49-F238E27FC236}">
                <a16:creationId xmlns:a16="http://schemas.microsoft.com/office/drawing/2014/main" id="{68C006E6-6B50-43B8-8F36-95AE6995951A}"/>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952500"/>
                <a:gridCol w="2800350"/>
                <a:gridCol w="7219950"/>
              </a:tblGrid>
              <a:tr h="466725">
                <a:tc>
                  <a:txBody>
                    <a:bodyPr wrap="square" lIns="133350" tIns="95250" rIns="133350" bIns="95250">
                      <a:noAutofit/>
                    </a:bodyPr>
                    <a:lstStyle/>
                    <a:p>
                      <a:r>
                        <a:rPr sz="1800" b="1">
                          <a:solidFill>
                            <a:srgbClr val="FFFFFF"/>
                          </a:solidFill>
                          <a:latin typeface="Calibri"/>
                          <a:ea typeface="Calibri"/>
                          <a:cs typeface="Calibri"/>
                        </a:rPr>
                        <a:t>Step</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Operation</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What to inspect</a:t>
                      </a:r>
                    </a:p>
                  </a:txBody>
                  <a:tcPr marL="91440" marR="91440" marT="45720" marB="45720">
                    <a:solidFill>
                      <a:srgbClr val="102F3E"/>
                    </a:solidFill>
                  </a:tcPr>
                </a:tc>
              </a:tr>
              <a:tr h="812006">
                <a:tc>
                  <a:txBody>
                    <a:bodyPr wrap="square" lIns="133350" tIns="95250" rIns="133350" bIns="95250">
                      <a:noAutofit/>
                    </a:bodyPr>
                    <a:lstStyle/>
                    <a:p>
                      <a:r>
                        <a:rPr sz="1875" b="0">
                          <a:solidFill>
                            <a:srgbClr val="102F3E"/>
                          </a:solidFill>
                          <a:latin typeface="Calibri"/>
                          <a:ea typeface="Calibri"/>
                          <a:cs typeface="Calibri"/>
                        </a:rPr>
                        <a:t>01</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Resolve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Normalize the mentioned entity and look it up in the alias table.</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02</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Traverse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Follow outgoing relationships within depth, node, and edge budgets.</a:t>
                      </a:r>
                    </a:p>
                  </a:txBody>
                  <a:tcPr marL="91440" marR="91440" marT="45720" marB="45720">
                    <a:solidFill>
                      <a:srgbClr val="EDF2F1"/>
                    </a:solidFill>
                  </a:tcPr>
                </a:tc>
              </a:tr>
              <a:tr h="812006">
                <a:tc>
                  <a:txBody>
                    <a:bodyPr wrap="square" lIns="133350" tIns="95250" rIns="133350" bIns="95250">
                      <a:noAutofit/>
                    </a:bodyPr>
                    <a:lstStyle/>
                    <a:p>
                      <a:r>
                        <a:rPr sz="1875" b="0">
                          <a:solidFill>
                            <a:srgbClr val="102F3E"/>
                          </a:solidFill>
                          <a:latin typeface="Calibri"/>
                          <a:ea typeface="Calibri"/>
                          <a:cs typeface="Calibri"/>
                        </a:rPr>
                        <a:t>03</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Pack</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Preserve each edge’s original quote, source ID, direction, and negation.</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04</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Generate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Give the retrieved evidence to Claude and cite the supplied graph-evidence IDs.</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193728659"/>
      </p:ext>
    </p:extLst>
  </p:cSld>
</p:sld>
</file>

<file path=ppt/slides/slide4.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75BDCEF9-5FB2-4515-A833-AF3941031309}"/>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EXAMPLE  /  NOTEBOOK 16</a:t>
            </a:r>
          </a:p>
        </p:txBody>
      </p:sp>
      <p:sp>
        <p:nvSpPr>
          <p:cNvPr id="2" name="slide-title">
            <a:extLst xmlns:a="http://schemas.openxmlformats.org/drawingml/2006/main">
              <a:ext uri="{FF2B5EF4-FFF2-40B4-BE49-F238E27FC236}">
                <a16:creationId xmlns:a16="http://schemas.microsoft.com/office/drawing/2014/main" id="{A40FBD6F-2105-4AEB-9BD5-B661D3337685}"/>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Follow onboarding to the learning allowance</a:t>
            </a:r>
          </a:p>
        </p:txBody>
      </p:sp>
      <p:sp>
        <p:nvSpPr>
          <p:cNvPr id="3" name="lead">
            <a:extLst xmlns:a="http://schemas.openxmlformats.org/drawingml/2006/main">
              <a:ext uri="{FF2B5EF4-FFF2-40B4-BE49-F238E27FC236}">
                <a16:creationId xmlns:a16="http://schemas.microsoft.com/office/drawing/2014/main" id="{B5A8E3CE-2FB2-4425-8E5F-5B1CBDB008EA}"/>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The useful answer spans two documents and preserves the policy conditions.</a:t>
            </a:r>
          </a:p>
        </p:txBody>
      </p:sp>
      <p:sp>
        <p:nvSpPr>
          <p:cNvPr id="4" name="text">
            <a:extLst xmlns:a="http://schemas.openxmlformats.org/drawingml/2006/main">
              <a:ext uri="{FF2B5EF4-FFF2-40B4-BE49-F238E27FC236}">
                <a16:creationId xmlns:a16="http://schemas.microsoft.com/office/drawing/2014/main" id="{8F396828-5A31-414B-AB1C-0871B80738B0}"/>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16  /  GraphRAG</a:t>
            </a:r>
          </a:p>
        </p:txBody>
      </p:sp>
      <p:sp>
        <p:nvSpPr>
          <p:cNvPr id="5" name="page-number">
            <a:extLst xmlns:a="http://schemas.openxmlformats.org/drawingml/2006/main">
              <a:ext uri="{FF2B5EF4-FFF2-40B4-BE49-F238E27FC236}">
                <a16:creationId xmlns:a16="http://schemas.microsoft.com/office/drawing/2014/main" id="{11D43C76-72CF-4E52-8ABA-D3C9ECEE9C5A}"/>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04</a:t>
            </a:r>
          </a:p>
        </p:txBody>
      </p:sp>
      <p:sp>
        <p:nvSpPr>
          <p:cNvPr id="6" name="text">
            <a:extLst xmlns:a="http://schemas.openxmlformats.org/drawingml/2006/main">
              <a:ext uri="{FF2B5EF4-FFF2-40B4-BE49-F238E27FC236}">
                <a16:creationId xmlns:a16="http://schemas.microsoft.com/office/drawing/2014/main" id="{13923ECA-2CE6-4466-8F2D-CE0393579DA6}"/>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First hop</a:t>
            </a:r>
          </a:p>
        </p:txBody>
      </p:sp>
      <p:sp>
        <p:nvSpPr>
          <p:cNvPr id="7" name="text">
            <a:extLst xmlns:a="http://schemas.openxmlformats.org/drawingml/2006/main">
              <a:ext uri="{FF2B5EF4-FFF2-40B4-BE49-F238E27FC236}">
                <a16:creationId xmlns:a16="http://schemas.microsoft.com/office/drawing/2014/main" id="{6A3B5A4F-8446-48D3-BADD-EE5D52645733}"/>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onboarding → learning_budget links the onboarding document to the allowance.</a:t>
            </a:r>
          </a:p>
        </p:txBody>
      </p:sp>
      <p:sp>
        <p:nvSpPr>
          <p:cNvPr id="8" name="text">
            <a:extLst xmlns:a="http://schemas.openxmlformats.org/drawingml/2006/main">
              <a:ext uri="{FF2B5EF4-FFF2-40B4-BE49-F238E27FC236}">
                <a16:creationId xmlns:a16="http://schemas.microsoft.com/office/drawing/2014/main" id="{26C88F9F-2E8F-46E3-9C5E-A94B36E36A0A}"/>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Second hop</a:t>
            </a:r>
          </a:p>
        </p:txBody>
      </p:sp>
      <p:sp>
        <p:nvSpPr>
          <p:cNvPr id="9" name="text">
            <a:extLst xmlns:a="http://schemas.openxmlformats.org/drawingml/2006/main">
              <a:ext uri="{FF2B5EF4-FFF2-40B4-BE49-F238E27FC236}">
                <a16:creationId xmlns:a16="http://schemas.microsoft.com/office/drawing/2014/main" id="{E0505843-84C6-49EA-9C67-39A6A6DB7999}"/>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learning_budget → inr_30000 reaches the amount in the benefits document.</a:t>
            </a:r>
          </a:p>
        </p:txBody>
      </p:sp>
      <p:sp>
        <p:nvSpPr>
          <p:cNvPr id="10" name="text">
            <a:extLst xmlns:a="http://schemas.openxmlformats.org/drawingml/2006/main">
              <a:ext uri="{FF2B5EF4-FFF2-40B4-BE49-F238E27FC236}">
                <a16:creationId xmlns:a16="http://schemas.microsoft.com/office/drawing/2014/main" id="{1BFE7C37-46CC-46D5-818C-83ECD23F91C5}"/>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Expected facts</a:t>
            </a:r>
          </a:p>
        </p:txBody>
      </p:sp>
      <p:sp>
        <p:nvSpPr>
          <p:cNvPr id="11" name="text">
            <a:extLst xmlns:a="http://schemas.openxmlformats.org/drawingml/2006/main">
              <a:ext uri="{FF2B5EF4-FFF2-40B4-BE49-F238E27FC236}">
                <a16:creationId xmlns:a16="http://schemas.microsoft.com/office/drawing/2014/main" id="{4A8F7003-50E4-42F3-B796-7295D270BCBF}"/>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INR 30,000 per year; manager approval before purchase; itemized receipt within 30 days.</a:t>
            </a:r>
          </a:p>
        </p:txBody>
      </p:sp>
      <p:sp>
        <p:nvSpPr>
          <p:cNvPr id="12" name="text">
            <a:extLst xmlns:a="http://schemas.openxmlformats.org/drawingml/2006/main">
              <a:ext uri="{FF2B5EF4-FFF2-40B4-BE49-F238E27FC236}">
                <a16:creationId xmlns:a16="http://schemas.microsoft.com/office/drawing/2014/main" id="{0211201C-0722-4C4D-BE07-7241C030F7CA}"/>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Audit trail</a:t>
            </a:r>
          </a:p>
        </p:txBody>
      </p:sp>
      <p:sp>
        <p:nvSpPr>
          <p:cNvPr id="13" name="text">
            <a:extLst xmlns:a="http://schemas.openxmlformats.org/drawingml/2006/main">
              <a:ext uri="{FF2B5EF4-FFF2-40B4-BE49-F238E27FC236}">
                <a16:creationId xmlns:a16="http://schemas.microsoft.com/office/drawing/2014/main" id="{2DF72FDE-038A-48B5-9457-491FF0992D2C}"/>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Inspect each path edge’s source ID and exact quote before accepting the combined answer.</a:t>
            </a:r>
          </a:p>
        </p:txBody>
      </p:sp>
    </p:spTree>
    <p:extLst>
      <p:ext uri="{BB962C8B-B14F-4D97-AF65-F5344CB8AC3E}">
        <p14:creationId xmlns:p14="http://schemas.microsoft.com/office/powerpoint/2010/main" val="978911700"/>
      </p:ext>
    </p:extLst>
  </p:cSld>
</p:sld>
</file>

<file path=ppt/slides/slide5.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A7B9D0AF-8882-42B3-95C1-9BB11ECBB3DA}"/>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16</a:t>
            </a:r>
          </a:p>
        </p:txBody>
      </p:sp>
      <p:sp>
        <p:nvSpPr>
          <p:cNvPr id="2" name="slide-title">
            <a:extLst xmlns:a="http://schemas.openxmlformats.org/drawingml/2006/main">
              <a:ext uri="{FF2B5EF4-FFF2-40B4-BE49-F238E27FC236}">
                <a16:creationId xmlns:a16="http://schemas.microsoft.com/office/drawing/2014/main" id="{F4EFFD8C-1786-497E-9CBB-7D21F7A9D8D7}"/>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Compare graph traversal with text retrieval</a:t>
            </a:r>
          </a:p>
        </p:txBody>
      </p:sp>
      <p:sp>
        <p:nvSpPr>
          <p:cNvPr id="3" name="lead">
            <a:extLst xmlns:a="http://schemas.openxmlformats.org/drawingml/2006/main">
              <a:ext uri="{FF2B5EF4-FFF2-40B4-BE49-F238E27FC236}">
                <a16:creationId xmlns:a16="http://schemas.microsoft.com/office/drawing/2014/main" id="{2837879D-7AAF-4D59-A186-220F5A1C4E4A}"/>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Neither method wins every question; compare coverage on the same labelled task.</a:t>
            </a:r>
          </a:p>
        </p:txBody>
      </p:sp>
      <p:sp>
        <p:nvSpPr>
          <p:cNvPr id="4" name="text">
            <a:extLst xmlns:a="http://schemas.openxmlformats.org/drawingml/2006/main">
              <a:ext uri="{FF2B5EF4-FFF2-40B4-BE49-F238E27FC236}">
                <a16:creationId xmlns:a16="http://schemas.microsoft.com/office/drawing/2014/main" id="{F87CAFD7-BE85-4616-894F-25A3A9E30E64}"/>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16  /  GraphRAG</a:t>
            </a:r>
          </a:p>
        </p:txBody>
      </p:sp>
      <p:sp>
        <p:nvSpPr>
          <p:cNvPr id="5" name="page-number">
            <a:extLst xmlns:a="http://schemas.openxmlformats.org/drawingml/2006/main">
              <a:ext uri="{FF2B5EF4-FFF2-40B4-BE49-F238E27FC236}">
                <a16:creationId xmlns:a16="http://schemas.microsoft.com/office/drawing/2014/main" id="{40C17381-4622-48E9-9C26-A41FF564A805}"/>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05</a:t>
            </a:r>
          </a:p>
        </p:txBody>
      </p:sp>
      <p:graphicFrame>
        <p:nvGraphicFramePr>
          <p:cNvPr id="6" name="">
            <a:extLst xmlns:a="http://schemas.openxmlformats.org/drawingml/2006/main">
              <a:ext uri="{FF2B5EF4-FFF2-40B4-BE49-F238E27FC236}">
                <a16:creationId xmlns:a16="http://schemas.microsoft.com/office/drawing/2014/main" id="{645BEBFC-6897-4988-9535-5127FBE0E2B5}"/>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Text-vector retrieval</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Ranks documents using the whole natural-language question.</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Graph traversal</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Resolves an entity, then follows the relationships present in the graph.</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Measured comparison</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Check whether onboarding and benefits_leave both appear in the retrieved source set.</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Limits</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A missing edge can defeat graph retrieval; a missing keyword or weak embedding match can hurt text retrieval.</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2046936470"/>
      </p:ext>
    </p:extLst>
  </p:cSld>
</p:sld>
</file>

<file path=ppt/slides/slide6.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20CE0842-DE5F-4C5D-B652-85DF4A06CA46}"/>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16</a:t>
            </a:r>
          </a:p>
        </p:txBody>
      </p:sp>
      <p:sp>
        <p:nvSpPr>
          <p:cNvPr id="2" name="slide-title">
            <a:extLst xmlns:a="http://schemas.openxmlformats.org/drawingml/2006/main">
              <a:ext uri="{FF2B5EF4-FFF2-40B4-BE49-F238E27FC236}">
                <a16:creationId xmlns:a16="http://schemas.microsoft.com/office/drawing/2014/main" id="{ED074B00-B037-43EC-BAC4-D1F9527B81E1}"/>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A matching quote can still hide a wrong edge</a:t>
            </a:r>
          </a:p>
        </p:txBody>
      </p:sp>
      <p:sp>
        <p:nvSpPr>
          <p:cNvPr id="3" name="lead">
            <a:extLst xmlns:a="http://schemas.openxmlformats.org/drawingml/2006/main">
              <a:ext uri="{FF2B5EF4-FFF2-40B4-BE49-F238E27FC236}">
                <a16:creationId xmlns:a16="http://schemas.microsoft.com/office/drawing/2014/main" id="{A1168C8F-3C0B-4D52-9F32-7B32F45D8C7D}"/>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Schema and quote checks are necessary, but they do not prove relationship meaning.</a:t>
            </a:r>
          </a:p>
        </p:txBody>
      </p:sp>
      <p:sp>
        <p:nvSpPr>
          <p:cNvPr id="4" name="text">
            <a:extLst xmlns:a="http://schemas.openxmlformats.org/drawingml/2006/main">
              <a:ext uri="{FF2B5EF4-FFF2-40B4-BE49-F238E27FC236}">
                <a16:creationId xmlns:a16="http://schemas.microsoft.com/office/drawing/2014/main" id="{7828F3E3-9CA9-432C-9CDC-463575C2E119}"/>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16  /  GraphRAG</a:t>
            </a:r>
          </a:p>
        </p:txBody>
      </p:sp>
      <p:sp>
        <p:nvSpPr>
          <p:cNvPr id="5" name="page-number">
            <a:extLst xmlns:a="http://schemas.openxmlformats.org/drawingml/2006/main">
              <a:ext uri="{FF2B5EF4-FFF2-40B4-BE49-F238E27FC236}">
                <a16:creationId xmlns:a16="http://schemas.microsoft.com/office/drawing/2014/main" id="{63A5E776-CC68-4C1A-9F76-7E96E0ABE3B1}"/>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06</a:t>
            </a:r>
          </a:p>
        </p:txBody>
      </p:sp>
      <p:sp>
        <p:nvSpPr>
          <p:cNvPr id="6" name="text">
            <a:extLst xmlns:a="http://schemas.openxmlformats.org/drawingml/2006/main">
              <a:ext uri="{FF2B5EF4-FFF2-40B4-BE49-F238E27FC236}">
                <a16:creationId xmlns:a16="http://schemas.microsoft.com/office/drawing/2014/main" id="{061E6A45-72FB-430E-98FF-1F853EF81BF0}"/>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Fabricated quote</a:t>
            </a:r>
          </a:p>
        </p:txBody>
      </p:sp>
      <p:sp>
        <p:nvSpPr>
          <p:cNvPr id="7" name="text">
            <a:extLst xmlns:a="http://schemas.openxmlformats.org/drawingml/2006/main">
              <a:ext uri="{FF2B5EF4-FFF2-40B4-BE49-F238E27FC236}">
                <a16:creationId xmlns:a16="http://schemas.microsoft.com/office/drawing/2014/main" id="{831F0B56-17CC-47C6-A581-0A6FEA493E4D}"/>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Reject text that is absent from the claimed source document.</a:t>
            </a:r>
          </a:p>
        </p:txBody>
      </p:sp>
      <p:sp>
        <p:nvSpPr>
          <p:cNvPr id="8" name="text">
            <a:extLst xmlns:a="http://schemas.openxmlformats.org/drawingml/2006/main">
              <a:ext uri="{FF2B5EF4-FFF2-40B4-BE49-F238E27FC236}">
                <a16:creationId xmlns:a16="http://schemas.microsoft.com/office/drawing/2014/main" id="{A7AAFCFA-C65F-4504-92A3-B9403A9DB428}"/>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Wrong polarity</a:t>
            </a:r>
          </a:p>
        </p:txBody>
      </p:sp>
      <p:sp>
        <p:nvSpPr>
          <p:cNvPr id="9" name="text">
            <a:extLst xmlns:a="http://schemas.openxmlformats.org/drawingml/2006/main">
              <a:ext uri="{FF2B5EF4-FFF2-40B4-BE49-F238E27FC236}">
                <a16:creationId xmlns:a16="http://schemas.microsoft.com/office/drawing/2014/main" id="{25461D5C-707C-43AA-A7CE-0D781AC8FBF1}"/>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 real denial can be paired with negated=False and still pass a simple quote-presence check.</a:t>
            </a:r>
          </a:p>
        </p:txBody>
      </p:sp>
      <p:sp>
        <p:nvSpPr>
          <p:cNvPr id="10" name="text">
            <a:extLst xmlns:a="http://schemas.openxmlformats.org/drawingml/2006/main">
              <a:ext uri="{FF2B5EF4-FFF2-40B4-BE49-F238E27FC236}">
                <a16:creationId xmlns:a16="http://schemas.microsoft.com/office/drawing/2014/main" id="{CE209107-7504-47CC-B5CD-750F370E80CD}"/>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Wrong direction</a:t>
            </a:r>
          </a:p>
        </p:txBody>
      </p:sp>
      <p:sp>
        <p:nvSpPr>
          <p:cNvPr id="11" name="text">
            <a:extLst xmlns:a="http://schemas.openxmlformats.org/drawingml/2006/main">
              <a:ext uri="{FF2B5EF4-FFF2-40B4-BE49-F238E27FC236}">
                <a16:creationId xmlns:a16="http://schemas.microsoft.com/office/drawing/2014/main" id="{A2B29BB8-DB2F-49A7-BC54-4C6D55143A0C}"/>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learning_budget → amount does not imply amount → learning_budget as a sourced claim.</a:t>
            </a:r>
          </a:p>
        </p:txBody>
      </p:sp>
      <p:sp>
        <p:nvSpPr>
          <p:cNvPr id="12" name="text">
            <a:extLst xmlns:a="http://schemas.openxmlformats.org/drawingml/2006/main">
              <a:ext uri="{FF2B5EF4-FFF2-40B4-BE49-F238E27FC236}">
                <a16:creationId xmlns:a16="http://schemas.microsoft.com/office/drawing/2014/main" id="{85067F57-371F-4177-B688-C0FE1596CD75}"/>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Unknown entity</a:t>
            </a:r>
          </a:p>
        </p:txBody>
      </p:sp>
      <p:sp>
        <p:nvSpPr>
          <p:cNvPr id="13" name="text">
            <a:extLst xmlns:a="http://schemas.openxmlformats.org/drawingml/2006/main">
              <a:ext uri="{FF2B5EF4-FFF2-40B4-BE49-F238E27FC236}">
                <a16:creationId xmlns:a16="http://schemas.microsoft.com/office/drawing/2014/main" id="{CDC25296-790D-4F5D-ADFC-1F398EBDBE9D}"/>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Return no evidence and abstain rather than inventing a graph connection.</a:t>
            </a:r>
          </a:p>
        </p:txBody>
      </p:sp>
    </p:spTree>
    <p:extLst>
      <p:ext uri="{BB962C8B-B14F-4D97-AF65-F5344CB8AC3E}">
        <p14:creationId xmlns:p14="http://schemas.microsoft.com/office/powerpoint/2010/main" val="597076167"/>
      </p:ext>
    </p:extLst>
  </p:cSld>
</p:sld>
</file>

<file path=ppt/slides/slide7.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6D0DE639-5A04-4F31-9BB1-B70DD1ECDC18}"/>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16</a:t>
            </a:r>
          </a:p>
        </p:txBody>
      </p:sp>
      <p:sp>
        <p:nvSpPr>
          <p:cNvPr id="2" name="slide-title">
            <a:extLst xmlns:a="http://schemas.openxmlformats.org/drawingml/2006/main">
              <a:ext uri="{FF2B5EF4-FFF2-40B4-BE49-F238E27FC236}">
                <a16:creationId xmlns:a16="http://schemas.microsoft.com/office/drawing/2014/main" id="{F6DBD424-D42A-476D-B838-6C7ACC6A09BA}"/>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Communities support a broader overview</a:t>
            </a:r>
          </a:p>
        </p:txBody>
      </p:sp>
      <p:sp>
        <p:nvSpPr>
          <p:cNvPr id="3" name="lead">
            <a:extLst xmlns:a="http://schemas.openxmlformats.org/drawingml/2006/main">
              <a:ext uri="{FF2B5EF4-FFF2-40B4-BE49-F238E27FC236}">
                <a16:creationId xmlns:a16="http://schemas.microsoft.com/office/drawing/2014/main" id="{CDF4F3CD-8E19-4C86-AEDE-B0095F732507}"/>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Group connected entities, then summarize only the sourced facts retained within each group.</a:t>
            </a:r>
          </a:p>
        </p:txBody>
      </p:sp>
      <p:sp>
        <p:nvSpPr>
          <p:cNvPr id="4" name="text">
            <a:extLst xmlns:a="http://schemas.openxmlformats.org/drawingml/2006/main">
              <a:ext uri="{FF2B5EF4-FFF2-40B4-BE49-F238E27FC236}">
                <a16:creationId xmlns:a16="http://schemas.microsoft.com/office/drawing/2014/main" id="{7455A55D-5744-4656-8CC2-55BAC8FF1EB0}"/>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16  /  GraphRAG</a:t>
            </a:r>
          </a:p>
        </p:txBody>
      </p:sp>
      <p:sp>
        <p:nvSpPr>
          <p:cNvPr id="5" name="page-number">
            <a:extLst xmlns:a="http://schemas.openxmlformats.org/drawingml/2006/main">
              <a:ext uri="{FF2B5EF4-FFF2-40B4-BE49-F238E27FC236}">
                <a16:creationId xmlns:a16="http://schemas.microsoft.com/office/drawing/2014/main" id="{B8B6B85F-272D-4793-800A-5C9515F009F8}"/>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07</a:t>
            </a:r>
          </a:p>
        </p:txBody>
      </p:sp>
      <p:sp>
        <p:nvSpPr>
          <p:cNvPr id="6" name="text">
            <a:extLst xmlns:a="http://schemas.openxmlformats.org/drawingml/2006/main">
              <a:ext uri="{FF2B5EF4-FFF2-40B4-BE49-F238E27FC236}">
                <a16:creationId xmlns:a16="http://schemas.microsoft.com/office/drawing/2014/main" id="{0C75F4A6-F596-4BD9-924B-1E7B31A595B6}"/>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Cluster</a:t>
            </a:r>
          </a:p>
        </p:txBody>
      </p:sp>
      <p:sp>
        <p:nvSpPr>
          <p:cNvPr id="7" name="text">
            <a:extLst xmlns:a="http://schemas.openxmlformats.org/drawingml/2006/main">
              <a:ext uri="{FF2B5EF4-FFF2-40B4-BE49-F238E27FC236}">
                <a16:creationId xmlns:a16="http://schemas.microsoft.com/office/drawing/2014/main" id="{560FCA55-20DC-4D53-8E78-3AA2C030463B}"/>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Use an undirected projection for community detection only.</a:t>
            </a:r>
          </a:p>
        </p:txBody>
      </p:sp>
      <p:sp>
        <p:nvSpPr>
          <p:cNvPr id="8" name="text">
            <a:extLst xmlns:a="http://schemas.openxmlformats.org/drawingml/2006/main">
              <a:ext uri="{FF2B5EF4-FFF2-40B4-BE49-F238E27FC236}">
                <a16:creationId xmlns:a16="http://schemas.microsoft.com/office/drawing/2014/main" id="{26C79801-A5C0-41BB-8259-00B4BBADAB74}"/>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Restore meaning</a:t>
            </a:r>
          </a:p>
        </p:txBody>
      </p:sp>
      <p:sp>
        <p:nvSpPr>
          <p:cNvPr id="9" name="text">
            <a:extLst xmlns:a="http://schemas.openxmlformats.org/drawingml/2006/main">
              <a:ext uri="{FF2B5EF4-FFF2-40B4-BE49-F238E27FC236}">
                <a16:creationId xmlns:a16="http://schemas.microsoft.com/office/drawing/2014/main" id="{7E52EF1A-B52B-4A64-9C49-5AC5BF900D9B}"/>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Build reports from the original directed, qualified edges.</a:t>
            </a:r>
          </a:p>
        </p:txBody>
      </p:sp>
      <p:sp>
        <p:nvSpPr>
          <p:cNvPr id="10" name="text">
            <a:extLst xmlns:a="http://schemas.openxmlformats.org/drawingml/2006/main">
              <a:ext uri="{FF2B5EF4-FFF2-40B4-BE49-F238E27FC236}">
                <a16:creationId xmlns:a16="http://schemas.microsoft.com/office/drawing/2014/main" id="{81F23D9C-D69E-41C5-A7A8-90EA2348CF92}"/>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Coverage limit</a:t>
            </a:r>
          </a:p>
        </p:txBody>
      </p:sp>
      <p:sp>
        <p:nvSpPr>
          <p:cNvPr id="11" name="text">
            <a:extLst xmlns:a="http://schemas.openxmlformats.org/drawingml/2006/main">
              <a:ext uri="{FF2B5EF4-FFF2-40B4-BE49-F238E27FC236}">
                <a16:creationId xmlns:a16="http://schemas.microsoft.com/office/drawing/2014/main" id="{E589431C-BD88-4D8E-843A-0898609AA947}"/>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simple internal-fact overview omits cross-community edges.</a:t>
            </a:r>
          </a:p>
        </p:txBody>
      </p:sp>
      <p:sp>
        <p:nvSpPr>
          <p:cNvPr id="12" name="text">
            <a:extLst xmlns:a="http://schemas.openxmlformats.org/drawingml/2006/main">
              <a:ext uri="{FF2B5EF4-FFF2-40B4-BE49-F238E27FC236}">
                <a16:creationId xmlns:a16="http://schemas.microsoft.com/office/drawing/2014/main" id="{E25FE70B-B2EE-43DA-9541-34003E6A6B9A}"/>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Implementation scope</a:t>
            </a:r>
          </a:p>
        </p:txBody>
      </p:sp>
      <p:sp>
        <p:nvSpPr>
          <p:cNvPr id="13" name="text">
            <a:extLst xmlns:a="http://schemas.openxmlformats.org/drawingml/2006/main">
              <a:ext uri="{FF2B5EF4-FFF2-40B4-BE49-F238E27FC236}">
                <a16:creationId xmlns:a16="http://schemas.microsoft.com/office/drawing/2014/main" id="{5DAE0BB5-488C-4C50-8A9F-708065305EE7}"/>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This is a small knowledge-graph RAG lesson, not Microsoft’s full GraphRAG pipeline.</a:t>
            </a:r>
          </a:p>
        </p:txBody>
      </p:sp>
    </p:spTree>
    <p:extLst>
      <p:ext uri="{BB962C8B-B14F-4D97-AF65-F5344CB8AC3E}">
        <p14:creationId xmlns:p14="http://schemas.microsoft.com/office/powerpoint/2010/main" val="860319957"/>
      </p:ext>
    </p:extLst>
  </p:cSld>
</p:sld>
</file>

<file path=ppt/slides/slide8.xml><?xml version="1.0" encoding="utf-8"?>
<p:sld xmlns:p="http://schemas.openxmlformats.org/presentationml/2006/main">
  <p:cSld>
    <p:bg>
      <p:bgPr>
        <a:solidFill xmlns:a="http://schemas.openxmlformats.org/drawingml/2006/main">
          <a:srgbClr val="0A1929"/>
        </a:solidFill>
      </p:bgPr>
    </p:bg>
    <p:spTree>
      <p:nvGrpSpPr>
        <p:cNvPr id="1" name=""/>
        <p:cNvGrpSpPr/>
        <p:nvPr/>
      </p:nvGrpSpPr>
      <p:grpSpPr>
        <a:xfrm xmlns:a="http://schemas.openxmlformats.org/drawingml/2006/main"/>
      </p:grpSpPr>
      <p:sp>
        <p:nvSpPr>
          <p:cNvPr id="18" name="section-label">
            <a:extLst xmlns:a="http://schemas.openxmlformats.org/drawingml/2006/main">
              <a:ext uri="{FF2B5EF4-FFF2-40B4-BE49-F238E27FC236}">
                <a16:creationId xmlns:a16="http://schemas.microsoft.com/office/drawing/2014/main" id="{509ECDF9-5CA4-4BFC-ACFE-44FB02BC9882}"/>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68D0CB"/>
                </a:solidFill>
                <a:latin typeface="Calibri"/>
                <a:ea typeface="Calibri"/>
                <a:cs typeface="Calibri"/>
              </a:defRPr>
            </a:defPPr>
          </a:lstStyle>
          <a:p xmlns:a="http://schemas.openxmlformats.org/drawingml/2006/main">
            <a:pPr>
              <a:defRPr sz="1275" b="1">
                <a:solidFill>
                  <a:srgbClr val="68D0CB"/>
                </a:solidFill>
                <a:latin typeface="Calibri"/>
                <a:ea typeface="Calibri"/>
                <a:cs typeface="Calibri"/>
              </a:defRPr>
            </a:pPr>
            <a:r>
              <a:rPr sz="1275" b="1">
                <a:solidFill>
                  <a:srgbClr val="68D0CB"/>
                </a:solidFill>
                <a:latin typeface="Calibri"/>
                <a:ea typeface="Calibri"/>
                <a:cs typeface="Calibri"/>
              </a:rPr>
              <a:t>DEMO  /  NOTEBOOK 16</a:t>
            </a:r>
          </a:p>
        </p:txBody>
      </p:sp>
      <p:sp>
        <p:nvSpPr>
          <p:cNvPr id="2" name="slide-title">
            <a:extLst xmlns:a="http://schemas.openxmlformats.org/drawingml/2006/main">
              <a:ext uri="{FF2B5EF4-FFF2-40B4-BE49-F238E27FC236}">
                <a16:creationId xmlns:a16="http://schemas.microsoft.com/office/drawing/2014/main" id="{EFA5FA5A-C5AF-4A61-A64C-7FA37851EDBD}"/>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Calibri"/>
                <a:ea typeface="Calibri"/>
                <a:cs typeface="Calibri"/>
              </a:defRPr>
            </a:defPPr>
          </a:lstStyle>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Live demo: inspect every hop</a:t>
            </a:r>
          </a:p>
        </p:txBody>
      </p:sp>
      <p:sp>
        <p:nvSpPr>
          <p:cNvPr id="3" name="lead">
            <a:extLst xmlns:a="http://schemas.openxmlformats.org/drawingml/2006/main">
              <a:ext uri="{FF2B5EF4-FFF2-40B4-BE49-F238E27FC236}">
                <a16:creationId xmlns:a16="http://schemas.microsoft.com/office/drawing/2014/main" id="{FC68A2D3-4BE5-4D6E-BE65-CAE68D39C2FE}"/>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6E2E8"/>
                </a:solidFill>
                <a:latin typeface="Calibri"/>
                <a:ea typeface="Calibri"/>
                <a:cs typeface="Calibri"/>
              </a:defRPr>
            </a:defPPr>
          </a:lstStyle>
          <a:p xmlns:a="http://schemas.openxmlformats.org/drawingml/2006/main">
            <a:pPr>
              <a:defRPr sz="2100" b="0">
                <a:solidFill>
                  <a:srgbClr val="D6E2E8"/>
                </a:solidFill>
                <a:latin typeface="Calibri"/>
                <a:ea typeface="Calibri"/>
                <a:cs typeface="Calibri"/>
              </a:defRPr>
            </a:pPr>
            <a:r>
              <a:rPr sz="2100" b="0">
                <a:solidFill>
                  <a:srgbClr val="D6E2E8"/>
                </a:solidFill>
                <a:latin typeface="Calibri"/>
                <a:ea typeface="Calibri"/>
                <a:cs typeface="Calibri"/>
              </a:rPr>
              <a:t>Open notebook 16 and keep the graph evidence table visible.</a:t>
            </a:r>
          </a:p>
        </p:txBody>
      </p:sp>
      <p:sp>
        <p:nvSpPr>
          <p:cNvPr id="4" name="text">
            <a:extLst xmlns:a="http://schemas.openxmlformats.org/drawingml/2006/main">
              <a:ext uri="{FF2B5EF4-FFF2-40B4-BE49-F238E27FC236}">
                <a16:creationId xmlns:a16="http://schemas.microsoft.com/office/drawing/2014/main" id="{AA18DFD5-5C2D-46E5-B660-4DDDE872EFD3}"/>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6B8C5"/>
                </a:solidFill>
                <a:latin typeface="Calibri"/>
                <a:ea typeface="Calibri"/>
                <a:cs typeface="Calibri"/>
              </a:defRPr>
            </a:defPPr>
          </a:lstStyle>
          <a:p xmlns:a="http://schemas.openxmlformats.org/drawingml/2006/main">
            <a:pPr>
              <a:defRPr sz="1200" b="0">
                <a:solidFill>
                  <a:srgbClr val="A6B8C5"/>
                </a:solidFill>
                <a:latin typeface="Calibri"/>
                <a:ea typeface="Calibri"/>
                <a:cs typeface="Calibri"/>
              </a:defRPr>
            </a:pPr>
            <a:r>
              <a:rPr sz="1200" b="0">
                <a:solidFill>
                  <a:srgbClr val="A6B8C5"/>
                </a:solidFill>
                <a:latin typeface="Calibri"/>
                <a:ea typeface="Calibri"/>
                <a:cs typeface="Calibri"/>
              </a:rPr>
              <a:t>RAG WORKSHOP  /  16  /  GraphRAG</a:t>
            </a:r>
          </a:p>
        </p:txBody>
      </p:sp>
      <p:sp>
        <p:nvSpPr>
          <p:cNvPr id="5" name="page-number">
            <a:extLst xmlns:a="http://schemas.openxmlformats.org/drawingml/2006/main">
              <a:ext uri="{FF2B5EF4-FFF2-40B4-BE49-F238E27FC236}">
                <a16:creationId xmlns:a16="http://schemas.microsoft.com/office/drawing/2014/main" id="{01B0442E-0883-42EA-904E-E4D7597CCD95}"/>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B8C5"/>
                </a:solidFill>
                <a:latin typeface="Calibri"/>
                <a:ea typeface="Calibri"/>
                <a:cs typeface="Calibri"/>
              </a:defRPr>
            </a:defPPr>
          </a:lstStyle>
          <a:p xmlns:a="http://schemas.openxmlformats.org/drawingml/2006/main">
            <a:pPr>
              <a:defRPr sz="1350" b="0">
                <a:solidFill>
                  <a:srgbClr val="A6B8C5"/>
                </a:solidFill>
                <a:latin typeface="Calibri"/>
                <a:ea typeface="Calibri"/>
                <a:cs typeface="Calibri"/>
              </a:defRPr>
            </a:pPr>
            <a:r>
              <a:rPr sz="1350" b="0">
                <a:solidFill>
                  <a:srgbClr val="A6B8C5"/>
                </a:solidFill>
                <a:latin typeface="Calibri"/>
                <a:ea typeface="Calibri"/>
                <a:cs typeface="Calibri"/>
              </a:rPr>
              <a:t>08</a:t>
            </a:r>
          </a:p>
        </p:txBody>
      </p:sp>
      <p:sp>
        <p:nvSpPr>
          <p:cNvPr id="6" name="text">
            <a:extLst xmlns:a="http://schemas.openxmlformats.org/drawingml/2006/main">
              <a:ext uri="{FF2B5EF4-FFF2-40B4-BE49-F238E27FC236}">
                <a16:creationId xmlns:a16="http://schemas.microsoft.com/office/drawing/2014/main" id="{719097A6-98CA-4D5A-9FC3-449E737FB296}"/>
              </a:ext>
            </a:extLst>
          </p:cNvPr>
          <p:cNvSpPr>
            <a:spLocks xmlns:a="http://schemas.openxmlformats.org/drawingml/2006/main" noGrp="1"/>
          </p:cNvSpPr>
          <p:nvPr/>
        </p:nvSpPr>
        <p:spPr>
          <a:xfrm xmlns:a="http://schemas.openxmlformats.org/drawingml/2006/main">
            <a:off x="609600" y="25527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01</a:t>
            </a:r>
          </a:p>
        </p:txBody>
      </p:sp>
      <p:sp>
        <p:nvSpPr>
          <p:cNvPr id="7" name="text">
            <a:extLst xmlns:a="http://schemas.openxmlformats.org/drawingml/2006/main">
              <a:ext uri="{FF2B5EF4-FFF2-40B4-BE49-F238E27FC236}">
                <a16:creationId xmlns:a16="http://schemas.microsoft.com/office/drawing/2014/main" id="{B3922BA4-ED60-4DB9-8639-E7A0F99DF32C}"/>
              </a:ext>
            </a:extLst>
          </p:cNvPr>
          <p:cNvSpPr>
            <a:spLocks xmlns:a="http://schemas.openxmlformats.org/drawingml/2006/main" noGrp="1"/>
          </p:cNvSpPr>
          <p:nvPr/>
        </p:nvSpPr>
        <p:spPr>
          <a:xfrm xmlns:a="http://schemas.openxmlformats.org/drawingml/2006/main">
            <a:off x="1495425" y="2552700"/>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Construct · sections 1–3</a:t>
            </a:r>
          </a:p>
        </p:txBody>
      </p:sp>
      <p:sp>
        <p:nvSpPr>
          <p:cNvPr id="8" name="text">
            <a:extLst xmlns:a="http://schemas.openxmlformats.org/drawingml/2006/main">
              <a:ext uri="{FF2B5EF4-FFF2-40B4-BE49-F238E27FC236}">
                <a16:creationId xmlns:a16="http://schemas.microsoft.com/office/drawing/2014/main" id="{C5B4DA2D-5F83-4282-9A75-AA9160949986}"/>
              </a:ext>
            </a:extLst>
          </p:cNvPr>
          <p:cNvSpPr>
            <a:spLocks xmlns:a="http://schemas.openxmlformats.org/drawingml/2006/main" noGrp="1"/>
          </p:cNvSpPr>
          <p:nvPr/>
        </p:nvSpPr>
        <p:spPr>
          <a:xfrm xmlns:a="http://schemas.openxmlformats.org/drawingml/2006/main">
            <a:off x="4429125" y="2552700"/>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Read curated triples, resolve “new hire,” and inspect the directed graph.</a:t>
            </a:r>
          </a:p>
        </p:txBody>
      </p:sp>
      <p:sp>
        <p:nvSpPr>
          <p:cNvPr id="9" name="text">
            <a:extLst xmlns:a="http://schemas.openxmlformats.org/drawingml/2006/main">
              <a:ext uri="{FF2B5EF4-FFF2-40B4-BE49-F238E27FC236}">
                <a16:creationId xmlns:a16="http://schemas.microsoft.com/office/drawing/2014/main" id="{55FD87DD-0EF5-47C4-A01D-93D1283BD50B}"/>
              </a:ext>
            </a:extLst>
          </p:cNvPr>
          <p:cNvSpPr>
            <a:spLocks xmlns:a="http://schemas.openxmlformats.org/drawingml/2006/main" noGrp="1"/>
          </p:cNvSpPr>
          <p:nvPr/>
        </p:nvSpPr>
        <p:spPr>
          <a:xfrm xmlns:a="http://schemas.openxmlformats.org/drawingml/2006/main">
            <a:off x="609600" y="3481388"/>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02</a:t>
            </a:r>
          </a:p>
        </p:txBody>
      </p:sp>
      <p:sp>
        <p:nvSpPr>
          <p:cNvPr id="10" name="text">
            <a:extLst xmlns:a="http://schemas.openxmlformats.org/drawingml/2006/main">
              <a:ext uri="{FF2B5EF4-FFF2-40B4-BE49-F238E27FC236}">
                <a16:creationId xmlns:a16="http://schemas.microsoft.com/office/drawing/2014/main" id="{50D446B3-FC97-4842-A8EE-D429B1D815D9}"/>
              </a:ext>
            </a:extLst>
          </p:cNvPr>
          <p:cNvSpPr>
            <a:spLocks xmlns:a="http://schemas.openxmlformats.org/drawingml/2006/main" noGrp="1"/>
          </p:cNvSpPr>
          <p:nvPr/>
        </p:nvSpPr>
        <p:spPr>
          <a:xfrm xmlns:a="http://schemas.openxmlformats.org/drawingml/2006/main">
            <a:off x="1495425" y="3481388"/>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Retrieve · sections 4–6</a:t>
            </a:r>
          </a:p>
        </p:txBody>
      </p:sp>
      <p:sp>
        <p:nvSpPr>
          <p:cNvPr id="11" name="text">
            <a:extLst xmlns:a="http://schemas.openxmlformats.org/drawingml/2006/main">
              <a:ext uri="{FF2B5EF4-FFF2-40B4-BE49-F238E27FC236}">
                <a16:creationId xmlns:a16="http://schemas.microsoft.com/office/drawing/2014/main" id="{3E3BBB6C-DDF3-492F-BF91-EBF77BBE86F9}"/>
              </a:ext>
            </a:extLst>
          </p:cNvPr>
          <p:cNvSpPr>
            <a:spLocks xmlns:a="http://schemas.openxmlformats.org/drawingml/2006/main" noGrp="1"/>
          </p:cNvSpPr>
          <p:nvPr/>
        </p:nvSpPr>
        <p:spPr>
          <a:xfrm xmlns:a="http://schemas.openxmlformats.org/drawingml/2006/main">
            <a:off x="4429125" y="3481388"/>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Compare one-hop and two-hop neighborhoods, then compare source coverage with text retrieval.</a:t>
            </a:r>
          </a:p>
        </p:txBody>
      </p:sp>
      <p:sp>
        <p:nvSpPr>
          <p:cNvPr id="12" name="text">
            <a:extLst xmlns:a="http://schemas.openxmlformats.org/drawingml/2006/main">
              <a:ext uri="{FF2B5EF4-FFF2-40B4-BE49-F238E27FC236}">
                <a16:creationId xmlns:a16="http://schemas.microsoft.com/office/drawing/2014/main" id="{F2506D7C-56D0-4275-BEEF-0B314C74D795}"/>
              </a:ext>
            </a:extLst>
          </p:cNvPr>
          <p:cNvSpPr>
            <a:spLocks xmlns:a="http://schemas.openxmlformats.org/drawingml/2006/main" noGrp="1"/>
          </p:cNvSpPr>
          <p:nvPr/>
        </p:nvSpPr>
        <p:spPr>
          <a:xfrm xmlns:a="http://schemas.openxmlformats.org/drawingml/2006/main">
            <a:off x="609600" y="441007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03</a:t>
            </a:r>
          </a:p>
        </p:txBody>
      </p:sp>
      <p:sp>
        <p:nvSpPr>
          <p:cNvPr id="13" name="text">
            <a:extLst xmlns:a="http://schemas.openxmlformats.org/drawingml/2006/main">
              <a:ext uri="{FF2B5EF4-FFF2-40B4-BE49-F238E27FC236}">
                <a16:creationId xmlns:a16="http://schemas.microsoft.com/office/drawing/2014/main" id="{C1442031-A9AE-443F-8A77-60529A24686F}"/>
              </a:ext>
            </a:extLst>
          </p:cNvPr>
          <p:cNvSpPr>
            <a:spLocks xmlns:a="http://schemas.openxmlformats.org/drawingml/2006/main" noGrp="1"/>
          </p:cNvSpPr>
          <p:nvPr/>
        </p:nvSpPr>
        <p:spPr>
          <a:xfrm xmlns:a="http://schemas.openxmlformats.org/drawingml/2006/main">
            <a:off x="1495425" y="4410075"/>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Answer · section 7</a:t>
            </a:r>
          </a:p>
        </p:txBody>
      </p:sp>
      <p:sp>
        <p:nvSpPr>
          <p:cNvPr id="14" name="text">
            <a:extLst xmlns:a="http://schemas.openxmlformats.org/drawingml/2006/main">
              <a:ext uri="{FF2B5EF4-FFF2-40B4-BE49-F238E27FC236}">
                <a16:creationId xmlns:a16="http://schemas.microsoft.com/office/drawing/2014/main" id="{3710196C-F178-4D11-BDAF-F365D5ECF1C3}"/>
              </a:ext>
            </a:extLst>
          </p:cNvPr>
          <p:cNvSpPr>
            <a:spLocks xmlns:a="http://schemas.openxmlformats.org/drawingml/2006/main" noGrp="1"/>
          </p:cNvSpPr>
          <p:nvPr/>
        </p:nvSpPr>
        <p:spPr>
          <a:xfrm xmlns:a="http://schemas.openxmlformats.org/drawingml/2006/main">
            <a:off x="4429125" y="4410075"/>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Inspect the allowance, approval condition, and exact graph citations in Claude’s answer.</a:t>
            </a:r>
          </a:p>
        </p:txBody>
      </p:sp>
      <p:sp>
        <p:nvSpPr>
          <p:cNvPr id="15" name="text">
            <a:extLst xmlns:a="http://schemas.openxmlformats.org/drawingml/2006/main">
              <a:ext uri="{FF2B5EF4-FFF2-40B4-BE49-F238E27FC236}">
                <a16:creationId xmlns:a16="http://schemas.microsoft.com/office/drawing/2014/main" id="{BF91BEE6-1B63-4B68-A7A7-17192360C84E}"/>
              </a:ext>
            </a:extLst>
          </p:cNvPr>
          <p:cNvSpPr>
            <a:spLocks xmlns:a="http://schemas.openxmlformats.org/drawingml/2006/main" noGrp="1"/>
          </p:cNvSpPr>
          <p:nvPr/>
        </p:nvSpPr>
        <p:spPr>
          <a:xfrm xmlns:a="http://schemas.openxmlformats.org/drawingml/2006/main">
            <a:off x="609600" y="5338763"/>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04</a:t>
            </a:r>
          </a:p>
        </p:txBody>
      </p:sp>
      <p:sp>
        <p:nvSpPr>
          <p:cNvPr id="16" name="text">
            <a:extLst xmlns:a="http://schemas.openxmlformats.org/drawingml/2006/main">
              <a:ext uri="{FF2B5EF4-FFF2-40B4-BE49-F238E27FC236}">
                <a16:creationId xmlns:a16="http://schemas.microsoft.com/office/drawing/2014/main" id="{063358A0-481E-473B-AC88-DB2293CCC7CE}"/>
              </a:ext>
            </a:extLst>
          </p:cNvPr>
          <p:cNvSpPr>
            <a:spLocks xmlns:a="http://schemas.openxmlformats.org/drawingml/2006/main" noGrp="1"/>
          </p:cNvSpPr>
          <p:nvPr/>
        </p:nvSpPr>
        <p:spPr>
          <a:xfrm xmlns:a="http://schemas.openxmlformats.org/drawingml/2006/main">
            <a:off x="1495425" y="5338763"/>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Challenge · sections 8–10</a:t>
            </a:r>
          </a:p>
        </p:txBody>
      </p:sp>
      <p:sp>
        <p:nvSpPr>
          <p:cNvPr id="17" name="text">
            <a:extLst xmlns:a="http://schemas.openxmlformats.org/drawingml/2006/main">
              <a:ext uri="{FF2B5EF4-FFF2-40B4-BE49-F238E27FC236}">
                <a16:creationId xmlns:a16="http://schemas.microsoft.com/office/drawing/2014/main" id="{C322C4ED-1B2A-454B-AB81-DC0711E75CEB}"/>
              </a:ext>
            </a:extLst>
          </p:cNvPr>
          <p:cNvSpPr>
            <a:spLocks xmlns:a="http://schemas.openxmlformats.org/drawingml/2006/main" noGrp="1"/>
          </p:cNvSpPr>
          <p:nvPr/>
        </p:nvSpPr>
        <p:spPr>
          <a:xfrm xmlns:a="http://schemas.openxmlformats.org/drawingml/2006/main">
            <a:off x="4429125" y="5338763"/>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Reject a fake quote, expose the polarity gap, and inspect a bounded community overview.</a:t>
            </a:r>
          </a:p>
        </p:txBody>
      </p:sp>
    </p:spTree>
    <p:extLst>
      <p:ext uri="{BB962C8B-B14F-4D97-AF65-F5344CB8AC3E}">
        <p14:creationId xmlns:p14="http://schemas.microsoft.com/office/powerpoint/2010/main" val="513080860"/>
      </p:ext>
    </p:extLst>
  </p:cSld>
</p:sld>
</file>

<file path=ppt/slides/slide9.xml><?xml version="1.0" encoding="utf-8"?>
<p:sld xmlns:p="http://schemas.openxmlformats.org/presentationml/2006/main">
  <p:cSld>
    <p:bg>
      <p:bgPr>
        <a:solidFill xmlns:a="http://schemas.openxmlformats.org/drawingml/2006/main">
          <a:srgbClr val="EAF2F1"/>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B1D700B8-645E-4830-81C1-1592E6D773D9}"/>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EXERCISE  /  NOTEBOOK 16</a:t>
            </a:r>
          </a:p>
        </p:txBody>
      </p:sp>
      <p:sp>
        <p:nvSpPr>
          <p:cNvPr id="2" name="slide-title">
            <a:extLst xmlns:a="http://schemas.openxmlformats.org/drawingml/2006/main">
              <a:ext uri="{FF2B5EF4-FFF2-40B4-BE49-F238E27FC236}">
                <a16:creationId xmlns:a16="http://schemas.microsoft.com/office/drawing/2014/main" id="{71CC9C96-72C8-4AEF-8439-83F781144138}"/>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Find the scheduled-export limit in two hops</a:t>
            </a:r>
          </a:p>
        </p:txBody>
      </p:sp>
      <p:sp>
        <p:nvSpPr>
          <p:cNvPr id="3" name="lead">
            <a:extLst xmlns:a="http://schemas.openxmlformats.org/drawingml/2006/main">
              <a:ext uri="{FF2B5EF4-FFF2-40B4-BE49-F238E27FC236}">
                <a16:creationId xmlns:a16="http://schemas.microsoft.com/office/drawing/2014/main" id="{849D30A6-5030-4C8F-A54B-E17C71D9C725}"/>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Use the graph to answer a different connected-facts question.</a:t>
            </a:r>
          </a:p>
        </p:txBody>
      </p:sp>
      <p:sp>
        <p:nvSpPr>
          <p:cNvPr id="4" name="text">
            <a:extLst xmlns:a="http://schemas.openxmlformats.org/drawingml/2006/main">
              <a:ext uri="{FF2B5EF4-FFF2-40B4-BE49-F238E27FC236}">
                <a16:creationId xmlns:a16="http://schemas.microsoft.com/office/drawing/2014/main" id="{90AC8FF7-5426-451A-8373-28DBE8032799}"/>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16  /  GraphRAG</a:t>
            </a:r>
          </a:p>
        </p:txBody>
      </p:sp>
      <p:sp>
        <p:nvSpPr>
          <p:cNvPr id="5" name="page-number">
            <a:extLst xmlns:a="http://schemas.openxmlformats.org/drawingml/2006/main">
              <a:ext uri="{FF2B5EF4-FFF2-40B4-BE49-F238E27FC236}">
                <a16:creationId xmlns:a16="http://schemas.microsoft.com/office/drawing/2014/main" id="{E5F05009-8BF2-4DD2-A483-9B117D84A323}"/>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09</a:t>
            </a:r>
          </a:p>
        </p:txBody>
      </p:sp>
      <p:sp>
        <p:nvSpPr>
          <p:cNvPr id="6" name="text">
            <a:extLst xmlns:a="http://schemas.openxmlformats.org/drawingml/2006/main">
              <a:ext uri="{FF2B5EF4-FFF2-40B4-BE49-F238E27FC236}">
                <a16:creationId xmlns:a16="http://schemas.microsoft.com/office/drawing/2014/main" id="{DEAC9B71-3488-4137-B109-E142251275CB}"/>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Resolve</a:t>
            </a:r>
          </a:p>
        </p:txBody>
      </p:sp>
      <p:sp>
        <p:nvSpPr>
          <p:cNvPr id="7" name="text">
            <a:extLst xmlns:a="http://schemas.openxmlformats.org/drawingml/2006/main">
              <a:ext uri="{FF2B5EF4-FFF2-40B4-BE49-F238E27FC236}">
                <a16:creationId xmlns:a16="http://schemas.microsoft.com/office/drawing/2014/main" id="{D9D25224-ECD5-4B40-BFFA-AD1F8F6010CF}"/>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Map “enterprise plan” to its stable entity ID.</a:t>
            </a:r>
          </a:p>
        </p:txBody>
      </p:sp>
      <p:sp>
        <p:nvSpPr>
          <p:cNvPr id="8" name="text">
            <a:extLst xmlns:a="http://schemas.openxmlformats.org/drawingml/2006/main">
              <a:ext uri="{FF2B5EF4-FFF2-40B4-BE49-F238E27FC236}">
                <a16:creationId xmlns:a16="http://schemas.microsoft.com/office/drawing/2014/main" id="{E78590F4-3085-4132-AF3A-B6D5E50CA85B}"/>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Traverse</a:t>
            </a:r>
          </a:p>
        </p:txBody>
      </p:sp>
      <p:sp>
        <p:nvSpPr>
          <p:cNvPr id="9" name="text">
            <a:extLst xmlns:a="http://schemas.openxmlformats.org/drawingml/2006/main">
              <a:ext uri="{FF2B5EF4-FFF2-40B4-BE49-F238E27FC236}">
                <a16:creationId xmlns:a16="http://schemas.microsoft.com/office/drawing/2014/main" id="{1FFC4BCA-9DBE-47B7-903E-23B8F25FBF2E}"/>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Follow Enterprise → scheduled CSV exports → active schedule limit.</a:t>
            </a:r>
          </a:p>
        </p:txBody>
      </p:sp>
      <p:sp>
        <p:nvSpPr>
          <p:cNvPr id="10" name="text">
            <a:extLst xmlns:a="http://schemas.openxmlformats.org/drawingml/2006/main">
              <a:ext uri="{FF2B5EF4-FFF2-40B4-BE49-F238E27FC236}">
                <a16:creationId xmlns:a16="http://schemas.microsoft.com/office/drawing/2014/main" id="{82BAE90C-0398-4D36-B181-1B36C2D1A80C}"/>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Expected result</a:t>
            </a:r>
          </a:p>
        </p:txBody>
      </p:sp>
      <p:sp>
        <p:nvSpPr>
          <p:cNvPr id="11" name="text">
            <a:extLst xmlns:a="http://schemas.openxmlformats.org/drawingml/2006/main">
              <a:ext uri="{FF2B5EF4-FFF2-40B4-BE49-F238E27FC236}">
                <a16:creationId xmlns:a16="http://schemas.microsoft.com/office/drawing/2014/main" id="{50D27E19-2D47-4831-89C4-5C297554B9BF}"/>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Up to 10 active schedules per workspace; this is not a limit on simultaneous jobs.</a:t>
            </a:r>
          </a:p>
        </p:txBody>
      </p:sp>
      <p:sp>
        <p:nvSpPr>
          <p:cNvPr id="12" name="text">
            <a:extLst xmlns:a="http://schemas.openxmlformats.org/drawingml/2006/main">
              <a:ext uri="{FF2B5EF4-FFF2-40B4-BE49-F238E27FC236}">
                <a16:creationId xmlns:a16="http://schemas.microsoft.com/office/drawing/2014/main" id="{6E00CB1F-040A-4705-8D6F-E9150A94ABF1}"/>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Stress the budget</a:t>
            </a:r>
          </a:p>
        </p:txBody>
      </p:sp>
      <p:sp>
        <p:nvSpPr>
          <p:cNvPr id="13" name="text">
            <a:extLst xmlns:a="http://schemas.openxmlformats.org/drawingml/2006/main">
              <a:ext uri="{FF2B5EF4-FFF2-40B4-BE49-F238E27FC236}">
                <a16:creationId xmlns:a16="http://schemas.microsoft.com/office/drawing/2014/main" id="{480FE70D-FA47-44C2-8D97-5BC25BE3CEE9}"/>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Set max_edges=1, observe truncation, and explain what evidence is now missing.</a:t>
            </a:r>
          </a:p>
        </p:txBody>
      </p:sp>
    </p:spTree>
    <p:extLst>
      <p:ext uri="{BB962C8B-B14F-4D97-AF65-F5344CB8AC3E}">
        <p14:creationId xmlns:p14="http://schemas.microsoft.com/office/powerpoint/2010/main" val="5698562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2026-10-11T09:50:51.0650000Z</dcterms:created>
  <dcterms:modified xsi:type="dcterms:W3CDTF">2026-10-11T09:50:51.0650000Z</dcterms:modified>
</coreProperties>
</file>