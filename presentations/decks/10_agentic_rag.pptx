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1557fb96c14938" /><Relationship Type="http://schemas.openxmlformats.org/officeDocument/2006/relationships/extended-properties" Target="/docProps/app.xml" Id="R084e70dca20947a5" /><Relationship Type="http://schemas.openxmlformats.org/officeDocument/2006/relationships/officeDocument" Target="/ppt/presentation.xml" Id="R2cad214a617d492a" /></Relationships>
</file>

<file path=ppt/presentation.xml><?xml version="1.0" encoding="utf-8"?>
<p:presentation xmlns:p="http://schemas.openxmlformats.org/presentationml/2006/main">
  <p:sldMasterIdLst>
    <p:sldMasterId xmlns:r="http://schemas.openxmlformats.org/officeDocument/2006/relationships" id="2147483648" r:id="Rfd5085635fd14f58"/>
  </p:sldMasterIdLst>
  <p:notesMasterIdLst>
    <p:notesMasterId xmlns:r="http://schemas.openxmlformats.org/officeDocument/2006/relationships" r:id="Re48b5bc534594633"/>
  </p:notesMasterIdLst>
  <p:sldIdLst>
    <p:sldId xmlns:r="http://schemas.openxmlformats.org/officeDocument/2006/relationships" id="256" r:id="R6daf69d8e3dd4bb6"/>
    <p:sldId xmlns:r="http://schemas.openxmlformats.org/officeDocument/2006/relationships" id="257" r:id="Rfa49b174c70245b3"/>
    <p:sldId xmlns:r="http://schemas.openxmlformats.org/officeDocument/2006/relationships" id="258" r:id="Rd17f23fa04204e44"/>
    <p:sldId xmlns:r="http://schemas.openxmlformats.org/officeDocument/2006/relationships" id="259" r:id="Ra97f13bc708a4780"/>
    <p:sldId xmlns:r="http://schemas.openxmlformats.org/officeDocument/2006/relationships" id="260" r:id="Rc7ae51cbd13b47c3"/>
    <p:sldId xmlns:r="http://schemas.openxmlformats.org/officeDocument/2006/relationships" id="261" r:id="Rbc8f4d55b3e0423b"/>
    <p:sldId xmlns:r="http://schemas.openxmlformats.org/officeDocument/2006/relationships" id="262" r:id="Ra80e6dbbf9d54f29"/>
    <p:sldId xmlns:r="http://schemas.openxmlformats.org/officeDocument/2006/relationships" id="263" r:id="Rc50f3da7d5ee468c"/>
    <p:sldId xmlns:r="http://schemas.openxmlformats.org/officeDocument/2006/relationships" id="264" r:id="R98bc0ffb48a142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094a49aee748e1" /><Relationship Type="http://schemas.openxmlformats.org/officeDocument/2006/relationships/slideMaster" Target="/ppt/slideMasters/slideMaster1.xml" Id="Rfd5085635fd14f58" /><Relationship Type="http://schemas.openxmlformats.org/officeDocument/2006/relationships/notesMaster" Target="/ppt/notesMasters/notesMaster1.xml" Id="Re48b5bc534594633" /><Relationship Type="http://schemas.openxmlformats.org/officeDocument/2006/relationships/presProps" Target="/ppt/presProps.xml" Id="Reacd8940ff9b4866" /><Relationship Type="http://schemas.openxmlformats.org/officeDocument/2006/relationships/tableStyles" Target="/ppt/tableStyles.xml" Id="R085aa1d6ea444f29" /><Relationship Type="http://schemas.openxmlformats.org/officeDocument/2006/relationships/slide" Target="/ppt/slides/slide1.xml" Id="R6daf69d8e3dd4bb6" /><Relationship Type="http://schemas.openxmlformats.org/officeDocument/2006/relationships/slide" Target="/ppt/slides/slide2.xml" Id="Rfa49b174c70245b3" /><Relationship Type="http://schemas.openxmlformats.org/officeDocument/2006/relationships/slide" Target="/ppt/slides/slide3.xml" Id="Rd17f23fa04204e44" /><Relationship Type="http://schemas.openxmlformats.org/officeDocument/2006/relationships/slide" Target="/ppt/slides/slide4.xml" Id="Ra97f13bc708a4780" /><Relationship Type="http://schemas.openxmlformats.org/officeDocument/2006/relationships/slide" Target="/ppt/slides/slide5.xml" Id="Rc7ae51cbd13b47c3" /><Relationship Type="http://schemas.openxmlformats.org/officeDocument/2006/relationships/slide" Target="/ppt/slides/slide6.xml" Id="Rbc8f4d55b3e0423b" /><Relationship Type="http://schemas.openxmlformats.org/officeDocument/2006/relationships/slide" Target="/ppt/slides/slide7.xml" Id="Ra80e6dbbf9d54f29" /><Relationship Type="http://schemas.openxmlformats.org/officeDocument/2006/relationships/slide" Target="/ppt/slides/slide8.xml" Id="Rc50f3da7d5ee468c" /><Relationship Type="http://schemas.openxmlformats.org/officeDocument/2006/relationships/slide" Target="/ppt/slides/slide9.xml" Id="R98bc0ffb48a142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9ac736b6674e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92b464a1c84868" /><Relationship Type="http://schemas.openxmlformats.org/officeDocument/2006/relationships/notesMaster" Target="/ppt/notesMasters/notesMaster1.xml" Id="R754e418dc4f64b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4b9d544d7443ae" /><Relationship Type="http://schemas.openxmlformats.org/officeDocument/2006/relationships/notesMaster" Target="/ppt/notesMasters/notesMaster1.xml" Id="R842b784d664f4c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37cb35998f418e" /><Relationship Type="http://schemas.openxmlformats.org/officeDocument/2006/relationships/notesMaster" Target="/ppt/notesMasters/notesMaster1.xml" Id="R8eed077a12da46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c7bb4a61294afb" /><Relationship Type="http://schemas.openxmlformats.org/officeDocument/2006/relationships/notesMaster" Target="/ppt/notesMasters/notesMaster1.xml" Id="R8d1657a8d3c145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3ec9bc2b214329" /><Relationship Type="http://schemas.openxmlformats.org/officeDocument/2006/relationships/notesMaster" Target="/ppt/notesMasters/notesMaster1.xml" Id="R8e8fd8e3200c42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6783283dd148c2" /><Relationship Type="http://schemas.openxmlformats.org/officeDocument/2006/relationships/notesMaster" Target="/ppt/notesMasters/notesMaster1.xml" Id="R361f0e9637aa48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345d8548154486" /><Relationship Type="http://schemas.openxmlformats.org/officeDocument/2006/relationships/notesMaster" Target="/ppt/notesMasters/notesMaster1.xml" Id="R14ff63afc26847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aabba167f542f0" /><Relationship Type="http://schemas.openxmlformats.org/officeDocument/2006/relationships/notesMaster" Target="/ppt/notesMasters/notesMaster1.xml" Id="R192265bef1dc46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3f7d3e963e41f8" /><Relationship Type="http://schemas.openxmlformats.org/officeDocument/2006/relationships/notesMaster" Target="/ppt/notesMasters/notesMaster1.xml" Id="Raead9aa9358a4f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notebooks/10_agentic_rag.ipynb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notebooks/10_agentic_rag.ipynb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deterministic search function. It is still ordinary local TF-IDF retrieval; adding a tool description does not change how it ranks passages. What changes is who chooses the next query and whether another search is needed. The model requests an action, while application code executes it. The notebook intentionally exposes only a read-only corpus search. Discuss when this extra flexibility might help a question spanning policies, and when a fixed pipeline would already suffice. Compare measured gains with cost instead of assuming an agent is inherently better. Notebook reference: notebooks/10_agentic_rag.ipynb, Sections 1 and 8.</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Sections 1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SEARCH_TOOL and the actual search function together. The schema helps Claude form an appropriate request, while the dispatcher independently checks it. The function returns only positive lexical matches and truncates each passage to a bounded length. Empty results mean no lexical matches, not proof that the question is universally unanswerable. Tool descriptions are useful model instructions but are not authorization controls. A service must enforce the caller?s source permissions inside retrieval. Keep this distinction visible before discussing the tool-use protocol or a live model trace. Notebook reference: notebooks/10_agentic_rag.ipynb, Sections 1-3.</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Sections 1-3</a:t>
            </a:r>
          </a:p>
          <a:p xmlns:a="http://schemas.openxmlformats.org/drawingml/2006/main">
            <a:r>
              <a:t>https://platform.claude.com/docs/en/agents-and-tools/tool-use/define-tools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loop before calling it live. The assistant response can contain text and multiple tool-use blocks, so reducing it to plain text loses the identifiers required by the protocol. Each result refers back to request.id through tool_use_id. Results are sent in a user message before the next model response. Application errors also become results, allowing the model to observe that a request failed. These are client tools: Python runs the search on this machine. Claude does not independently execute the local function merely because its schema exists. Notebook reference: notebooks/10_agentic_rag.ipynb, Section 4.</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 4</a:t>
            </a:r>
          </a:p>
          <a:p xmlns:a="http://schemas.openxmlformats.org/drawingml/2006/main">
            <a:r>
              <a:t>https://platform.claude.com/docs/en/agents-and-tools/tool-use/handle-tool-calls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deterministic dispatcher checks without making API calls. The valid example exercises real retrieval, while the invalid examples verify input validation. Explain the explicit type(k) is int check: Python otherwise treats booleans as integers in many contexts. The dispatcher also rejects unknown fields and tool names. These are authored tests, not model-selected actions, so do not present them as an agent trace. The returned errors are structured and concise. Ask learners why schema documentation alone would not be enough if an application received malformed model output. Notebook reference: notebooks/10_agentic_rag.ipynb, Section 3 and boundary cases.</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 3 and boundary cases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run_agent and locate both counters. Counting failed attempts prevents repeated invalid requests from bypassing the local execution budget. Calls requested after the tool cap receive error results. The model-round cap separately bounds requests even when no useful progress occurs. A max_tokens response may contain an incomplete tool argument block, so the code returns without dispatching it. Explain that answered means a completed end-turn response followed nonempty evidence, not that every claim was verified. SDK retries may add HTTP attempts, so request rounds and network attempts are distinct concepts. Notebook reference: notebooks/10_agentic_rag.ipynb, Sections 4 and 6.</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Sections 4 and 6</a:t>
            </a:r>
          </a:p>
          <a:p xmlns:a="http://schemas.openxmlformats.org/drawingml/2006/main">
            <a:r>
              <a:t>https://platform.claude.com/docs/en/build-with-claude/handling-stop-reasons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may choose one broad search or several focused searches, so avoid promising a fixed sequence. Run the demo and read its actual events table. The direct Messages API loop bypasses the shared helper answer cache; rerunning it makes fresh requests. If no final answer exists, keep the status visible instead of treating a tool-use preamble as a result. Offline mode returns no model decisions or events and only demonstrates the dispatcher separately. Use the trace to explain which steps were chosen by Claude and which were enforced by Python. Notebook reference: notebooks/10_agentic_rag.ipynb, Section 5 and Presenter checkpoint.</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 5 and Presenter checkpoint</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a functioning tool loop from a dependable service. The protocol can be perfect while retrieval misses a policy or the model misstates a passage. A JSON schema restricts argument shape, but cannot grant access to private sources. The notebook exposes no consequential action tools, and adding such tools would require a different authorization design. Discuss session isolation, per-user spend limits, cancellation, provenance, and adversarial evaluation as remaining engineering work. These are service requirements, not claims that the teaching notebook already implements them. Notebook reference: notebooks/10_agentic_rag.ipynb, Sections 6 and 8.</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Sections 6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optional live experiment, disabled by default. The expected outcome depends on the actual first response: if it requests a search, no second round remains to consume the evidence and produce an answer. Keep the budget status visible and explain why no answer was returned. Invite a separate retry with the normal bound rather than raising it invisibly. Then compare agentic and ordinary RAG for the same question and evidence. The extra rounds are justified only when representative measurements show benefits that outweigh latency and token cost. Notebook reference: notebooks/10_agentic_rag.ipynb, Section 7.</a:t>
            </a:r>
          </a:p>
          <a:p xmlns:a="http://schemas.openxmlformats.org/drawingml/2006/main">
            <a:r>
              <a:t/>
            </a:r>
          </a:p>
          <a:p xmlns:a="http://schemas.openxmlformats.org/drawingml/2006/main">
            <a:r>
              <a:t>NOTEBOOK: notebooks/10_agentic_rag.ipynb</a:t>
            </a:r>
          </a:p>
          <a:p xmlns:a="http://schemas.openxmlformats.org/drawingml/2006/main">
            <a:r>
              <a:t/>
            </a:r>
          </a:p>
          <a:p xmlns:a="http://schemas.openxmlformats.org/drawingml/2006/main">
            <a:r>
              <a:t>SOURCES</a:t>
            </a:r>
          </a:p>
          <a:p xmlns:a="http://schemas.openxmlformats.org/drawingml/2006/main">
            <a:r>
              <a:t>notebooks/10_agentic_rag.ipynb - Section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0bf5ec1e2d49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c346f3af9b43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5f1d871d1548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22b77fe8254d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d1a69e6edd44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d42a8f4a7542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727333-78C3-4880-B173-D92E801CE8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9128C6-BA87-43DD-8539-6069333B27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ACAEFB-9DFC-4C84-81E4-A7C7EACE73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E70EE2-8733-493F-9C49-4DD53B3E4D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85C594-A781-4A8F-B2A9-3EAA2FE754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E485DC-4CF6-47C1-8FFC-C56140E682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F3EB7F-BD0C-45D8-99AF-2B2124FEA4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EC8D26F-F7FF-4AFB-943D-8C223661C2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9A97BF-4E76-40CE-B31D-36B0F208FC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2883F3-9E7E-42D6-A5BF-2EA643281D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1e6ab2b83446a8" /><Relationship Type="http://schemas.openxmlformats.org/officeDocument/2006/relationships/slideLayout" Target="/ppt/slideLayouts/slideLayout1.xml" Id="Rec6dace061704621" /><Relationship Type="http://schemas.openxmlformats.org/officeDocument/2006/relationships/slideLayout" Target="/ppt/slideLayouts/slideLayout2.xml" Id="R6b9f8eb60f274f61" /><Relationship Type="http://schemas.openxmlformats.org/officeDocument/2006/relationships/slideLayout" Target="/ppt/slideLayouts/slideLayout3.xml" Id="Rb978574e44564bbd" /><Relationship Type="http://schemas.openxmlformats.org/officeDocument/2006/relationships/slideLayout" Target="/ppt/slideLayouts/slideLayout4.xml" Id="R91bfbeac77964dd2" /><Relationship Type="http://schemas.openxmlformats.org/officeDocument/2006/relationships/slideLayout" Target="/ppt/slideLayouts/slideLayout5.xml" Id="R63e6a51d58a34b5f" /><Relationship Type="http://schemas.openxmlformats.org/officeDocument/2006/relationships/slideLayout" Target="/ppt/slideLayouts/slideLayout6.xml" Id="R8e46e2a0286e49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6dace061704621"/>
    <p:sldLayoutId xmlns:r="http://schemas.openxmlformats.org/officeDocument/2006/relationships" id="2147483650" r:id="R6b9f8eb60f274f61"/>
    <p:sldLayoutId xmlns:r="http://schemas.openxmlformats.org/officeDocument/2006/relationships" id="2147483651" r:id="Rb978574e44564bbd"/>
    <p:sldLayoutId xmlns:r="http://schemas.openxmlformats.org/officeDocument/2006/relationships" id="2147483652" r:id="R91bfbeac77964dd2"/>
    <p:sldLayoutId xmlns:r="http://schemas.openxmlformats.org/officeDocument/2006/relationships" id="2147483653" r:id="R63e6a51d58a34b5f"/>
    <p:sldLayoutId xmlns:r="http://schemas.openxmlformats.org/officeDocument/2006/relationships" id="2147483654" r:id="R8e46e2a0286e49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954cf4bd8c4283" /><Relationship Type="http://schemas.openxmlformats.org/officeDocument/2006/relationships/image" Target="/ppt/media/image.png" Id="R99adc6a2125149a3" /><Relationship Type="http://schemas.openxmlformats.org/officeDocument/2006/relationships/notesSlide" Target="/ppt/notesSlides/notesSlide1.xml" Id="R36d80c18396f46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0f4c094ddf421e" /><Relationship Type="http://schemas.openxmlformats.org/officeDocument/2006/relationships/notesSlide" Target="/ppt/notesSlides/notesSlide2.xml" Id="Rf87396b1de214e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518513a4894f09" /><Relationship Type="http://schemas.openxmlformats.org/officeDocument/2006/relationships/notesSlide" Target="/ppt/notesSlides/notesSlide3.xml" Id="R589a9bddf2fd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bc31330295497d" /><Relationship Type="http://schemas.openxmlformats.org/officeDocument/2006/relationships/notesSlide" Target="/ppt/notesSlides/notesSlide4.xml" Id="Rba555ae88c204a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d5d9b6badf4fe0" /><Relationship Type="http://schemas.openxmlformats.org/officeDocument/2006/relationships/notesSlide" Target="/ppt/notesSlides/notesSlide5.xml" Id="Rd04f5b70743e48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72efbceb2d43c7" /><Relationship Type="http://schemas.openxmlformats.org/officeDocument/2006/relationships/notesSlide" Target="/ppt/notesSlides/notesSlide6.xml" Id="R259807e5994f48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e1b0cbf10f4641" /><Relationship Type="http://schemas.openxmlformats.org/officeDocument/2006/relationships/notesSlide" Target="/ppt/notesSlides/notesSlide7.xml" Id="R340b3d95e0a746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3a3f4fbcf94519" /><Relationship Type="http://schemas.openxmlformats.org/officeDocument/2006/relationships/notesSlide" Target="/ppt/notesSlides/notesSlide8.xml" Id="R4e049c6f42384c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382bef922f42f1" /><Relationship Type="http://schemas.openxmlformats.org/officeDocument/2006/relationships/notesSlide" Target="/ppt/notesSlides/notesSlide9.xml" Id="R176819e16ad24b4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E11EB5E-9BA2-4080-80C8-8CF400462B87}"/>
              </a:ext>
            </a:extLst>
          </p:cNvPr>
          <p:cNvPicPr>
            <a:picLocks xmlns:a="http://schemas.openxmlformats.org/drawingml/2006/main" noChangeAspect="1"/>
          </p:cNvPicPr>
          <p:nvPr/>
        </p:nvPicPr>
        <p:blipFill>
          <a:blip xmlns:r="http://schemas.openxmlformats.org/officeDocument/2006/relationships" xmlns:a="http://schemas.openxmlformats.org/drawingml/2006/main" r:embed="R99adc6a2125149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068E1E35-49BB-4AA7-9C34-036F4CDC783F}"/>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10</a:t>
            </a:r>
          </a:p>
        </p:txBody>
      </p:sp>
      <p:sp>
        <p:nvSpPr>
          <p:cNvPr id="3" name="deck-title">
            <a:extLst xmlns:a="http://schemas.openxmlformats.org/drawingml/2006/main">
              <a:ext uri="{FF2B5EF4-FFF2-40B4-BE49-F238E27FC236}">
                <a16:creationId xmlns:a16="http://schemas.microsoft.com/office/drawing/2014/main" id="{6858F44C-ED6A-4771-867A-C35F13864A9C}"/>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Agentic RAG</a:t>
            </a:r>
          </a:p>
        </p:txBody>
      </p:sp>
      <p:sp>
        <p:nvSpPr>
          <p:cNvPr id="4" name="text">
            <a:extLst xmlns:a="http://schemas.openxmlformats.org/drawingml/2006/main">
              <a:ext uri="{FF2B5EF4-FFF2-40B4-BE49-F238E27FC236}">
                <a16:creationId xmlns:a16="http://schemas.microsoft.com/office/drawing/2014/main" id="{13DB73E7-BD9C-4C8A-A6D9-F03753B5BC58}"/>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Claude requests searches; Python validates and executes each tool call.</a:t>
            </a:r>
          </a:p>
        </p:txBody>
      </p:sp>
      <p:sp>
        <p:nvSpPr>
          <p:cNvPr id="5" name="text">
            <a:extLst xmlns:a="http://schemas.openxmlformats.org/drawingml/2006/main">
              <a:ext uri="{FF2B5EF4-FFF2-40B4-BE49-F238E27FC236}">
                <a16:creationId xmlns:a16="http://schemas.microsoft.com/office/drawing/2014/main" id="{9D1E9425-EADA-4AA4-A102-E32C26165FD5}"/>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10_agentic_rag.ipynb</a:t>
            </a:r>
          </a:p>
        </p:txBody>
      </p:sp>
    </p:spTree>
    <p:extLst>
      <p:ext uri="{BB962C8B-B14F-4D97-AF65-F5344CB8AC3E}">
        <p14:creationId xmlns:p14="http://schemas.microsoft.com/office/powerpoint/2010/main" val="1812102121"/>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6C9371F-55D6-46C4-87BC-9E0B012555D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10</a:t>
            </a:r>
          </a:p>
        </p:txBody>
      </p:sp>
      <p:sp>
        <p:nvSpPr>
          <p:cNvPr id="2" name="slide-title">
            <a:extLst xmlns:a="http://schemas.openxmlformats.org/drawingml/2006/main">
              <a:ext uri="{FF2B5EF4-FFF2-40B4-BE49-F238E27FC236}">
                <a16:creationId xmlns:a16="http://schemas.microsoft.com/office/drawing/2014/main" id="{9EE1F1E2-F3D2-431F-8907-82CE076118A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An agent adds choice to ordinary RAG</a:t>
            </a:r>
          </a:p>
        </p:txBody>
      </p:sp>
      <p:sp>
        <p:nvSpPr>
          <p:cNvPr id="3" name="lead">
            <a:extLst xmlns:a="http://schemas.openxmlformats.org/drawingml/2006/main">
              <a:ext uri="{FF2B5EF4-FFF2-40B4-BE49-F238E27FC236}">
                <a16:creationId xmlns:a16="http://schemas.microsoft.com/office/drawing/2014/main" id="{8495F600-2F12-46C8-8BF4-24822A935A9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Use iteration when the question benefits from different searches or refinement.</a:t>
            </a:r>
          </a:p>
        </p:txBody>
      </p:sp>
      <p:sp>
        <p:nvSpPr>
          <p:cNvPr id="4" name="text">
            <a:extLst xmlns:a="http://schemas.openxmlformats.org/drawingml/2006/main">
              <a:ext uri="{FF2B5EF4-FFF2-40B4-BE49-F238E27FC236}">
                <a16:creationId xmlns:a16="http://schemas.microsoft.com/office/drawing/2014/main" id="{0ABCF245-2088-4AC2-A82C-C374F4A0B44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D14690F8-EB45-47BE-9FBF-5376950BF40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A5CCF405-58C9-46CF-9D0B-35DF8EB3F973}"/>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Ordinary RAG</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 fixed pipeline retrieves evidence and then asks the model to answer.</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Agentic RAG</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The model may request one search, several focused searches, or another round.</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Python remains in control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Application code validates arguments and executes the search.</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Measured tradeoff</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Additional model rounds add latency, token usage, and failure modes.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2083744504"/>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0A6938D-47BA-46E2-9546-9B08139A832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10</a:t>
            </a:r>
          </a:p>
        </p:txBody>
      </p:sp>
      <p:sp>
        <p:nvSpPr>
          <p:cNvPr id="2" name="slide-title">
            <a:extLst xmlns:a="http://schemas.openxmlformats.org/drawingml/2006/main">
              <a:ext uri="{FF2B5EF4-FFF2-40B4-BE49-F238E27FC236}">
                <a16:creationId xmlns:a16="http://schemas.microsoft.com/office/drawing/2014/main" id="{D3220BCF-FAD3-468C-B022-68DF4313D6D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narrow schema describes the allowed action</a:t>
            </a:r>
          </a:p>
        </p:txBody>
      </p:sp>
      <p:sp>
        <p:nvSpPr>
          <p:cNvPr id="3" name="lead">
            <a:extLst xmlns:a="http://schemas.openxmlformats.org/drawingml/2006/main">
              <a:ext uri="{FF2B5EF4-FFF2-40B4-BE49-F238E27FC236}">
                <a16:creationId xmlns:a16="http://schemas.microsoft.com/office/drawing/2014/main" id="{C80CEC9C-A1B1-48CA-88C3-E9B78EBD1EE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tool accepts a focused query and a small result count.</a:t>
            </a:r>
          </a:p>
        </p:txBody>
      </p:sp>
      <p:sp>
        <p:nvSpPr>
          <p:cNvPr id="4" name="text">
            <a:extLst xmlns:a="http://schemas.openxmlformats.org/drawingml/2006/main">
              <a:ext uri="{FF2B5EF4-FFF2-40B4-BE49-F238E27FC236}">
                <a16:creationId xmlns:a16="http://schemas.microsoft.com/office/drawing/2014/main" id="{EBBD1D5F-248D-46F6-BC24-6B45F7499E7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A21DD77D-A000-45C9-B522-A8DB46F6147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sp>
        <p:nvSpPr>
          <p:cNvPr id="6" name="text">
            <a:extLst xmlns:a="http://schemas.openxmlformats.org/drawingml/2006/main">
              <a:ext uri="{FF2B5EF4-FFF2-40B4-BE49-F238E27FC236}">
                <a16:creationId xmlns:a16="http://schemas.microsoft.com/office/drawing/2014/main" id="{CA9EDC6C-C219-4B2E-8574-221DD2D3C353}"/>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Tool name</a:t>
            </a:r>
          </a:p>
        </p:txBody>
      </p:sp>
      <p:sp>
        <p:nvSpPr>
          <p:cNvPr id="7" name="text">
            <a:extLst xmlns:a="http://schemas.openxmlformats.org/drawingml/2006/main">
              <a:ext uri="{FF2B5EF4-FFF2-40B4-BE49-F238E27FC236}">
                <a16:creationId xmlns:a16="http://schemas.microsoft.com/office/drawing/2014/main" id="{67106672-169F-4D4B-A51A-2869D2D2761C}"/>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search_knowledge_base searches the fictional Northstar policy corpus.</a:t>
            </a:r>
          </a:p>
        </p:txBody>
      </p:sp>
      <p:sp>
        <p:nvSpPr>
          <p:cNvPr id="8" name="text">
            <a:extLst xmlns:a="http://schemas.openxmlformats.org/drawingml/2006/main">
              <a:ext uri="{FF2B5EF4-FFF2-40B4-BE49-F238E27FC236}">
                <a16:creationId xmlns:a16="http://schemas.microsoft.com/office/drawing/2014/main" id="{739C52D4-7DB9-48E9-98FA-5BF8DEE9AD8C}"/>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query</a:t>
            </a:r>
          </a:p>
        </p:txBody>
      </p:sp>
      <p:sp>
        <p:nvSpPr>
          <p:cNvPr id="9" name="text">
            <a:extLst xmlns:a="http://schemas.openxmlformats.org/drawingml/2006/main">
              <a:ext uri="{FF2B5EF4-FFF2-40B4-BE49-F238E27FC236}">
                <a16:creationId xmlns:a16="http://schemas.microsoft.com/office/drawing/2014/main" id="{0643EA78-4884-4181-8E39-C13EBB72998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Required nonempty string of at most 500 characters.</a:t>
            </a:r>
          </a:p>
        </p:txBody>
      </p:sp>
      <p:sp>
        <p:nvSpPr>
          <p:cNvPr id="10" name="text">
            <a:extLst xmlns:a="http://schemas.openxmlformats.org/drawingml/2006/main">
              <a:ext uri="{FF2B5EF4-FFF2-40B4-BE49-F238E27FC236}">
                <a16:creationId xmlns:a16="http://schemas.microsoft.com/office/drawing/2014/main" id="{2844F898-0E04-4999-A76B-617F62A67433}"/>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k</a:t>
            </a:r>
          </a:p>
        </p:txBody>
      </p:sp>
      <p:sp>
        <p:nvSpPr>
          <p:cNvPr id="11" name="text">
            <a:extLst xmlns:a="http://schemas.openxmlformats.org/drawingml/2006/main">
              <a:ext uri="{FF2B5EF4-FFF2-40B4-BE49-F238E27FC236}">
                <a16:creationId xmlns:a16="http://schemas.microsoft.com/office/drawing/2014/main" id="{169F6DC2-79A1-4B5D-93B7-F7C91C91EAF6}"/>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Optional integer from 1 to 5; default is 3.</a:t>
            </a:r>
          </a:p>
        </p:txBody>
      </p:sp>
      <p:sp>
        <p:nvSpPr>
          <p:cNvPr id="12" name="text">
            <a:extLst xmlns:a="http://schemas.openxmlformats.org/drawingml/2006/main">
              <a:ext uri="{FF2B5EF4-FFF2-40B4-BE49-F238E27FC236}">
                <a16:creationId xmlns:a16="http://schemas.microsoft.com/office/drawing/2014/main" id="{D4AD3A2E-1F0A-4E55-BFD0-C37DF497E08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Result</a:t>
            </a:r>
          </a:p>
        </p:txBody>
      </p:sp>
      <p:sp>
        <p:nvSpPr>
          <p:cNvPr id="13" name="text">
            <a:extLst xmlns:a="http://schemas.openxmlformats.org/drawingml/2006/main">
              <a:ext uri="{FF2B5EF4-FFF2-40B4-BE49-F238E27FC236}">
                <a16:creationId xmlns:a16="http://schemas.microsoft.com/office/drawing/2014/main" id="{5826CA93-C02D-43FD-8DEA-9DB70E6DD47E}"/>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list of chunk IDs, source IDs, passage text, and positive lexical scores.</a:t>
            </a:r>
          </a:p>
        </p:txBody>
      </p:sp>
    </p:spTree>
    <p:extLst>
      <p:ext uri="{BB962C8B-B14F-4D97-AF65-F5344CB8AC3E}">
        <p14:creationId xmlns:p14="http://schemas.microsoft.com/office/powerpoint/2010/main" val="993192021"/>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FF9DD18-902A-440B-90D0-EDA67FF2DF1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10</a:t>
            </a:r>
          </a:p>
        </p:txBody>
      </p:sp>
      <p:sp>
        <p:nvSpPr>
          <p:cNvPr id="2" name="slide-title">
            <a:extLst xmlns:a="http://schemas.openxmlformats.org/drawingml/2006/main">
              <a:ext uri="{FF2B5EF4-FFF2-40B4-BE49-F238E27FC236}">
                <a16:creationId xmlns:a16="http://schemas.microsoft.com/office/drawing/2014/main" id="{6189D2D1-90E5-4370-90EF-F82714CD467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Preserve the tool-use message protocol</a:t>
            </a:r>
          </a:p>
        </p:txBody>
      </p:sp>
      <p:sp>
        <p:nvSpPr>
          <p:cNvPr id="3" name="lead">
            <a:extLst xmlns:a="http://schemas.openxmlformats.org/drawingml/2006/main">
              <a:ext uri="{FF2B5EF4-FFF2-40B4-BE49-F238E27FC236}">
                <a16:creationId xmlns:a16="http://schemas.microsoft.com/office/drawing/2014/main" id="{DE82613D-6761-4051-8BA6-843C02F68AA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Every requested tool-use ID needs its matching result before the next assistant response.</a:t>
            </a:r>
          </a:p>
        </p:txBody>
      </p:sp>
      <p:sp>
        <p:nvSpPr>
          <p:cNvPr id="4" name="text">
            <a:extLst xmlns:a="http://schemas.openxmlformats.org/drawingml/2006/main">
              <a:ext uri="{FF2B5EF4-FFF2-40B4-BE49-F238E27FC236}">
                <a16:creationId xmlns:a16="http://schemas.microsoft.com/office/drawing/2014/main" id="{74D2A089-84E6-4CF3-A8B6-7FF842F56F8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D49F1528-2276-40F6-B989-1066047AD0A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graphicFrame>
        <p:nvGraphicFramePr>
          <p:cNvPr id="6" name="">
            <a:extLst xmlns:a="http://schemas.openxmlformats.org/drawingml/2006/main">
              <a:ext uri="{FF2B5EF4-FFF2-40B4-BE49-F238E27FC236}">
                <a16:creationId xmlns:a16="http://schemas.microsoft.com/office/drawing/2014/main" id="{8407BD00-225F-405F-86FC-73F192EF7696}"/>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Assistant response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Retain all text and tool_use content blocks returned by Claude.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Application dispatch</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Validate each name and argument object, then run allowed searches.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User tool results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Send one tool_result for each requested ID, including structured errors.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Next model round</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Claude reads the results and may answer or request another search.</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537952461"/>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A314061-49EA-4F9C-9FD5-5D4CE7CF8BB4}"/>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10</a:t>
            </a:r>
          </a:p>
        </p:txBody>
      </p:sp>
      <p:sp>
        <p:nvSpPr>
          <p:cNvPr id="2" name="slide-title">
            <a:extLst xmlns:a="http://schemas.openxmlformats.org/drawingml/2006/main">
              <a:ext uri="{FF2B5EF4-FFF2-40B4-BE49-F238E27FC236}">
                <a16:creationId xmlns:a16="http://schemas.microsoft.com/office/drawing/2014/main" id="{E429BFCB-048B-4B22-8EFD-440D0AF9141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Reject invalid requests at the dispatcher</a:t>
            </a:r>
          </a:p>
        </p:txBody>
      </p:sp>
      <p:sp>
        <p:nvSpPr>
          <p:cNvPr id="3" name="lead">
            <a:extLst xmlns:a="http://schemas.openxmlformats.org/drawingml/2006/main">
              <a:ext uri="{FF2B5EF4-FFF2-40B4-BE49-F238E27FC236}">
                <a16:creationId xmlns:a16="http://schemas.microsoft.com/office/drawing/2014/main" id="{ABC6AAE9-952D-4985-B1F4-99C894A7F2B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Model-generated arguments are untrusted inputs, even when the schema is clear.</a:t>
            </a:r>
          </a:p>
        </p:txBody>
      </p:sp>
      <p:sp>
        <p:nvSpPr>
          <p:cNvPr id="4" name="text">
            <a:extLst xmlns:a="http://schemas.openxmlformats.org/drawingml/2006/main">
              <a:ext uri="{FF2B5EF4-FFF2-40B4-BE49-F238E27FC236}">
                <a16:creationId xmlns:a16="http://schemas.microsoft.com/office/drawing/2014/main" id="{1BC4707D-68D6-44F2-BC81-57E0AE816FD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CA77EBF7-EA45-4749-81E5-B6C5CF4339F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0B1CD6ED-5366-4EAA-9ACA-A838F403C89A}"/>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Valid</a:t>
            </a:r>
          </a:p>
        </p:txBody>
      </p:sp>
      <p:sp>
        <p:nvSpPr>
          <p:cNvPr id="7" name="text">
            <a:extLst xmlns:a="http://schemas.openxmlformats.org/drawingml/2006/main">
              <a:ext uri="{FF2B5EF4-FFF2-40B4-BE49-F238E27FC236}">
                <a16:creationId xmlns:a16="http://schemas.microsoft.com/office/drawing/2014/main" id="{0B1249B6-B7A4-4143-9159-A63256ED5BA3}"/>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query = API rate limits, k = 2 returns up to 2 local results.</a:t>
            </a:r>
          </a:p>
        </p:txBody>
      </p:sp>
      <p:sp>
        <p:nvSpPr>
          <p:cNvPr id="8" name="text">
            <a:extLst xmlns:a="http://schemas.openxmlformats.org/drawingml/2006/main">
              <a:ext uri="{FF2B5EF4-FFF2-40B4-BE49-F238E27FC236}">
                <a16:creationId xmlns:a16="http://schemas.microsoft.com/office/drawing/2014/main" id="{F62D9B77-BC8E-4FCF-81B6-DF3318A508FE}"/>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Wrong type</a:t>
            </a:r>
          </a:p>
        </p:txBody>
      </p:sp>
      <p:sp>
        <p:nvSpPr>
          <p:cNvPr id="9" name="text">
            <a:extLst xmlns:a="http://schemas.openxmlformats.org/drawingml/2006/main">
              <a:ext uri="{FF2B5EF4-FFF2-40B4-BE49-F238E27FC236}">
                <a16:creationId xmlns:a16="http://schemas.microsoft.com/office/drawing/2014/main" id="{C2936723-EB87-48A4-99C2-9CFB46DCF97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 = True is rejected; Python booleans must not pass as integers here.</a:t>
            </a:r>
          </a:p>
        </p:txBody>
      </p:sp>
      <p:sp>
        <p:nvSpPr>
          <p:cNvPr id="10" name="text">
            <a:extLst xmlns:a="http://schemas.openxmlformats.org/drawingml/2006/main">
              <a:ext uri="{FF2B5EF4-FFF2-40B4-BE49-F238E27FC236}">
                <a16:creationId xmlns:a16="http://schemas.microsoft.com/office/drawing/2014/main" id="{2060E533-EC8E-460E-8309-83E68A225D8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Unknown fields</a:t>
            </a:r>
          </a:p>
        </p:txBody>
      </p:sp>
      <p:sp>
        <p:nvSpPr>
          <p:cNvPr id="11" name="text">
            <a:extLst xmlns:a="http://schemas.openxmlformats.org/drawingml/2006/main">
              <a:ext uri="{FF2B5EF4-FFF2-40B4-BE49-F238E27FC236}">
                <a16:creationId xmlns:a16="http://schemas.microsoft.com/office/drawing/2014/main" id="{D16385FF-BAA3-4C44-A1D1-B83E9B450F7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An extra argument or an unsupported tool name returns an error.</a:t>
            </a:r>
          </a:p>
        </p:txBody>
      </p:sp>
      <p:sp>
        <p:nvSpPr>
          <p:cNvPr id="12" name="text">
            <a:extLst xmlns:a="http://schemas.openxmlformats.org/drawingml/2006/main">
              <a:ext uri="{FF2B5EF4-FFF2-40B4-BE49-F238E27FC236}">
                <a16:creationId xmlns:a16="http://schemas.microsoft.com/office/drawing/2014/main" id="{00E5EE02-46B3-4BAC-9F71-AB5E666F4A47}"/>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Bounded query</a:t>
            </a:r>
          </a:p>
        </p:txBody>
      </p:sp>
      <p:sp>
        <p:nvSpPr>
          <p:cNvPr id="13" name="text">
            <a:extLst xmlns:a="http://schemas.openxmlformats.org/drawingml/2006/main">
              <a:ext uri="{FF2B5EF4-FFF2-40B4-BE49-F238E27FC236}">
                <a16:creationId xmlns:a16="http://schemas.microsoft.com/office/drawing/2014/main" id="{BE488622-6704-43A0-9117-2E3B43ED71C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Reject blank queries, more than 500 characters, and k outside 1-5.</a:t>
            </a:r>
          </a:p>
        </p:txBody>
      </p:sp>
    </p:spTree>
    <p:extLst>
      <p:ext uri="{BB962C8B-B14F-4D97-AF65-F5344CB8AC3E}">
        <p14:creationId xmlns:p14="http://schemas.microsoft.com/office/powerpoint/2010/main" val="1644561905"/>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2E01C6A-C6C1-491B-A374-53C6B6AF4BA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10</a:t>
            </a:r>
          </a:p>
        </p:txBody>
      </p:sp>
      <p:sp>
        <p:nvSpPr>
          <p:cNvPr id="2" name="slide-title">
            <a:extLst xmlns:a="http://schemas.openxmlformats.org/drawingml/2006/main">
              <a:ext uri="{FF2B5EF4-FFF2-40B4-BE49-F238E27FC236}">
                <a16:creationId xmlns:a16="http://schemas.microsoft.com/office/drawing/2014/main" id="{10391720-D3D2-49C7-9EE1-4D62670E6A5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Budgets create honest stopping conditions</a:t>
            </a:r>
          </a:p>
        </p:txBody>
      </p:sp>
      <p:sp>
        <p:nvSpPr>
          <p:cNvPr id="3" name="lead">
            <a:extLst xmlns:a="http://schemas.openxmlformats.org/drawingml/2006/main">
              <a:ext uri="{FF2B5EF4-FFF2-40B4-BE49-F238E27FC236}">
                <a16:creationId xmlns:a16="http://schemas.microsoft.com/office/drawing/2014/main" id="{D359DD44-2A65-4B49-9466-B1B7AC55EF2C}"/>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bounded failure is a valid outcome; a tool request is not a completed answer.</a:t>
            </a:r>
          </a:p>
        </p:txBody>
      </p:sp>
      <p:sp>
        <p:nvSpPr>
          <p:cNvPr id="4" name="text">
            <a:extLst xmlns:a="http://schemas.openxmlformats.org/drawingml/2006/main">
              <a:ext uri="{FF2B5EF4-FFF2-40B4-BE49-F238E27FC236}">
                <a16:creationId xmlns:a16="http://schemas.microsoft.com/office/drawing/2014/main" id="{41663B4A-9816-44AA-BA01-7553C06B0CE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20E4A5A5-96E4-4693-8102-F05D6AE66D1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22898F05-1C47-4A31-B899-5BD55900086F}"/>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Model budget</a:t>
            </a:r>
          </a:p>
        </p:txBody>
      </p:sp>
      <p:sp>
        <p:nvSpPr>
          <p:cNvPr id="7" name="text">
            <a:extLst xmlns:a="http://schemas.openxmlformats.org/drawingml/2006/main">
              <a:ext uri="{FF2B5EF4-FFF2-40B4-BE49-F238E27FC236}">
                <a16:creationId xmlns:a16="http://schemas.microsoft.com/office/drawing/2014/main" id="{C0FF7C32-3A96-4E49-8EEB-9A726AEED9BE}"/>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At most 3 model rounds in the normal demonstration.</a:t>
            </a:r>
          </a:p>
        </p:txBody>
      </p:sp>
      <p:sp>
        <p:nvSpPr>
          <p:cNvPr id="8" name="text">
            <a:extLst xmlns:a="http://schemas.openxmlformats.org/drawingml/2006/main">
              <a:ext uri="{FF2B5EF4-FFF2-40B4-BE49-F238E27FC236}">
                <a16:creationId xmlns:a16="http://schemas.microsoft.com/office/drawing/2014/main" id="{ED3C9205-DDA2-42D1-8261-627D060F3DA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Tool budget</a:t>
            </a:r>
          </a:p>
        </p:txBody>
      </p:sp>
      <p:sp>
        <p:nvSpPr>
          <p:cNvPr id="9" name="text">
            <a:extLst xmlns:a="http://schemas.openxmlformats.org/drawingml/2006/main">
              <a:ext uri="{FF2B5EF4-FFF2-40B4-BE49-F238E27FC236}">
                <a16:creationId xmlns:a16="http://schemas.microsoft.com/office/drawing/2014/main" id="{77D792CA-82C4-4057-B622-4D7750B432A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At most 4 local attempts, including invalid requests.</a:t>
            </a:r>
          </a:p>
        </p:txBody>
      </p:sp>
      <p:sp>
        <p:nvSpPr>
          <p:cNvPr id="10" name="text">
            <a:extLst xmlns:a="http://schemas.openxmlformats.org/drawingml/2006/main">
              <a:ext uri="{FF2B5EF4-FFF2-40B4-BE49-F238E27FC236}">
                <a16:creationId xmlns:a16="http://schemas.microsoft.com/office/drawing/2014/main" id="{9C488805-C028-4AA8-B6B1-5636AE988A35}"/>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Truncated response</a:t>
            </a:r>
          </a:p>
        </p:txBody>
      </p:sp>
      <p:sp>
        <p:nvSpPr>
          <p:cNvPr id="11" name="text">
            <a:extLst xmlns:a="http://schemas.openxmlformats.org/drawingml/2006/main">
              <a:ext uri="{FF2B5EF4-FFF2-40B4-BE49-F238E27FC236}">
                <a16:creationId xmlns:a16="http://schemas.microsoft.com/office/drawing/2014/main" id="{A3C6FB6D-CE7E-4CF3-BF3D-09183D0A425D}"/>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max_tokens stops the loop before any tool from that response is dispatched.</a:t>
            </a:r>
          </a:p>
        </p:txBody>
      </p:sp>
      <p:sp>
        <p:nvSpPr>
          <p:cNvPr id="12" name="text">
            <a:extLst xmlns:a="http://schemas.openxmlformats.org/drawingml/2006/main">
              <a:ext uri="{FF2B5EF4-FFF2-40B4-BE49-F238E27FC236}">
                <a16:creationId xmlns:a16="http://schemas.microsoft.com/office/drawing/2014/main" id="{248058DD-4203-4052-9003-A59CBA64A6FC}"/>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Final statuses</a:t>
            </a:r>
          </a:p>
        </p:txBody>
      </p:sp>
      <p:sp>
        <p:nvSpPr>
          <p:cNvPr id="13" name="text">
            <a:extLst xmlns:a="http://schemas.openxmlformats.org/drawingml/2006/main">
              <a:ext uri="{FF2B5EF4-FFF2-40B4-BE49-F238E27FC236}">
                <a16:creationId xmlns:a16="http://schemas.microsoft.com/office/drawing/2014/main" id="{9C82B8B6-6627-49AC-987A-51F08F4590E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answered, no_evidence, incomplete_max_tokens, or round_budget_exhausted reveal the outcome.</a:t>
            </a:r>
          </a:p>
        </p:txBody>
      </p:sp>
    </p:spTree>
    <p:extLst>
      <p:ext uri="{BB962C8B-B14F-4D97-AF65-F5344CB8AC3E}">
        <p14:creationId xmlns:p14="http://schemas.microsoft.com/office/powerpoint/2010/main" val="1938853474"/>
      </p:ext>
    </p:extLst>
  </p:cSld>
</p:sld>
</file>

<file path=ppt/slides/slide7.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E7FF144D-7E4D-4765-8A6C-5DCDF5F0BD0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10</a:t>
            </a:r>
          </a:p>
        </p:txBody>
      </p:sp>
      <p:sp>
        <p:nvSpPr>
          <p:cNvPr id="2" name="slide-title">
            <a:extLst xmlns:a="http://schemas.openxmlformats.org/drawingml/2006/main">
              <a:ext uri="{FF2B5EF4-FFF2-40B4-BE49-F238E27FC236}">
                <a16:creationId xmlns:a16="http://schemas.microsoft.com/office/drawing/2014/main" id="{1D6BA055-C540-403A-AD22-288E1ED34BF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inspect the real agent trace</a:t>
            </a:r>
          </a:p>
        </p:txBody>
      </p:sp>
      <p:sp>
        <p:nvSpPr>
          <p:cNvPr id="3" name="lead">
            <a:extLst xmlns:a="http://schemas.openxmlformats.org/drawingml/2006/main">
              <a:ext uri="{FF2B5EF4-FFF2-40B4-BE49-F238E27FC236}">
                <a16:creationId xmlns:a16="http://schemas.microsoft.com/office/drawing/2014/main" id="{D5A1074A-FB91-4ECB-9D6B-32DC2C41143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Ask a question spanning API limits, retention, and rate-limit handling.</a:t>
            </a:r>
          </a:p>
        </p:txBody>
      </p:sp>
      <p:sp>
        <p:nvSpPr>
          <p:cNvPr id="4" name="text">
            <a:extLst xmlns:a="http://schemas.openxmlformats.org/drawingml/2006/main">
              <a:ext uri="{FF2B5EF4-FFF2-40B4-BE49-F238E27FC236}">
                <a16:creationId xmlns:a16="http://schemas.microsoft.com/office/drawing/2014/main" id="{9A61267A-3466-4703-BB2A-E70C03C8084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AFF1FCC9-25D0-4339-9314-AA93273C5AC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E3CF5FEA-04C8-4B7D-AA84-D83AC0E087A2}"/>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6EDA3FE6-5790-4434-9106-AEBA9D5C897D}"/>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Question</a:t>
            </a:r>
          </a:p>
        </p:txBody>
      </p:sp>
      <p:sp>
        <p:nvSpPr>
          <p:cNvPr id="8" name="text">
            <a:extLst xmlns:a="http://schemas.openxmlformats.org/drawingml/2006/main">
              <a:ext uri="{FF2B5EF4-FFF2-40B4-BE49-F238E27FC236}">
                <a16:creationId xmlns:a16="http://schemas.microsoft.com/office/drawing/2014/main" id="{112A344F-C48C-4414-9521-A5D8B7735AF7}"/>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Compare Team and Enterprise API limits and retention. What happens above the limit?</a:t>
            </a:r>
          </a:p>
        </p:txBody>
      </p:sp>
      <p:sp>
        <p:nvSpPr>
          <p:cNvPr id="9" name="text">
            <a:extLst xmlns:a="http://schemas.openxmlformats.org/drawingml/2006/main">
              <a:ext uri="{FF2B5EF4-FFF2-40B4-BE49-F238E27FC236}">
                <a16:creationId xmlns:a16="http://schemas.microsoft.com/office/drawing/2014/main" id="{CDFB7BC0-67D3-4615-8439-5C335AA90676}"/>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263BC061-1B0A-4B42-B97A-9618EEDF7F41}"/>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Observe</a:t>
            </a:r>
          </a:p>
        </p:txBody>
      </p:sp>
      <p:sp>
        <p:nvSpPr>
          <p:cNvPr id="11" name="text">
            <a:extLst xmlns:a="http://schemas.openxmlformats.org/drawingml/2006/main">
              <a:ext uri="{FF2B5EF4-FFF2-40B4-BE49-F238E27FC236}">
                <a16:creationId xmlns:a16="http://schemas.microsoft.com/office/drawing/2014/main" id="{87A83E72-C308-4412-B0AB-C0C84F6D1373}"/>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Show requested tool count, tool errors, hit count, final status, and token usage.</a:t>
            </a:r>
          </a:p>
        </p:txBody>
      </p:sp>
      <p:sp>
        <p:nvSpPr>
          <p:cNvPr id="12" name="text">
            <a:extLst xmlns:a="http://schemas.openxmlformats.org/drawingml/2006/main">
              <a:ext uri="{FF2B5EF4-FFF2-40B4-BE49-F238E27FC236}">
                <a16:creationId xmlns:a16="http://schemas.microsoft.com/office/drawing/2014/main" id="{28AE44A1-2DD1-4756-9FE5-014DD82185B4}"/>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2262EA32-8AB0-45FC-8C1D-418FE2406832}"/>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Match IDs</a:t>
            </a:r>
          </a:p>
        </p:txBody>
      </p:sp>
      <p:sp>
        <p:nvSpPr>
          <p:cNvPr id="14" name="text">
            <a:extLst xmlns:a="http://schemas.openxmlformats.org/drawingml/2006/main">
              <a:ext uri="{FF2B5EF4-FFF2-40B4-BE49-F238E27FC236}">
                <a16:creationId xmlns:a16="http://schemas.microsoft.com/office/drawing/2014/main" id="{8A1C9ABE-BB8C-4269-95AC-59274BBAFE4C}"/>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Point to a real tool_use_id and the tool_result that answers it.</a:t>
            </a:r>
          </a:p>
        </p:txBody>
      </p:sp>
      <p:sp>
        <p:nvSpPr>
          <p:cNvPr id="15" name="text">
            <a:extLst xmlns:a="http://schemas.openxmlformats.org/drawingml/2006/main">
              <a:ext uri="{FF2B5EF4-FFF2-40B4-BE49-F238E27FC236}">
                <a16:creationId xmlns:a16="http://schemas.microsoft.com/office/drawing/2014/main" id="{28DAE07D-648D-4396-B4C4-56108DD68A42}"/>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383C0806-93B6-4142-B78F-DA60A34C5DE4}"/>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Evidence check</a:t>
            </a:r>
          </a:p>
        </p:txBody>
      </p:sp>
      <p:sp>
        <p:nvSpPr>
          <p:cNvPr id="17" name="text">
            <a:extLst xmlns:a="http://schemas.openxmlformats.org/drawingml/2006/main">
              <a:ext uri="{FF2B5EF4-FFF2-40B4-BE49-F238E27FC236}">
                <a16:creationId xmlns:a16="http://schemas.microsoft.com/office/drawing/2014/main" id="{8DA1FF59-C69F-41C5-B549-2DDB5FE04CF8}"/>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Read the passages and cited final answer; narrate only actions the trace shows.</a:t>
            </a:r>
          </a:p>
        </p:txBody>
      </p:sp>
    </p:spTree>
    <p:extLst>
      <p:ext uri="{BB962C8B-B14F-4D97-AF65-F5344CB8AC3E}">
        <p14:creationId xmlns:p14="http://schemas.microsoft.com/office/powerpoint/2010/main" val="1459825036"/>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1F39BDD-51D5-4D89-AEAC-97DDB17598E3}"/>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10</a:t>
            </a:r>
          </a:p>
        </p:txBody>
      </p:sp>
      <p:sp>
        <p:nvSpPr>
          <p:cNvPr id="2" name="slide-title">
            <a:extLst xmlns:a="http://schemas.openxmlformats.org/drawingml/2006/main">
              <a:ext uri="{FF2B5EF4-FFF2-40B4-BE49-F238E27FC236}">
                <a16:creationId xmlns:a16="http://schemas.microsoft.com/office/drawing/2014/main" id="{C8B2747C-DEBB-4C85-8C77-D415009F74F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Successful execution is not verified reasoning</a:t>
            </a:r>
          </a:p>
        </p:txBody>
      </p:sp>
      <p:sp>
        <p:nvSpPr>
          <p:cNvPr id="3" name="lead">
            <a:extLst xmlns:a="http://schemas.openxmlformats.org/drawingml/2006/main">
              <a:ext uri="{FF2B5EF4-FFF2-40B4-BE49-F238E27FC236}">
                <a16:creationId xmlns:a16="http://schemas.microsoft.com/office/drawing/2014/main" id="{6F940EC3-BC19-4193-B67D-D96BF65FDB69}"/>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Protocol correctness, evidence access, and answer support need different checks.</a:t>
            </a:r>
          </a:p>
        </p:txBody>
      </p:sp>
      <p:sp>
        <p:nvSpPr>
          <p:cNvPr id="4" name="text">
            <a:extLst xmlns:a="http://schemas.openxmlformats.org/drawingml/2006/main">
              <a:ext uri="{FF2B5EF4-FFF2-40B4-BE49-F238E27FC236}">
                <a16:creationId xmlns:a16="http://schemas.microsoft.com/office/drawing/2014/main" id="{619FDACB-FACC-4129-92A3-ADE0CDAB3B2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3674F354-AA6F-495D-A49B-976BF077F52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08</a:t>
            </a:r>
          </a:p>
        </p:txBody>
      </p:sp>
      <p:graphicFrame>
        <p:nvGraphicFramePr>
          <p:cNvPr id="6" name="">
            <a:extLst xmlns:a="http://schemas.openxmlformats.org/drawingml/2006/main">
              <a:ext uri="{FF2B5EF4-FFF2-40B4-BE49-F238E27FC236}">
                <a16:creationId xmlns:a16="http://schemas.microsoft.com/office/drawing/2014/main" id="{C5C3E7C4-FD4C-474A-8F5F-4BBCEDCFF6F7}"/>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Protocol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Preserve blocks and match every tool result to its request ID.</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Authorization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Enforce an authenticated principal inside retrieval in a real service.</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Evidence handling</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Treat returned passages as data, including hostile instructions inside documents.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Answer validation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An answered status does not establish that every claim follows from the evidence.</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631739018"/>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CCF57EDA-86F7-45C6-B677-A6A7131BC113}"/>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10</a:t>
            </a:r>
          </a:p>
        </p:txBody>
      </p:sp>
      <p:sp>
        <p:nvSpPr>
          <p:cNvPr id="2" name="slide-title">
            <a:extLst xmlns:a="http://schemas.openxmlformats.org/drawingml/2006/main">
              <a:ext uri="{FF2B5EF4-FFF2-40B4-BE49-F238E27FC236}">
                <a16:creationId xmlns:a16="http://schemas.microsoft.com/office/drawing/2014/main" id="{C8FADC38-BFF5-48EC-B041-A6DA8DF884F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show a one-round budget stop</a:t>
            </a:r>
          </a:p>
        </p:txBody>
      </p:sp>
      <p:sp>
        <p:nvSpPr>
          <p:cNvPr id="3" name="lead">
            <a:extLst xmlns:a="http://schemas.openxmlformats.org/drawingml/2006/main">
              <a:ext uri="{FF2B5EF4-FFF2-40B4-BE49-F238E27FC236}">
                <a16:creationId xmlns:a16="http://schemas.microsoft.com/office/drawing/2014/main" id="{445C035B-6569-478D-BBD1-F36450F275D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Observe what happens when a search request leaves no remaining model round to read its result.</a:t>
            </a:r>
          </a:p>
        </p:txBody>
      </p:sp>
      <p:sp>
        <p:nvSpPr>
          <p:cNvPr id="4" name="text">
            <a:extLst xmlns:a="http://schemas.openxmlformats.org/drawingml/2006/main">
              <a:ext uri="{FF2B5EF4-FFF2-40B4-BE49-F238E27FC236}">
                <a16:creationId xmlns:a16="http://schemas.microsoft.com/office/drawing/2014/main" id="{E3A69E16-10B3-4723-B6A5-2A6A23A371C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10  /  Agentic RAG</a:t>
            </a:r>
          </a:p>
        </p:txBody>
      </p:sp>
      <p:sp>
        <p:nvSpPr>
          <p:cNvPr id="5" name="page-number">
            <a:extLst xmlns:a="http://schemas.openxmlformats.org/drawingml/2006/main">
              <a:ext uri="{FF2B5EF4-FFF2-40B4-BE49-F238E27FC236}">
                <a16:creationId xmlns:a16="http://schemas.microsoft.com/office/drawing/2014/main" id="{3605D16B-9435-4396-A149-19743E30C1D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09F81D07-27EB-426A-8CC2-7148038A8B5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Try</a:t>
            </a:r>
          </a:p>
        </p:txBody>
      </p:sp>
      <p:sp>
        <p:nvSpPr>
          <p:cNvPr id="7" name="text">
            <a:extLst xmlns:a="http://schemas.openxmlformats.org/drawingml/2006/main">
              <a:ext uri="{FF2B5EF4-FFF2-40B4-BE49-F238E27FC236}">
                <a16:creationId xmlns:a16="http://schemas.microsoft.com/office/drawing/2014/main" id="{61F498F8-D089-45D7-B859-49C63D27798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Enable the optional exercise and call run_agent(question, max_rounds=1).</a:t>
            </a:r>
          </a:p>
        </p:txBody>
      </p:sp>
      <p:sp>
        <p:nvSpPr>
          <p:cNvPr id="8" name="text">
            <a:extLst xmlns:a="http://schemas.openxmlformats.org/drawingml/2006/main">
              <a:ext uri="{FF2B5EF4-FFF2-40B4-BE49-F238E27FC236}">
                <a16:creationId xmlns:a16="http://schemas.microsoft.com/office/drawing/2014/main" id="{901A8905-BC11-44CB-B9BA-B7F15655DBEE}"/>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Conditional result</a:t>
            </a:r>
          </a:p>
        </p:txBody>
      </p:sp>
      <p:sp>
        <p:nvSpPr>
          <p:cNvPr id="9" name="text">
            <a:extLst xmlns:a="http://schemas.openxmlformats.org/drawingml/2006/main">
              <a:ext uri="{FF2B5EF4-FFF2-40B4-BE49-F238E27FC236}">
                <a16:creationId xmlns:a16="http://schemas.microsoft.com/office/drawing/2014/main" id="{58BE2FD2-8F99-4347-8723-9C699CB1EB2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If round 1 requests a search, expect round_budget_exhausted.</a:t>
            </a:r>
          </a:p>
        </p:txBody>
      </p:sp>
      <p:sp>
        <p:nvSpPr>
          <p:cNvPr id="10" name="text">
            <a:extLst xmlns:a="http://schemas.openxmlformats.org/drawingml/2006/main">
              <a:ext uri="{FF2B5EF4-FFF2-40B4-BE49-F238E27FC236}">
                <a16:creationId xmlns:a16="http://schemas.microsoft.com/office/drawing/2014/main" id="{D8B866B6-CC65-4952-A1C5-C8546B67E58F}"/>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Keep it visible</a:t>
            </a:r>
          </a:p>
        </p:txBody>
      </p:sp>
      <p:sp>
        <p:nvSpPr>
          <p:cNvPr id="11" name="text">
            <a:extLst xmlns:a="http://schemas.openxmlformats.org/drawingml/2006/main">
              <a:ext uri="{FF2B5EF4-FFF2-40B4-BE49-F238E27FC236}">
                <a16:creationId xmlns:a16="http://schemas.microsoft.com/office/drawing/2014/main" id="{2C185198-F7C2-4814-A3D6-E2772F290A4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Do not silently increase the cap until an answer appears.</a:t>
            </a:r>
          </a:p>
        </p:txBody>
      </p:sp>
      <p:sp>
        <p:nvSpPr>
          <p:cNvPr id="12" name="text">
            <a:extLst xmlns:a="http://schemas.openxmlformats.org/drawingml/2006/main">
              <a:ext uri="{FF2B5EF4-FFF2-40B4-BE49-F238E27FC236}">
                <a16:creationId xmlns:a16="http://schemas.microsoft.com/office/drawing/2014/main" id="{7F9F1A1F-69B8-40CA-A1CD-5CA82AA97347}"/>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1965C3F5-4218-46D1-86A2-CBD5F9421F99}"/>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tool-use preamble is not a final evidence-based answer; compare with ordinary RAG.</a:t>
            </a:r>
          </a:p>
        </p:txBody>
      </p:sp>
    </p:spTree>
    <p:extLst>
      <p:ext uri="{BB962C8B-B14F-4D97-AF65-F5344CB8AC3E}">
        <p14:creationId xmlns:p14="http://schemas.microsoft.com/office/powerpoint/2010/main" val="1426549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2026-10-11T09:48:50.7180000Z</dcterms:created>
  <dcterms:modified xsi:type="dcterms:W3CDTF">2026-10-11T09:48:50.7180000Z</dcterms:modified>
</coreProperties>
</file>