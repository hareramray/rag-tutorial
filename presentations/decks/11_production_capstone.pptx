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9249e1c0b714686" /><Relationship Type="http://schemas.openxmlformats.org/officeDocument/2006/relationships/extended-properties" Target="/docProps/app.xml" Id="R62b9b2c129384f36" /><Relationship Type="http://schemas.openxmlformats.org/officeDocument/2006/relationships/officeDocument" Target="/ppt/presentation.xml" Id="R7554e3265cf7403f" /></Relationships>
</file>

<file path=ppt/presentation.xml><?xml version="1.0" encoding="utf-8"?>
<p:presentation xmlns:p="http://schemas.openxmlformats.org/presentationml/2006/main">
  <p:sldMasterIdLst>
    <p:sldMasterId xmlns:r="http://schemas.openxmlformats.org/officeDocument/2006/relationships" id="2147483648" r:id="Rf91d3a92a87845eb"/>
  </p:sldMasterIdLst>
  <p:notesMasterIdLst>
    <p:notesMasterId xmlns:r="http://schemas.openxmlformats.org/officeDocument/2006/relationships" r:id="R8b5ab39ef8334f52"/>
  </p:notesMasterIdLst>
  <p:sldIdLst>
    <p:sldId xmlns:r="http://schemas.openxmlformats.org/officeDocument/2006/relationships" id="256" r:id="R0a03c283f18d4ac5"/>
    <p:sldId xmlns:r="http://schemas.openxmlformats.org/officeDocument/2006/relationships" id="257" r:id="Rc2d70d7b098d4469"/>
    <p:sldId xmlns:r="http://schemas.openxmlformats.org/officeDocument/2006/relationships" id="258" r:id="R0dfc080e8ad04336"/>
    <p:sldId xmlns:r="http://schemas.openxmlformats.org/officeDocument/2006/relationships" id="259" r:id="R3ef9296feedc4bc4"/>
    <p:sldId xmlns:r="http://schemas.openxmlformats.org/officeDocument/2006/relationships" id="260" r:id="R16a0239e5af244db"/>
    <p:sldId xmlns:r="http://schemas.openxmlformats.org/officeDocument/2006/relationships" id="261" r:id="R8b8fdd713b714374"/>
    <p:sldId xmlns:r="http://schemas.openxmlformats.org/officeDocument/2006/relationships" id="262" r:id="R629b4763a0914408"/>
    <p:sldId xmlns:r="http://schemas.openxmlformats.org/officeDocument/2006/relationships" id="263" r:id="R78d34a6855c64093"/>
    <p:sldId xmlns:r="http://schemas.openxmlformats.org/officeDocument/2006/relationships" id="264" r:id="Re467b9e11b184d2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628f63e9c4d4535" /><Relationship Type="http://schemas.openxmlformats.org/officeDocument/2006/relationships/slideMaster" Target="/ppt/slideMasters/slideMaster1.xml" Id="Rf91d3a92a87845eb" /><Relationship Type="http://schemas.openxmlformats.org/officeDocument/2006/relationships/notesMaster" Target="/ppt/notesMasters/notesMaster1.xml" Id="R8b5ab39ef8334f52" /><Relationship Type="http://schemas.openxmlformats.org/officeDocument/2006/relationships/presProps" Target="/ppt/presProps.xml" Id="R435e7cd71b65485d" /><Relationship Type="http://schemas.openxmlformats.org/officeDocument/2006/relationships/tableStyles" Target="/ppt/tableStyles.xml" Id="Rb0abfbc7fb204038" /><Relationship Type="http://schemas.openxmlformats.org/officeDocument/2006/relationships/slide" Target="/ppt/slides/slide1.xml" Id="R0a03c283f18d4ac5" /><Relationship Type="http://schemas.openxmlformats.org/officeDocument/2006/relationships/slide" Target="/ppt/slides/slide2.xml" Id="Rc2d70d7b098d4469" /><Relationship Type="http://schemas.openxmlformats.org/officeDocument/2006/relationships/slide" Target="/ppt/slides/slide3.xml" Id="R0dfc080e8ad04336" /><Relationship Type="http://schemas.openxmlformats.org/officeDocument/2006/relationships/slide" Target="/ppt/slides/slide4.xml" Id="R3ef9296feedc4bc4" /><Relationship Type="http://schemas.openxmlformats.org/officeDocument/2006/relationships/slide" Target="/ppt/slides/slide5.xml" Id="R16a0239e5af244db" /><Relationship Type="http://schemas.openxmlformats.org/officeDocument/2006/relationships/slide" Target="/ppt/slides/slide6.xml" Id="R8b8fdd713b714374" /><Relationship Type="http://schemas.openxmlformats.org/officeDocument/2006/relationships/slide" Target="/ppt/slides/slide7.xml" Id="R629b4763a0914408" /><Relationship Type="http://schemas.openxmlformats.org/officeDocument/2006/relationships/slide" Target="/ppt/slides/slide8.xml" Id="R78d34a6855c64093" /><Relationship Type="http://schemas.openxmlformats.org/officeDocument/2006/relationships/slide" Target="/ppt/slides/slide9.xml" Id="Re467b9e11b184d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b1131a38454e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51af25880c42e0" /><Relationship Type="http://schemas.openxmlformats.org/officeDocument/2006/relationships/notesMaster" Target="/ppt/notesMasters/notesMaster1.xml" Id="Rb116650ee8c148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e57ad6fa064ca7" /><Relationship Type="http://schemas.openxmlformats.org/officeDocument/2006/relationships/notesMaster" Target="/ppt/notesMasters/notesMaster1.xml" Id="Rd610091303ea4a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c1ebf0e0dd4fcc" /><Relationship Type="http://schemas.openxmlformats.org/officeDocument/2006/relationships/notesMaster" Target="/ppt/notesMasters/notesMaster1.xml" Id="R43c89cf386144f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e996b6c164a4f92" /><Relationship Type="http://schemas.openxmlformats.org/officeDocument/2006/relationships/notesMaster" Target="/ppt/notesMasters/notesMaster1.xml" Id="R64003c80250641c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1fc7b462ccb45cd" /><Relationship Type="http://schemas.openxmlformats.org/officeDocument/2006/relationships/notesMaster" Target="/ppt/notesMasters/notesMaster1.xml" Id="Re6ef4bc1de2e49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75a384f3f5ef483a" /><Relationship Type="http://schemas.openxmlformats.org/officeDocument/2006/relationships/notesMaster" Target="/ppt/notesMasters/notesMaster1.xml" Id="Rceaa1f0329ee4c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ff847c35ef49e8" /><Relationship Type="http://schemas.openxmlformats.org/officeDocument/2006/relationships/notesMaster" Target="/ppt/notesMasters/notesMaster1.xml" Id="Rb9905c8785b44b50" /></Relationships>
</file>

<file path=ppt/notesSlides/_rels/notesSlide8.xml.rels>&#65279;<?xml version="1.0" encoding="utf-8"?><Relationships xmlns="http://schemas.openxmlformats.org/package/2006/relationships"><Relationship Type="http://schemas.openxmlformats.org/officeDocument/2006/relationships/slide" Target="/ppt/slides/slide8.xml" Id="Rae12b67a3ffb44fb" /><Relationship Type="http://schemas.openxmlformats.org/officeDocument/2006/relationships/notesMaster" Target="/ppt/notesMasters/notesMaster1.xml" Id="Re8f22d6278a34289" /></Relationships>
</file>

<file path=ppt/notesSlides/_rels/notesSlide9.xml.rels>&#65279;<?xml version="1.0" encoding="utf-8"?><Relationships xmlns="http://schemas.openxmlformats.org/package/2006/relationships"><Relationship Type="http://schemas.openxmlformats.org/officeDocument/2006/relationships/slide" Target="/ppt/slides/slide9.xml" Id="R0b23b62ad4de498b" /><Relationship Type="http://schemas.openxmlformats.org/officeDocument/2006/relationships/notesMaster" Target="/ppt/notesMasters/notesMaster1.xml" Id="R0aa57f5e956e42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notebooks/11_production_capstone.ipynb beside this presentation. This deck explains the notebook concepts and supports a live demonstration. Run cells in order from a fresh kernel. Keep retrieved evidence visible before discussing a generated answer. All Northstar Analytics examples are fictional.</a:t>
            </a:r>
          </a:p>
          <a:p xmlns:a="http://schemas.openxmlformats.org/drawingml/2006/main">
            <a:r>
              <a:t/>
            </a:r>
          </a:p>
          <a:p xmlns:a="http://schemas.openxmlformats.org/drawingml/2006/main">
            <a:r>
              <a:t>SOURCE: notebooks/11_production_capstone.ipynb</a:t>
            </a:r>
          </a:p>
          <a:p xmlns:a="http://schemas.openxmlformats.org/drawingml/2006/main">
            <a:r>
              <a:t>COVER: AI-generated abstract background, created for this course; decorative, not an architecture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capstone as an educational application-shaped pipeline, not a production security guarantee. The code combines earlier concepts and deliberately exposes intermediate states. A trusted identity determines source eligibility before retrieval. A lexical gate can reject weak matches, but cannot prove that a question is answerable. Generation has its own possible outcomes, including abstention or truncation. Citation validation then checks known IDs rather than claim truth. This separation makes failures diagnosable and prevents a single success label from hiding what the system actually measured. Notebook reference: notebooks/11_production_capstone.ipynb, Introduction and Section 5.</a:t>
            </a:r>
          </a:p>
          <a:p xmlns:a="http://schemas.openxmlformats.org/drawingml/2006/main">
            <a:r>
              <a:t/>
            </a:r>
          </a:p>
          <a:p xmlns:a="http://schemas.openxmlformats.org/drawingml/2006/main">
            <a:r>
              <a:t>NOTEBOOK: notebooks/11_production_capstone.ipynb</a:t>
            </a:r>
          </a:p>
          <a:p xmlns:a="http://schemas.openxmlformats.org/drawingml/2006/main">
            <a:r>
              <a:t/>
            </a:r>
          </a:p>
          <a:p xmlns:a="http://schemas.openxmlformats.org/drawingml/2006/main">
            <a:r>
              <a:t>SOURCES</a:t>
            </a:r>
          </a:p>
          <a:p xmlns:a="http://schemas.openxmlformats.org/drawingml/2006/main">
            <a:r>
              <a:t>notebooks/11_production_capstone.ipynb - Introduction and Section 5</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PRINCIPALS and authorized_documents before answering any question. These mappings are local teaching fixtures, not real authentication. The application must derive principal_id from a trusted session, not accept an arbitrary browser-supplied administrator name. Compare visitor and HR source sets for annual leave. The notebook builds a small index only from authorized documents, so restricted text never reaches the visitor search or prompt. At scale, enforce equivalent tenant, namespace, or metadata policies on the server. Asking an LLM to hide retrieved private text would occur after the boundary has already failed. Notebook reference: notebooks/11_production_capstone.ipynb, Sections 1-2.</a:t>
            </a:r>
          </a:p>
          <a:p xmlns:a="http://schemas.openxmlformats.org/drawingml/2006/main">
            <a:r>
              <a:t/>
            </a:r>
          </a:p>
          <a:p xmlns:a="http://schemas.openxmlformats.org/drawingml/2006/main">
            <a:r>
              <a:t>NOTEBOOK: notebooks/11_production_capstone.ipynb</a:t>
            </a:r>
          </a:p>
          <a:p xmlns:a="http://schemas.openxmlformats.org/drawingml/2006/main">
            <a:r>
              <a:t/>
            </a:r>
          </a:p>
          <a:p xmlns:a="http://schemas.openxmlformats.org/drawingml/2006/main">
            <a:r>
              <a:t>SOURCES</a:t>
            </a:r>
          </a:p>
          <a:p xmlns:a="http://schemas.openxmlformats.org/drawingml/2006/main">
            <a:r>
              <a:t>notebooks/11_production_capstone.ipynb - Sections 1-2</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cache_key and ask what would happen if it contained only the question. Two users could have different evidence permissions, and the same question could have a different answer after a policy update. The capstone hashes all demonstrated dependencies into a key. Its in-memory cache disappears on kernel restart. The shared helper disk cache is disabled so token accounting stays unambiguous. A deployed cache still needs size limits, expiry, protection, and deletion support. This demonstration shows dependency-aware identity, not a complete cache lifecycle or production privacy design. Notebook reference: notebooks/11_production_capstone.ipynb, Section 3.</a:t>
            </a:r>
          </a:p>
          <a:p xmlns:a="http://schemas.openxmlformats.org/drawingml/2006/main">
            <a:r>
              <a:t/>
            </a:r>
          </a:p>
          <a:p xmlns:a="http://schemas.openxmlformats.org/drawingml/2006/main">
            <a:r>
              <a:t>NOTEBOOK: notebooks/11_production_capstone.ipynb</a:t>
            </a:r>
          </a:p>
          <a:p xmlns:a="http://schemas.openxmlformats.org/drawingml/2006/main">
            <a:r>
              <a:t/>
            </a:r>
          </a:p>
          <a:p xmlns:a="http://schemas.openxmlformats.org/drawingml/2006/main">
            <a:r>
              <a:t>SOURCES</a:t>
            </a:r>
          </a:p>
          <a:p xmlns:a="http://schemas.openxmlformats.org/drawingml/2006/main">
            <a:r>
              <a:t>notebooks/11_production_capstone.ipynb - Section 3</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deliberately false citation example in Section 6. Explain that the brackets contain an actual selected ID, so validate_citation_ids can correctly report known identifiers while the sentence remains false. This is an effective practical distinction between citation formatting and entailment. The capstone also withholds drafts with missing or unknown IDs, which is useful but limited. Ask learners what additional review would be necessary to establish support for each claim. Anthropic native citations are a separate feature; the notebook implements transparent bracketed IDs for teaching, not that native feature. Notebook reference: notebooks/11_production_capstone.ipynb, Sections 4 and 6.</a:t>
            </a:r>
          </a:p>
          <a:p xmlns:a="http://schemas.openxmlformats.org/drawingml/2006/main">
            <a:r>
              <a:t/>
            </a:r>
          </a:p>
          <a:p xmlns:a="http://schemas.openxmlformats.org/drawingml/2006/main">
            <a:r>
              <a:t>NOTEBOOK: notebooks/11_production_capstone.ipynb</a:t>
            </a:r>
          </a:p>
          <a:p xmlns:a="http://schemas.openxmlformats.org/drawingml/2006/main">
            <a:r>
              <a:t/>
            </a:r>
          </a:p>
          <a:p xmlns:a="http://schemas.openxmlformats.org/drawingml/2006/main">
            <a:r>
              <a:t>SOURCES</a:t>
            </a:r>
          </a:p>
          <a:p xmlns:a="http://schemas.openxmlformats.org/drawingml/2006/main">
            <a:r>
              <a:t>notebooks/11_production_capstone.ipynb - Sections 4 and 6</a:t>
            </a:r>
          </a:p>
          <a:p xmlns:a="http://schemas.openxmlformats.org/drawingml/2006/main">
            <a:r>
              <a:t>https://platform.claude.com/docs/en/build-with-claude/citations</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Inspect capstone_answer and the request_log table. The lexical threshold is illustrative and uncalibrated, so a passage passing it may still fail to answer the question. Generation can abstain after reading the evidence. Truncated output is withheld, and offline skipped output is not cached as if it were a model answer. Timings separate retrieval and generation, which helps explain repeat-cache behavior. The log intentionally avoids questions, full documents, answers, credentials, and even question hashes. A deployed system still needs operational retention, monitoring, and access policies for its telemetry. Notebook reference: notebooks/11_production_capstone.ipynb, Sections 3 and 5.</a:t>
            </a:r>
          </a:p>
          <a:p xmlns:a="http://schemas.openxmlformats.org/drawingml/2006/main">
            <a:r>
              <a:t/>
            </a:r>
          </a:p>
          <a:p xmlns:a="http://schemas.openxmlformats.org/drawingml/2006/main">
            <a:r>
              <a:t>NOTEBOOK: notebooks/11_production_capstone.ipynb</a:t>
            </a:r>
          </a:p>
          <a:p xmlns:a="http://schemas.openxmlformats.org/drawingml/2006/main">
            <a:r>
              <a:t/>
            </a:r>
          </a:p>
          <a:p xmlns:a="http://schemas.openxmlformats.org/drawingml/2006/main">
            <a:r>
              <a:t>SOURCES</a:t>
            </a:r>
          </a:p>
          <a:p xmlns:a="http://schemas.openxmlformats.org/drawingml/2006/main">
            <a:r>
              <a:t>notebooks/11_production_capstone.ipynb - Sections 3 and 5</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from a fresh kernel so the cache state is explainable. Display selected source IDs, the generated answer, its status, and the request log together. The standard demo is bounded to at most two answer requests; the optional injection experiment is separate. In live mode, repeating a supported cached result reports no new model tokens. Offline generation remains skipped and is deliberately not answer-cached, so avoid promising a hit in that mode. The deterministic boundary checks can run without spending API credits and show properties of application logic rather than model quality. Notebook reference: notebooks/11_production_capstone.ipynb, Sections 2, 5, and 6.</a:t>
            </a:r>
          </a:p>
          <a:p xmlns:a="http://schemas.openxmlformats.org/drawingml/2006/main">
            <a:r>
              <a:t/>
            </a:r>
          </a:p>
          <a:p xmlns:a="http://schemas.openxmlformats.org/drawingml/2006/main">
            <a:r>
              <a:t>NOTEBOOK: notebooks/11_production_capstone.ipynb</a:t>
            </a:r>
          </a:p>
          <a:p xmlns:a="http://schemas.openxmlformats.org/drawingml/2006/main">
            <a:r>
              <a:t/>
            </a:r>
          </a:p>
          <a:p xmlns:a="http://schemas.openxmlformats.org/drawingml/2006/main">
            <a:r>
              <a:t>SOURCES</a:t>
            </a:r>
          </a:p>
          <a:p xmlns:a="http://schemas.openxmlformats.org/drawingml/2006/main">
            <a:r>
              <a:t>notebooks/11_production_capstone.ipynb - Sections 2, 5, and 6</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 the two experiments in Section 7. The empty corpus exercises a deterministic evidence gate, while the hostile fixture tests model behavior after adversarial content reaches retrieval. The system prompt treats passages as untrusted data, and the answering model has no execution tools or secrets exposed by this pipeline. These choices reduce some risks but do not make every hostile document harmless. If the live experiment is enabled, show the actual response and status without making a broad security claim. Representative adversarial testing remains additional engineering work. Notebook reference: notebooks/11_production_capstone.ipynb, Section 7.</a:t>
            </a:r>
          </a:p>
          <a:p xmlns:a="http://schemas.openxmlformats.org/drawingml/2006/main">
            <a:r>
              <a:t/>
            </a:r>
          </a:p>
          <a:p xmlns:a="http://schemas.openxmlformats.org/drawingml/2006/main">
            <a:r>
              <a:t>NOTEBOOK: notebooks/11_production_capstone.ipynb</a:t>
            </a:r>
          </a:p>
          <a:p xmlns:a="http://schemas.openxmlformats.org/drawingml/2006/main">
            <a:r>
              <a:t/>
            </a:r>
          </a:p>
          <a:p xmlns:a="http://schemas.openxmlformats.org/drawingml/2006/main">
            <a:r>
              <a:t>SOURCES</a:t>
            </a:r>
          </a:p>
          <a:p xmlns:a="http://schemas.openxmlformats.org/drawingml/2006/main">
            <a:r>
              <a:t>notebooks/11_production_capstone.ipynb - Section 7</a:t>
            </a:r>
          </a:p>
          <a:p xmlns:a="http://schemas.openxmlformats.org/drawingml/2006/main">
            <a:r>
              <a:t>https://platform.claude.com/docs/en/test-and-evaluate/strengthen-guardrails/mitigate-jailbreaks</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sample solution creates a revised Document rather than silently mutating the original corpus. Have learners inspect both source eligibility and cache identity after the classification change. A different hash alone is insufficient if retrieval still exposes the restricted source, so check both boundaries. Then add an unsupported question with plausible overlapping vocabulary and observe whether generation abstains. Before deployment, replace fixture identities with authentication, manage revocation and document lifecycle, isolate tenants, protect caches and logs, load-test limits, and evaluate answer support. The notebook is a reference for inspection, not a deployment certificate. Notebook reference: notebooks/11_production_capstone.ipynb, Exercise and Final live-demo checklist.</a:t>
            </a:r>
          </a:p>
          <a:p xmlns:a="http://schemas.openxmlformats.org/drawingml/2006/main">
            <a:r>
              <a:t/>
            </a:r>
          </a:p>
          <a:p xmlns:a="http://schemas.openxmlformats.org/drawingml/2006/main">
            <a:r>
              <a:t>NOTEBOOK: notebooks/11_production_capstone.ipynb</a:t>
            </a:r>
          </a:p>
          <a:p xmlns:a="http://schemas.openxmlformats.org/drawingml/2006/main">
            <a:r>
              <a:t/>
            </a:r>
          </a:p>
          <a:p xmlns:a="http://schemas.openxmlformats.org/drawingml/2006/main">
            <a:r>
              <a:t>SOURCES</a:t>
            </a:r>
          </a:p>
          <a:p xmlns:a="http://schemas.openxmlformats.org/drawingml/2006/main">
            <a:r>
              <a:t>notebooks/11_production_capstone.ipynb - Exercise and Final live-demo checklist</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0eccdec601408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c9add9dfddf49b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88866768a9c4a1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763566d76d6405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1d1453327ca495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7cd565a423d452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EE0180-E59C-45A7-977F-09E3B7C5647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8F177BE-E7C7-485D-ADDC-07DD2A4A46C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AD7EA0C-7AD2-457D-BBB6-9C97AE5A75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EE45CC-FAD2-41BC-A5E2-8352550FA0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A0AF990-BED5-4098-AB2A-DA370B7E2E9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F59D465-EC8D-43E7-8FFB-726207A78E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D727467-92E7-44A0-8ABC-F09223503BB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AAF2238-E6FF-46B7-9A6E-05D44DD0B7D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C76A8E-EDAA-4C62-9BBD-61F3CCCABA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1C6FDE-CCF9-4850-96F0-83A3FF85090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2de66161b445b5" /><Relationship Type="http://schemas.openxmlformats.org/officeDocument/2006/relationships/slideLayout" Target="/ppt/slideLayouts/slideLayout1.xml" Id="R092e1e63d50546be" /><Relationship Type="http://schemas.openxmlformats.org/officeDocument/2006/relationships/slideLayout" Target="/ppt/slideLayouts/slideLayout2.xml" Id="R7df3e6e86f47474e" /><Relationship Type="http://schemas.openxmlformats.org/officeDocument/2006/relationships/slideLayout" Target="/ppt/slideLayouts/slideLayout3.xml" Id="Rd56f6240c2b64283" /><Relationship Type="http://schemas.openxmlformats.org/officeDocument/2006/relationships/slideLayout" Target="/ppt/slideLayouts/slideLayout4.xml" Id="Rb0ed229200504158" /><Relationship Type="http://schemas.openxmlformats.org/officeDocument/2006/relationships/slideLayout" Target="/ppt/slideLayouts/slideLayout5.xml" Id="R3280ea4284584111" /><Relationship Type="http://schemas.openxmlformats.org/officeDocument/2006/relationships/slideLayout" Target="/ppt/slideLayouts/slideLayout6.xml" Id="R70c5a31b8a724d1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2e1e63d50546be"/>
    <p:sldLayoutId xmlns:r="http://schemas.openxmlformats.org/officeDocument/2006/relationships" id="2147483650" r:id="R7df3e6e86f47474e"/>
    <p:sldLayoutId xmlns:r="http://schemas.openxmlformats.org/officeDocument/2006/relationships" id="2147483651" r:id="Rd56f6240c2b64283"/>
    <p:sldLayoutId xmlns:r="http://schemas.openxmlformats.org/officeDocument/2006/relationships" id="2147483652" r:id="Rb0ed229200504158"/>
    <p:sldLayoutId xmlns:r="http://schemas.openxmlformats.org/officeDocument/2006/relationships" id="2147483653" r:id="R3280ea4284584111"/>
    <p:sldLayoutId xmlns:r="http://schemas.openxmlformats.org/officeDocument/2006/relationships" id="2147483654" r:id="R70c5a31b8a724d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8c096d76195446c" /><Relationship Type="http://schemas.openxmlformats.org/officeDocument/2006/relationships/image" Target="/ppt/media/image.png" Id="R17d7089f6fa441d7" /><Relationship Type="http://schemas.openxmlformats.org/officeDocument/2006/relationships/notesSlide" Target="/ppt/notesSlides/notesSlide1.xml" Id="R369b908f69c04aa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21c45ef680a4dc7" /><Relationship Type="http://schemas.openxmlformats.org/officeDocument/2006/relationships/notesSlide" Target="/ppt/notesSlides/notesSlide2.xml" Id="Rfeefbea547514c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50fe118a5054837" /><Relationship Type="http://schemas.openxmlformats.org/officeDocument/2006/relationships/notesSlide" Target="/ppt/notesSlides/notesSlide3.xml" Id="Re190b912ec6f446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d75121645ce4068" /><Relationship Type="http://schemas.openxmlformats.org/officeDocument/2006/relationships/notesSlide" Target="/ppt/notesSlides/notesSlide4.xml" Id="R46dad256b37643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8eacf8e5f204ec3" /><Relationship Type="http://schemas.openxmlformats.org/officeDocument/2006/relationships/notesSlide" Target="/ppt/notesSlides/notesSlide5.xml" Id="Rd849cd14c3b044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54e40354a244ffb" /><Relationship Type="http://schemas.openxmlformats.org/officeDocument/2006/relationships/notesSlide" Target="/ppt/notesSlides/notesSlide6.xml" Id="Rb3319b83188f421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103e692dbf44b52" /><Relationship Type="http://schemas.openxmlformats.org/officeDocument/2006/relationships/notesSlide" Target="/ppt/notesSlides/notesSlide7.xml" Id="R0e5f2ad98ec0475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29e2822b67642e2" /><Relationship Type="http://schemas.openxmlformats.org/officeDocument/2006/relationships/notesSlide" Target="/ppt/notesSlides/notesSlide8.xml" Id="Rac4f18fa84d2488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9281001bad74946" /><Relationship Type="http://schemas.openxmlformats.org/officeDocument/2006/relationships/notesSlide" Target="/ppt/notesSlides/notesSlide9.xml" Id="Ra07ff5db31f741d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D9896D93-104D-4A68-9F88-046BD151ED7E}"/>
              </a:ext>
            </a:extLst>
          </p:cNvPr>
          <p:cNvPicPr>
            <a:picLocks xmlns:a="http://schemas.openxmlformats.org/drawingml/2006/main" noChangeAspect="1"/>
          </p:cNvPicPr>
          <p:nvPr/>
        </p:nvPicPr>
        <p:blipFill>
          <a:blip xmlns:r="http://schemas.openxmlformats.org/officeDocument/2006/relationships" xmlns:a="http://schemas.openxmlformats.org/drawingml/2006/main" r:embed="R17d7089f6fa441d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
            <a:extLst xmlns:a="http://schemas.openxmlformats.org/drawingml/2006/main">
              <a:ext uri="{FF2B5EF4-FFF2-40B4-BE49-F238E27FC236}">
                <a16:creationId xmlns:a16="http://schemas.microsoft.com/office/drawing/2014/main" id="{04D47B80-17DA-47E1-988A-9F5FB5EAEC6B}"/>
              </a:ext>
            </a:extLst>
          </p:cNvPr>
          <p:cNvSpPr>
            <a:spLocks xmlns:a="http://schemas.openxmlformats.org/drawingml/2006/main" noGrp="1"/>
          </p:cNvSpPr>
          <p:nvPr/>
        </p:nvSpPr>
        <p:spPr>
          <a:xfrm xmlns:a="http://schemas.openxmlformats.org/drawingml/2006/main">
            <a:off x="609600" y="609600"/>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70D2CD"/>
                </a:solidFill>
                <a:latin typeface="Calibri"/>
                <a:ea typeface="Calibri"/>
                <a:cs typeface="Calibri"/>
              </a:defRPr>
            </a:defPPr>
          </a:lstStyle>
          <a:p xmlns:a="http://schemas.openxmlformats.org/drawingml/2006/main">
            <a:pPr>
              <a:defRPr sz="1575" b="1">
                <a:solidFill>
                  <a:srgbClr val="70D2CD"/>
                </a:solidFill>
                <a:latin typeface="Calibri"/>
                <a:ea typeface="Calibri"/>
                <a:cs typeface="Calibri"/>
              </a:defRPr>
            </a:pPr>
            <a:r>
              <a:rPr sz="1575" b="1">
                <a:solidFill>
                  <a:srgbClr val="70D2CD"/>
                </a:solidFill>
                <a:latin typeface="Calibri"/>
                <a:ea typeface="Calibri"/>
                <a:cs typeface="Calibri"/>
              </a:rPr>
              <a:t>RAG WORKSHOP  /  NOTEBOOK 11</a:t>
            </a:r>
          </a:p>
        </p:txBody>
      </p:sp>
      <p:sp>
        <p:nvSpPr>
          <p:cNvPr id="3" name="deck-title">
            <a:extLst xmlns:a="http://schemas.openxmlformats.org/drawingml/2006/main">
              <a:ext uri="{FF2B5EF4-FFF2-40B4-BE49-F238E27FC236}">
                <a16:creationId xmlns:a16="http://schemas.microsoft.com/office/drawing/2014/main" id="{1669EDC3-155F-4081-918D-B751DE5F838D}"/>
              </a:ext>
            </a:extLst>
          </p:cNvPr>
          <p:cNvSpPr>
            <a:spLocks xmlns:a="http://schemas.openxmlformats.org/drawingml/2006/main" noGrp="1"/>
          </p:cNvSpPr>
          <p:nvPr/>
        </p:nvSpPr>
        <p:spPr>
          <a:xfrm xmlns:a="http://schemas.openxmlformats.org/drawingml/2006/main">
            <a:off x="609600" y="2124075"/>
            <a:ext cx="80962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FFFFF"/>
                </a:solidFill>
                <a:latin typeface="Calibri"/>
                <a:ea typeface="Calibri"/>
                <a:cs typeface="Calibri"/>
              </a:defRPr>
            </a:defPPr>
          </a:lstStyle>
          <a:p xmlns:a="http://schemas.openxmlformats.org/drawingml/2006/main">
            <a:pPr>
              <a:defRPr sz="4800" b="1">
                <a:solidFill>
                  <a:srgbClr val="FFFFFF"/>
                </a:solidFill>
                <a:latin typeface="Calibri"/>
                <a:ea typeface="Calibri"/>
                <a:cs typeface="Calibri"/>
              </a:defRPr>
            </a:pPr>
            <a:r>
              <a:rPr sz="4800" b="1">
                <a:solidFill>
                  <a:srgbClr val="FFFFFF"/>
                </a:solidFill>
                <a:latin typeface="Calibri"/>
                <a:ea typeface="Calibri"/>
                <a:cs typeface="Calibri"/>
              </a:rPr>
              <a:t>RAG production capstone</a:t>
            </a:r>
          </a:p>
        </p:txBody>
      </p:sp>
      <p:sp>
        <p:nvSpPr>
          <p:cNvPr id="4" name="text">
            <a:extLst xmlns:a="http://schemas.openxmlformats.org/drawingml/2006/main">
              <a:ext uri="{FF2B5EF4-FFF2-40B4-BE49-F238E27FC236}">
                <a16:creationId xmlns:a16="http://schemas.microsoft.com/office/drawing/2014/main" id="{86301B3E-0F0B-4656-8E42-505EDA29777E}"/>
              </a:ext>
            </a:extLst>
          </p:cNvPr>
          <p:cNvSpPr>
            <a:spLocks xmlns:a="http://schemas.openxmlformats.org/drawingml/2006/main" noGrp="1"/>
          </p:cNvSpPr>
          <p:nvPr/>
        </p:nvSpPr>
        <p:spPr>
          <a:xfrm xmlns:a="http://schemas.openxmlformats.org/drawingml/2006/main">
            <a:off x="609600" y="4171950"/>
            <a:ext cx="733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CADBE3"/>
                </a:solidFill>
                <a:latin typeface="Calibri"/>
                <a:ea typeface="Calibri"/>
                <a:cs typeface="Calibri"/>
              </a:defRPr>
            </a:defPPr>
          </a:lstStyle>
          <a:p xmlns:a="http://schemas.openxmlformats.org/drawingml/2006/main">
            <a:pPr>
              <a:defRPr sz="2250" b="0">
                <a:solidFill>
                  <a:srgbClr val="CADBE3"/>
                </a:solidFill>
                <a:latin typeface="Calibri"/>
                <a:ea typeface="Calibri"/>
                <a:cs typeface="Calibri"/>
              </a:defRPr>
            </a:pPr>
            <a:r>
              <a:rPr sz="2250" b="0">
                <a:solidFill>
                  <a:srgbClr val="CADBE3"/>
                </a:solidFill>
                <a:latin typeface="Calibri"/>
                <a:ea typeface="Calibri"/>
                <a:cs typeface="Calibri"/>
              </a:rPr>
              <a:t>Inspect access boundaries, evidence gates, caching, and response status.</a:t>
            </a:r>
          </a:p>
        </p:txBody>
      </p:sp>
      <p:sp>
        <p:nvSpPr>
          <p:cNvPr id="5" name="text">
            <a:extLst xmlns:a="http://schemas.openxmlformats.org/drawingml/2006/main">
              <a:ext uri="{FF2B5EF4-FFF2-40B4-BE49-F238E27FC236}">
                <a16:creationId xmlns:a16="http://schemas.microsoft.com/office/drawing/2014/main" id="{053DE642-C681-4AC9-B6B0-5EDDE2A83FAC}"/>
              </a:ext>
            </a:extLst>
          </p:cNvPr>
          <p:cNvSpPr>
            <a:spLocks xmlns:a="http://schemas.openxmlformats.org/drawingml/2006/main" noGrp="1"/>
          </p:cNvSpPr>
          <p:nvPr/>
        </p:nvSpPr>
        <p:spPr>
          <a:xfrm xmlns:a="http://schemas.openxmlformats.org/drawingml/2006/main">
            <a:off x="609600" y="61817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AEC3D0"/>
                </a:solidFill>
                <a:latin typeface="Calibri"/>
                <a:ea typeface="Calibri"/>
                <a:cs typeface="Calibri"/>
              </a:defRPr>
            </a:defPPr>
          </a:lstStyle>
          <a:p xmlns:a="http://schemas.openxmlformats.org/drawingml/2006/main">
            <a:pPr>
              <a:defRPr sz="1575" b="0">
                <a:solidFill>
                  <a:srgbClr val="AEC3D0"/>
                </a:solidFill>
                <a:latin typeface="Calibri"/>
                <a:ea typeface="Calibri"/>
                <a:cs typeface="Calibri"/>
              </a:defRPr>
            </a:pPr>
            <a:r>
              <a:rPr sz="1575" b="0">
                <a:solidFill>
                  <a:srgbClr val="AEC3D0"/>
                </a:solidFill>
                <a:latin typeface="Calibri"/>
                <a:ea typeface="Calibri"/>
                <a:cs typeface="Calibri"/>
              </a:rPr>
              <a:t>11_production_capstone.ipynb</a:t>
            </a:r>
          </a:p>
        </p:txBody>
      </p:sp>
    </p:spTree>
    <p:extLst>
      <p:ext uri="{BB962C8B-B14F-4D97-AF65-F5344CB8AC3E}">
        <p14:creationId xmlns:p14="http://schemas.microsoft.com/office/powerpoint/2010/main" val="718836284"/>
      </p:ext>
    </p:extLst>
  </p:cSld>
</p:sld>
</file>

<file path=ppt/slides/slide2.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DC47746E-07F1-43CE-A666-BF77DDDA698D}"/>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WORKFLOW  /  NOTEBOOK 11</a:t>
            </a:r>
          </a:p>
        </p:txBody>
      </p:sp>
      <p:sp>
        <p:nvSpPr>
          <p:cNvPr id="2" name="slide-title">
            <a:extLst xmlns:a="http://schemas.openxmlformats.org/drawingml/2006/main">
              <a:ext uri="{FF2B5EF4-FFF2-40B4-BE49-F238E27FC236}">
                <a16:creationId xmlns:a16="http://schemas.microsoft.com/office/drawing/2014/main" id="{9090F8FB-4BE5-45F2-A1FD-135EC3C06459}"/>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An inspectable application pipeline</a:t>
            </a:r>
          </a:p>
        </p:txBody>
      </p:sp>
      <p:sp>
        <p:nvSpPr>
          <p:cNvPr id="3" name="lead">
            <a:extLst xmlns:a="http://schemas.openxmlformats.org/drawingml/2006/main">
              <a:ext uri="{FF2B5EF4-FFF2-40B4-BE49-F238E27FC236}">
                <a16:creationId xmlns:a16="http://schemas.microsoft.com/office/drawing/2014/main" id="{D75D5E58-C96A-4FAC-976C-3608200A4088}"/>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Make each decision visible, from identity to response status.</a:t>
            </a:r>
          </a:p>
        </p:txBody>
      </p:sp>
      <p:sp>
        <p:nvSpPr>
          <p:cNvPr id="4" name="text">
            <a:extLst xmlns:a="http://schemas.openxmlformats.org/drawingml/2006/main">
              <a:ext uri="{FF2B5EF4-FFF2-40B4-BE49-F238E27FC236}">
                <a16:creationId xmlns:a16="http://schemas.microsoft.com/office/drawing/2014/main" id="{6D63881B-E5AA-4EFE-A3D4-EF69C955795A}"/>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11  /  RAG production capstone</a:t>
            </a:r>
          </a:p>
        </p:txBody>
      </p:sp>
      <p:sp>
        <p:nvSpPr>
          <p:cNvPr id="5" name="page-number">
            <a:extLst xmlns:a="http://schemas.openxmlformats.org/drawingml/2006/main">
              <a:ext uri="{FF2B5EF4-FFF2-40B4-BE49-F238E27FC236}">
                <a16:creationId xmlns:a16="http://schemas.microsoft.com/office/drawing/2014/main" id="{C3AA9163-9C9A-4B70-AA94-C37797D1B7CE}"/>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02</a:t>
            </a:r>
          </a:p>
        </p:txBody>
      </p:sp>
      <p:graphicFrame>
        <p:nvGraphicFramePr>
          <p:cNvPr id="6" name="">
            <a:extLst xmlns:a="http://schemas.openxmlformats.org/drawingml/2006/main">
              <a:ext uri="{FF2B5EF4-FFF2-40B4-BE49-F238E27FC236}">
                <a16:creationId xmlns:a16="http://schemas.microsoft.com/office/drawing/2014/main" id="{E0D7BDE6-C248-4D33-921A-22E1B0DE4289}"/>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952500"/>
                <a:gridCol w="2800350"/>
                <a:gridCol w="7219950"/>
              </a:tblGrid>
              <a:tr h="466725">
                <a:tc>
                  <a:txBody>
                    <a:bodyPr wrap="square" lIns="133350" tIns="95250" rIns="133350" bIns="95250">
                      <a:noAutofit/>
                    </a:bodyPr>
                    <a:lstStyle/>
                    <a:p>
                      <a:r>
                        <a:rPr sz="1800" b="1">
                          <a:solidFill>
                            <a:srgbClr val="FFFFFF"/>
                          </a:solidFill>
                          <a:latin typeface="Calibri"/>
                          <a:ea typeface="Calibri"/>
                          <a:cs typeface="Calibri"/>
                        </a:rPr>
                        <a:t>Step</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Operation</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What to inspect</a:t>
                      </a:r>
                    </a:p>
                  </a:txBody>
                  <a:tcPr marL="91440" marR="91440" marT="45720" marB="45720">
                    <a:solidFill>
                      <a:srgbClr val="102F3E"/>
                    </a:solidFill>
                  </a:tcPr>
                </a:tc>
              </a:tr>
              <a:tr h="812006">
                <a:tc>
                  <a:txBody>
                    <a:bodyPr wrap="square" lIns="133350" tIns="95250" rIns="133350" bIns="95250">
                      <a:noAutofit/>
                    </a:bodyPr>
                    <a:lstStyle/>
                    <a:p>
                      <a:r>
                        <a:rPr sz="1875" b="0">
                          <a:solidFill>
                            <a:srgbClr val="102F3E"/>
                          </a:solidFill>
                          <a:latin typeface="Calibri"/>
                          <a:ea typeface="Calibri"/>
                          <a:cs typeface="Calibri"/>
                        </a:rPr>
                        <a:t>01</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Principal and policy</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Resolve a trusted identity and select permitted source documents.</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02</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Retrieval and gate</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Search eligible text, then reject absent or very weak lexical evidence.</a:t>
                      </a:r>
                    </a:p>
                  </a:txBody>
                  <a:tcPr marL="91440" marR="91440" marT="45720" marB="45720">
                    <a:solidFill>
                      <a:srgbClr val="EDF2F1"/>
                    </a:solidFill>
                  </a:tcPr>
                </a:tc>
              </a:tr>
              <a:tr h="812006">
                <a:tc>
                  <a:txBody>
                    <a:bodyPr wrap="square" lIns="133350" tIns="95250" rIns="133350" bIns="95250">
                      <a:noAutofit/>
                    </a:bodyPr>
                    <a:lstStyle/>
                    <a:p>
                      <a:r>
                        <a:rPr sz="1875" b="0">
                          <a:solidFill>
                            <a:srgbClr val="102F3E"/>
                          </a:solidFill>
                          <a:latin typeface="Calibri"/>
                          <a:ea typeface="Calibri"/>
                          <a:cs typeface="Calibri"/>
                        </a:rPr>
                        <a:t>03</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Generation and validation</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Ask Claude from evidence; inspect truncation, abstention, and citation IDs.</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04</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Measured response</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Return status, source IDs, timing, token usage, and application cache behavior.</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1351019358"/>
      </p:ext>
    </p:extLst>
  </p:cSld>
</p:sld>
</file>

<file path=ppt/slides/slide3.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D526D50A-EF58-46D2-9532-E2D9006FEF98}"/>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COMPARISON  /  NOTEBOOK 11</a:t>
            </a:r>
          </a:p>
        </p:txBody>
      </p:sp>
      <p:sp>
        <p:nvSpPr>
          <p:cNvPr id="2" name="slide-title">
            <a:extLst xmlns:a="http://schemas.openxmlformats.org/drawingml/2006/main">
              <a:ext uri="{FF2B5EF4-FFF2-40B4-BE49-F238E27FC236}">
                <a16:creationId xmlns:a16="http://schemas.microsoft.com/office/drawing/2014/main" id="{7E619145-825F-4096-814F-F12AB1662FF7}"/>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Source visibility is application policy</a:t>
            </a:r>
          </a:p>
        </p:txBody>
      </p:sp>
      <p:sp>
        <p:nvSpPr>
          <p:cNvPr id="3" name="lead">
            <a:extLst xmlns:a="http://schemas.openxmlformats.org/drawingml/2006/main">
              <a:ext uri="{FF2B5EF4-FFF2-40B4-BE49-F238E27FC236}">
                <a16:creationId xmlns:a16="http://schemas.microsoft.com/office/drawing/2014/main" id="{E2D8D2B4-4753-49CF-9D1A-B9A76E17E214}"/>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Filter before retrieval and before any private passage enters the prompt.</a:t>
            </a:r>
          </a:p>
        </p:txBody>
      </p:sp>
      <p:sp>
        <p:nvSpPr>
          <p:cNvPr id="4" name="text">
            <a:extLst xmlns:a="http://schemas.openxmlformats.org/drawingml/2006/main">
              <a:ext uri="{FF2B5EF4-FFF2-40B4-BE49-F238E27FC236}">
                <a16:creationId xmlns:a16="http://schemas.microsoft.com/office/drawing/2014/main" id="{537109F1-07B8-4BE4-B48A-91F45B0ACD57}"/>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11  /  RAG production capstone</a:t>
            </a:r>
          </a:p>
        </p:txBody>
      </p:sp>
      <p:sp>
        <p:nvSpPr>
          <p:cNvPr id="5" name="page-number">
            <a:extLst xmlns:a="http://schemas.openxmlformats.org/drawingml/2006/main">
              <a:ext uri="{FF2B5EF4-FFF2-40B4-BE49-F238E27FC236}">
                <a16:creationId xmlns:a16="http://schemas.microsoft.com/office/drawing/2014/main" id="{5F35324F-9142-46FE-A469-B96C3B7A9639}"/>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03</a:t>
            </a:r>
          </a:p>
        </p:txBody>
      </p:sp>
      <p:graphicFrame>
        <p:nvGraphicFramePr>
          <p:cNvPr id="6" name="">
            <a:extLst xmlns:a="http://schemas.openxmlformats.org/drawingml/2006/main">
              <a:ext uri="{FF2B5EF4-FFF2-40B4-BE49-F238E27FC236}">
                <a16:creationId xmlns:a16="http://schemas.microsoft.com/office/drawing/2014/main" id="{EE4C60EB-274A-4196-979D-4CF9E79A4708}"/>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3333750"/>
                <a:gridCol w="7639050"/>
              </a:tblGrid>
              <a:tr h="466725">
                <a:tc>
                  <a:txBody>
                    <a:bodyPr wrap="square" lIns="133350" tIns="95250" rIns="133350" bIns="95250">
                      <a:noAutofit/>
                    </a:bodyPr>
                    <a:lstStyle/>
                    <a:p>
                      <a:r>
                        <a:rPr sz="1800" b="1">
                          <a:solidFill>
                            <a:srgbClr val="FFFFFF"/>
                          </a:solidFill>
                          <a:latin typeface="Calibri"/>
                          <a:ea typeface="Calibri"/>
                          <a:cs typeface="Calibri"/>
                        </a:rPr>
                        <a:t>Concept</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Meaning in this lesson</a:t>
                      </a:r>
                    </a:p>
                  </a:txBody>
                  <a:tcPr marL="91440" marR="91440" marT="45720" marB="45720">
                    <a:solidFill>
                      <a:srgbClr val="102F3E"/>
                    </a:solidFill>
                  </a:tcPr>
                </a:tc>
              </a:tr>
              <a:tr h="812006">
                <a:tc>
                  <a:txBody>
                    <a:bodyPr wrap="square" lIns="133350" tIns="95250" rIns="133350" bIns="95250">
                      <a:noAutofit/>
                    </a:bodyPr>
                    <a:lstStyle/>
                    <a:p>
                      <a:r>
                        <a:rPr sz="1875" b="1">
                          <a:solidFill>
                            <a:srgbClr val="102F3E"/>
                          </a:solidFill>
                          <a:latin typeface="Calibri"/>
                          <a:ea typeface="Calibri"/>
                          <a:cs typeface="Calibri"/>
                        </a:rPr>
                        <a:t>Public</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The teaching policy exposes plan, API, refund, and support pages.</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Internal</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General company policies are visible to the corresponding staff fixture.</a:t>
                      </a:r>
                    </a:p>
                  </a:txBody>
                  <a:tcPr marL="91440" marR="91440" marT="45720" marB="45720">
                    <a:solidFill>
                      <a:srgbClr val="EDF2F1"/>
                    </a:solidFill>
                  </a:tcPr>
                </a:tc>
              </a:tr>
              <a:tr h="812006">
                <a:tc>
                  <a:txBody>
                    <a:bodyPr wrap="square" lIns="133350" tIns="95250" rIns="133350" bIns="95250">
                      <a:noAutofit/>
                    </a:bodyPr>
                    <a:lstStyle/>
                    <a:p>
                      <a:r>
                        <a:rPr sz="1875" b="1">
                          <a:solidFill>
                            <a:srgbClr val="102F3E"/>
                          </a:solidFill>
                          <a:latin typeface="Calibri"/>
                          <a:ea typeface="Calibri"/>
                          <a:cs typeface="Calibri"/>
                        </a:rPr>
                        <a:t>Restricted</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Benefits details are available to the HR fixture and excluded for visitors.</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Fail closed</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Unknown identities and unrecognized classifications do not gain access.</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1903140117"/>
      </p:ext>
    </p:extLst>
  </p:cSld>
</p:sld>
</file>

<file path=ppt/slides/slide4.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5209366E-2B89-4BDD-9B79-2D0A108B7100}"/>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11</a:t>
            </a:r>
          </a:p>
        </p:txBody>
      </p:sp>
      <p:sp>
        <p:nvSpPr>
          <p:cNvPr id="2" name="slide-title">
            <a:extLst xmlns:a="http://schemas.openxmlformats.org/drawingml/2006/main">
              <a:ext uri="{FF2B5EF4-FFF2-40B4-BE49-F238E27FC236}">
                <a16:creationId xmlns:a16="http://schemas.microsoft.com/office/drawing/2014/main" id="{2A02C202-CFE1-47DE-B95B-DA3CDD255D5B}"/>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Cache identity must include answer dependencies</a:t>
            </a:r>
          </a:p>
        </p:txBody>
      </p:sp>
      <p:sp>
        <p:nvSpPr>
          <p:cNvPr id="3" name="lead">
            <a:extLst xmlns:a="http://schemas.openxmlformats.org/drawingml/2006/main">
              <a:ext uri="{FF2B5EF4-FFF2-40B4-BE49-F238E27FC236}">
                <a16:creationId xmlns:a16="http://schemas.microsoft.com/office/drawing/2014/main" id="{712867F4-035F-4133-A25F-422A9697B658}"/>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 cached answer can become invalid when content, permissions, prompts, or models change.</a:t>
            </a:r>
          </a:p>
        </p:txBody>
      </p:sp>
      <p:sp>
        <p:nvSpPr>
          <p:cNvPr id="4" name="text">
            <a:extLst xmlns:a="http://schemas.openxmlformats.org/drawingml/2006/main">
              <a:ext uri="{FF2B5EF4-FFF2-40B4-BE49-F238E27FC236}">
                <a16:creationId xmlns:a16="http://schemas.microsoft.com/office/drawing/2014/main" id="{25E9D846-E819-43A1-A310-EDC650583719}"/>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11  /  RAG production capstone</a:t>
            </a:r>
          </a:p>
        </p:txBody>
      </p:sp>
      <p:sp>
        <p:nvSpPr>
          <p:cNvPr id="5" name="page-number">
            <a:extLst xmlns:a="http://schemas.openxmlformats.org/drawingml/2006/main">
              <a:ext uri="{FF2B5EF4-FFF2-40B4-BE49-F238E27FC236}">
                <a16:creationId xmlns:a16="http://schemas.microsoft.com/office/drawing/2014/main" id="{2F45C27F-75F2-4422-B926-EAFAAC10D879}"/>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04</a:t>
            </a:r>
          </a:p>
        </p:txBody>
      </p:sp>
      <p:sp>
        <p:nvSpPr>
          <p:cNvPr id="6" name="text">
            <a:extLst xmlns:a="http://schemas.openxmlformats.org/drawingml/2006/main">
              <a:ext uri="{FF2B5EF4-FFF2-40B4-BE49-F238E27FC236}">
                <a16:creationId xmlns:a16="http://schemas.microsoft.com/office/drawing/2014/main" id="{0B1B9B70-2B6D-4FE1-9DA8-036514E54FCF}"/>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Caller scope</a:t>
            </a:r>
          </a:p>
        </p:txBody>
      </p:sp>
      <p:sp>
        <p:nvSpPr>
          <p:cNvPr id="7" name="text">
            <a:extLst xmlns:a="http://schemas.openxmlformats.org/drawingml/2006/main">
              <a:ext uri="{FF2B5EF4-FFF2-40B4-BE49-F238E27FC236}">
                <a16:creationId xmlns:a16="http://schemas.microsoft.com/office/drawing/2014/main" id="{D3B21391-1889-463F-81C6-67A9D12BB9D7}"/>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Include principal and allowed visibility in the cache key.</a:t>
            </a:r>
          </a:p>
        </p:txBody>
      </p:sp>
      <p:sp>
        <p:nvSpPr>
          <p:cNvPr id="8" name="text">
            <a:extLst xmlns:a="http://schemas.openxmlformats.org/drawingml/2006/main">
              <a:ext uri="{FF2B5EF4-FFF2-40B4-BE49-F238E27FC236}">
                <a16:creationId xmlns:a16="http://schemas.microsoft.com/office/drawing/2014/main" id="{9EA12701-9119-4797-B05A-58E09B5126F7}"/>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Corpus identity</a:t>
            </a:r>
          </a:p>
        </p:txBody>
      </p:sp>
      <p:sp>
        <p:nvSpPr>
          <p:cNvPr id="9" name="text">
            <a:extLst xmlns:a="http://schemas.openxmlformats.org/drawingml/2006/main">
              <a:ext uri="{FF2B5EF4-FFF2-40B4-BE49-F238E27FC236}">
                <a16:creationId xmlns:a16="http://schemas.microsoft.com/office/drawing/2014/main" id="{71F1B801-F85A-40AB-A0B8-4736A95C52AA}"/>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Hash source text and metadata, including classification changes.</a:t>
            </a:r>
          </a:p>
        </p:txBody>
      </p:sp>
      <p:sp>
        <p:nvSpPr>
          <p:cNvPr id="10" name="text">
            <a:extLst xmlns:a="http://schemas.openxmlformats.org/drawingml/2006/main">
              <a:ext uri="{FF2B5EF4-FFF2-40B4-BE49-F238E27FC236}">
                <a16:creationId xmlns:a16="http://schemas.microsoft.com/office/drawing/2014/main" id="{6922356A-0A4F-4641-BC6F-58375914FE59}"/>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Pipeline identity</a:t>
            </a:r>
          </a:p>
        </p:txBody>
      </p:sp>
      <p:sp>
        <p:nvSpPr>
          <p:cNvPr id="11" name="text">
            <a:extLst xmlns:a="http://schemas.openxmlformats.org/drawingml/2006/main">
              <a:ext uri="{FF2B5EF4-FFF2-40B4-BE49-F238E27FC236}">
                <a16:creationId xmlns:a16="http://schemas.microsoft.com/office/drawing/2014/main" id="{8C297FC9-1EE2-4739-B7C2-434C9ACD7B05}"/>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Include retrieval settings, threshold, model, prompt version, and policy version.</a:t>
            </a:r>
          </a:p>
        </p:txBody>
      </p:sp>
      <p:sp>
        <p:nvSpPr>
          <p:cNvPr id="12" name="text">
            <a:extLst xmlns:a="http://schemas.openxmlformats.org/drawingml/2006/main">
              <a:ext uri="{FF2B5EF4-FFF2-40B4-BE49-F238E27FC236}">
                <a16:creationId xmlns:a16="http://schemas.microsoft.com/office/drawing/2014/main" id="{B329B360-C162-4346-851E-3C60938FEEEA}"/>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Visible accounting</a:t>
            </a:r>
          </a:p>
        </p:txBody>
      </p:sp>
      <p:sp>
        <p:nvSpPr>
          <p:cNvPr id="13" name="text">
            <a:extLst xmlns:a="http://schemas.openxmlformats.org/drawingml/2006/main">
              <a:ext uri="{FF2B5EF4-FFF2-40B4-BE49-F238E27FC236}">
                <a16:creationId xmlns:a16="http://schemas.microsoft.com/office/drawing/2014/main" id="{D4C3B95C-E497-4541-9FC6-74FF41F4CD76}"/>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Use an in-memory answer cache; repeat hits report zero new model tokens.</a:t>
            </a:r>
          </a:p>
        </p:txBody>
      </p:sp>
    </p:spTree>
    <p:extLst>
      <p:ext uri="{BB962C8B-B14F-4D97-AF65-F5344CB8AC3E}">
        <p14:creationId xmlns:p14="http://schemas.microsoft.com/office/powerpoint/2010/main" val="551848705"/>
      </p:ext>
    </p:extLst>
  </p:cSld>
</p:sld>
</file>

<file path=ppt/slides/slide5.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FAE97FC0-B83C-4B8D-BCDD-2DC1A2217EF2}"/>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EXAMPLE  /  NOTEBOOK 11</a:t>
            </a:r>
          </a:p>
        </p:txBody>
      </p:sp>
      <p:sp>
        <p:nvSpPr>
          <p:cNvPr id="2" name="slide-title">
            <a:extLst xmlns:a="http://schemas.openxmlformats.org/drawingml/2006/main">
              <a:ext uri="{FF2B5EF4-FFF2-40B4-BE49-F238E27FC236}">
                <a16:creationId xmlns:a16="http://schemas.microsoft.com/office/drawing/2014/main" id="{75284983-79A8-4AF6-AA12-B81C631E145A}"/>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A real citation ID can accompany a false claim</a:t>
            </a:r>
          </a:p>
        </p:txBody>
      </p:sp>
      <p:sp>
        <p:nvSpPr>
          <p:cNvPr id="3" name="lead">
            <a:extLst xmlns:a="http://schemas.openxmlformats.org/drawingml/2006/main">
              <a:ext uri="{FF2B5EF4-FFF2-40B4-BE49-F238E27FC236}">
                <a16:creationId xmlns:a16="http://schemas.microsoft.com/office/drawing/2014/main" id="{A4232A02-B1FB-400F-B71C-33A65134C6D6}"/>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Citation format checks provenance identifiers, not whether a claim is supported.</a:t>
            </a:r>
          </a:p>
        </p:txBody>
      </p:sp>
      <p:sp>
        <p:nvSpPr>
          <p:cNvPr id="4" name="text">
            <a:extLst xmlns:a="http://schemas.openxmlformats.org/drawingml/2006/main">
              <a:ext uri="{FF2B5EF4-FFF2-40B4-BE49-F238E27FC236}">
                <a16:creationId xmlns:a16="http://schemas.microsoft.com/office/drawing/2014/main" id="{90D63F91-28B5-4785-A8DD-CBC55EAD4243}"/>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11  /  RAG production capstone</a:t>
            </a:r>
          </a:p>
        </p:txBody>
      </p:sp>
      <p:sp>
        <p:nvSpPr>
          <p:cNvPr id="5" name="page-number">
            <a:extLst xmlns:a="http://schemas.openxmlformats.org/drawingml/2006/main">
              <a:ext uri="{FF2B5EF4-FFF2-40B4-BE49-F238E27FC236}">
                <a16:creationId xmlns:a16="http://schemas.microsoft.com/office/drawing/2014/main" id="{9E659B44-6B56-4F17-9398-006520100715}"/>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05</a:t>
            </a:r>
          </a:p>
        </p:txBody>
      </p:sp>
      <p:sp>
        <p:nvSpPr>
          <p:cNvPr id="6" name="text">
            <a:extLst xmlns:a="http://schemas.openxmlformats.org/drawingml/2006/main">
              <a:ext uri="{FF2B5EF4-FFF2-40B4-BE49-F238E27FC236}">
                <a16:creationId xmlns:a16="http://schemas.microsoft.com/office/drawing/2014/main" id="{6D40B1C5-287D-444B-B6FE-A9DCD63F6441}"/>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False authored claim</a:t>
            </a:r>
          </a:p>
        </p:txBody>
      </p:sp>
      <p:sp>
        <p:nvSpPr>
          <p:cNvPr id="7" name="text">
            <a:extLst xmlns:a="http://schemas.openxmlformats.org/drawingml/2006/main">
              <a:ext uri="{FF2B5EF4-FFF2-40B4-BE49-F238E27FC236}">
                <a16:creationId xmlns:a16="http://schemas.microsoft.com/office/drawing/2014/main" id="{FD026C6E-FA5B-4853-8CA3-16A7B4A54F77}"/>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The Team plan allows infinite requests [a retrieved chunk ID].</a:t>
            </a:r>
          </a:p>
        </p:txBody>
      </p:sp>
      <p:sp>
        <p:nvSpPr>
          <p:cNvPr id="8" name="text">
            <a:extLst xmlns:a="http://schemas.openxmlformats.org/drawingml/2006/main">
              <a:ext uri="{FF2B5EF4-FFF2-40B4-BE49-F238E27FC236}">
                <a16:creationId xmlns:a16="http://schemas.microsoft.com/office/drawing/2014/main" id="{285F76CC-7F77-43DC-89C4-CB6F610410E2}"/>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ID check result</a:t>
            </a:r>
          </a:p>
        </p:txBody>
      </p:sp>
      <p:sp>
        <p:nvSpPr>
          <p:cNvPr id="9" name="text">
            <a:extLst xmlns:a="http://schemas.openxmlformats.org/drawingml/2006/main">
              <a:ext uri="{FF2B5EF4-FFF2-40B4-BE49-F238E27FC236}">
                <a16:creationId xmlns:a16="http://schemas.microsoft.com/office/drawing/2014/main" id="{67F1FB1C-6043-48E2-99DF-3B607BA6B8B8}"/>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The identifier can pass because it exists in the selected evidence.</a:t>
            </a:r>
          </a:p>
        </p:txBody>
      </p:sp>
      <p:sp>
        <p:nvSpPr>
          <p:cNvPr id="10" name="text">
            <a:extLst xmlns:a="http://schemas.openxmlformats.org/drawingml/2006/main">
              <a:ext uri="{FF2B5EF4-FFF2-40B4-BE49-F238E27FC236}">
                <a16:creationId xmlns:a16="http://schemas.microsoft.com/office/drawing/2014/main" id="{3D29CB68-8FFA-4EDC-86BC-D2ABAA215FB6}"/>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Actual corpus fact</a:t>
            </a:r>
          </a:p>
        </p:txBody>
      </p:sp>
      <p:sp>
        <p:nvSpPr>
          <p:cNvPr id="11" name="text">
            <a:extLst xmlns:a="http://schemas.openxmlformats.org/drawingml/2006/main">
              <a:ext uri="{FF2B5EF4-FFF2-40B4-BE49-F238E27FC236}">
                <a16:creationId xmlns:a16="http://schemas.microsoft.com/office/drawing/2014/main" id="{73EFE0B3-ABBB-4EF9-A87A-C4AE56558B21}"/>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The Team API limit is 600 requests per minute.</a:t>
            </a:r>
          </a:p>
        </p:txBody>
      </p:sp>
      <p:sp>
        <p:nvSpPr>
          <p:cNvPr id="12" name="text">
            <a:extLst xmlns:a="http://schemas.openxmlformats.org/drawingml/2006/main">
              <a:ext uri="{FF2B5EF4-FFF2-40B4-BE49-F238E27FC236}">
                <a16:creationId xmlns:a16="http://schemas.microsoft.com/office/drawing/2014/main" id="{C8DD51C3-D3A2-4AB0-9DDE-A9C5DD8EBEA1}"/>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Correct interpretation</a:t>
            </a:r>
          </a:p>
        </p:txBody>
      </p:sp>
      <p:sp>
        <p:nvSpPr>
          <p:cNvPr id="13" name="text">
            <a:extLst xmlns:a="http://schemas.openxmlformats.org/drawingml/2006/main">
              <a:ext uri="{FF2B5EF4-FFF2-40B4-BE49-F238E27FC236}">
                <a16:creationId xmlns:a16="http://schemas.microsoft.com/office/drawing/2014/main" id="{9BD5011A-71C5-4BEA-BAE6-73EC4B88B6FC}"/>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citation_ids_valid means known IDs; it must not be renamed verified answer.</a:t>
            </a:r>
          </a:p>
        </p:txBody>
      </p:sp>
    </p:spTree>
    <p:extLst>
      <p:ext uri="{BB962C8B-B14F-4D97-AF65-F5344CB8AC3E}">
        <p14:creationId xmlns:p14="http://schemas.microsoft.com/office/powerpoint/2010/main" val="1088728354"/>
      </p:ext>
    </p:extLst>
  </p:cSld>
</p:sld>
</file>

<file path=ppt/slides/slide6.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8673CBDD-AE10-43F2-B4EE-7BD89C205265}"/>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11</a:t>
            </a:r>
          </a:p>
        </p:txBody>
      </p:sp>
      <p:sp>
        <p:nvSpPr>
          <p:cNvPr id="2" name="slide-title">
            <a:extLst xmlns:a="http://schemas.openxmlformats.org/drawingml/2006/main">
              <a:ext uri="{FF2B5EF4-FFF2-40B4-BE49-F238E27FC236}">
                <a16:creationId xmlns:a16="http://schemas.microsoft.com/office/drawing/2014/main" id="{46FDF6E2-E791-42D0-A67A-21FF3C38E388}"/>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Return honest statuses and focused telemetry</a:t>
            </a:r>
          </a:p>
        </p:txBody>
      </p:sp>
      <p:sp>
        <p:nvSpPr>
          <p:cNvPr id="3" name="lead">
            <a:extLst xmlns:a="http://schemas.openxmlformats.org/drawingml/2006/main">
              <a:ext uri="{FF2B5EF4-FFF2-40B4-BE49-F238E27FC236}">
                <a16:creationId xmlns:a16="http://schemas.microsoft.com/office/drawing/2014/main" id="{B3FA1A9F-C572-4DBD-A7DA-807813C9FC11}"/>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Keep skipped, incomplete, unsupported, and review-needed outcomes distinct.</a:t>
            </a:r>
          </a:p>
        </p:txBody>
      </p:sp>
      <p:sp>
        <p:nvSpPr>
          <p:cNvPr id="4" name="text">
            <a:extLst xmlns:a="http://schemas.openxmlformats.org/drawingml/2006/main">
              <a:ext uri="{FF2B5EF4-FFF2-40B4-BE49-F238E27FC236}">
                <a16:creationId xmlns:a16="http://schemas.microsoft.com/office/drawing/2014/main" id="{7DCF7772-BEB3-4876-99FA-3621CCB21575}"/>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11  /  RAG production capstone</a:t>
            </a:r>
          </a:p>
        </p:txBody>
      </p:sp>
      <p:sp>
        <p:nvSpPr>
          <p:cNvPr id="5" name="page-number">
            <a:extLst xmlns:a="http://schemas.openxmlformats.org/drawingml/2006/main">
              <a:ext uri="{FF2B5EF4-FFF2-40B4-BE49-F238E27FC236}">
                <a16:creationId xmlns:a16="http://schemas.microsoft.com/office/drawing/2014/main" id="{8C5C62A4-0AB3-4C36-AD40-8625CC17D95B}"/>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06</a:t>
            </a:r>
          </a:p>
        </p:txBody>
      </p:sp>
      <p:sp>
        <p:nvSpPr>
          <p:cNvPr id="6" name="text">
            <a:extLst xmlns:a="http://schemas.openxmlformats.org/drawingml/2006/main">
              <a:ext uri="{FF2B5EF4-FFF2-40B4-BE49-F238E27FC236}">
                <a16:creationId xmlns:a16="http://schemas.microsoft.com/office/drawing/2014/main" id="{1F1CFF4D-DEC7-4469-8D82-D5579A636BAC}"/>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Abstained</a:t>
            </a:r>
          </a:p>
        </p:txBody>
      </p:sp>
      <p:sp>
        <p:nvSpPr>
          <p:cNvPr id="7" name="text">
            <a:extLst xmlns:a="http://schemas.openxmlformats.org/drawingml/2006/main">
              <a:ext uri="{FF2B5EF4-FFF2-40B4-BE49-F238E27FC236}">
                <a16:creationId xmlns:a16="http://schemas.microsoft.com/office/drawing/2014/main" id="{7CE223E9-43E4-45CE-B692-616101E100D2}"/>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No sufficient evidence or a model response explicitly declining to answer.</a:t>
            </a:r>
          </a:p>
        </p:txBody>
      </p:sp>
      <p:sp>
        <p:nvSpPr>
          <p:cNvPr id="8" name="text">
            <a:extLst xmlns:a="http://schemas.openxmlformats.org/drawingml/2006/main">
              <a:ext uri="{FF2B5EF4-FFF2-40B4-BE49-F238E27FC236}">
                <a16:creationId xmlns:a16="http://schemas.microsoft.com/office/drawing/2014/main" id="{6209FAD5-4173-401F-8315-EBF886BB22ED}"/>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Needs review</a:t>
            </a:r>
          </a:p>
        </p:txBody>
      </p:sp>
      <p:sp>
        <p:nvSpPr>
          <p:cNvPr id="9" name="text">
            <a:extLst xmlns:a="http://schemas.openxmlformats.org/drawingml/2006/main">
              <a:ext uri="{FF2B5EF4-FFF2-40B4-BE49-F238E27FC236}">
                <a16:creationId xmlns:a16="http://schemas.microsoft.com/office/drawing/2014/main" id="{36BC80AA-C8CE-49BC-B67C-86AF6F2C89A5}"/>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The generated draft has missing or unknown citation IDs and is withheld.</a:t>
            </a:r>
          </a:p>
        </p:txBody>
      </p:sp>
      <p:sp>
        <p:nvSpPr>
          <p:cNvPr id="10" name="text">
            <a:extLst xmlns:a="http://schemas.openxmlformats.org/drawingml/2006/main">
              <a:ext uri="{FF2B5EF4-FFF2-40B4-BE49-F238E27FC236}">
                <a16:creationId xmlns:a16="http://schemas.microsoft.com/office/drawing/2014/main" id="{80D55571-B821-4827-8076-CD3C2077063D}"/>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Incomplete or skipped</a:t>
            </a:r>
          </a:p>
        </p:txBody>
      </p:sp>
      <p:sp>
        <p:nvSpPr>
          <p:cNvPr id="11" name="text">
            <a:extLst xmlns:a="http://schemas.openxmlformats.org/drawingml/2006/main">
              <a:ext uri="{FF2B5EF4-FFF2-40B4-BE49-F238E27FC236}">
                <a16:creationId xmlns:a16="http://schemas.microsoft.com/office/drawing/2014/main" id="{4EAE511A-C7C8-41C9-8082-187E326CA3C7}"/>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Truncated responses and offline generation are not treated as completed answers.</a:t>
            </a:r>
          </a:p>
        </p:txBody>
      </p:sp>
      <p:sp>
        <p:nvSpPr>
          <p:cNvPr id="12" name="text">
            <a:extLst xmlns:a="http://schemas.openxmlformats.org/drawingml/2006/main">
              <a:ext uri="{FF2B5EF4-FFF2-40B4-BE49-F238E27FC236}">
                <a16:creationId xmlns:a16="http://schemas.microsoft.com/office/drawing/2014/main" id="{B2995E77-73CE-477F-BA92-57EB96EBE551}"/>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Request log</a:t>
            </a:r>
          </a:p>
        </p:txBody>
      </p:sp>
      <p:sp>
        <p:nvSpPr>
          <p:cNvPr id="13" name="text">
            <a:extLst xmlns:a="http://schemas.openxmlformats.org/drawingml/2006/main">
              <a:ext uri="{FF2B5EF4-FFF2-40B4-BE49-F238E27FC236}">
                <a16:creationId xmlns:a16="http://schemas.microsoft.com/office/drawing/2014/main" id="{3F9BF0E5-46EA-471E-B9EC-39C5A92A9E64}"/>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Record role, status, hit count, latency, and tokens without full questions or answers.</a:t>
            </a:r>
          </a:p>
        </p:txBody>
      </p:sp>
    </p:spTree>
    <p:extLst>
      <p:ext uri="{BB962C8B-B14F-4D97-AF65-F5344CB8AC3E}">
        <p14:creationId xmlns:p14="http://schemas.microsoft.com/office/powerpoint/2010/main" val="404664816"/>
      </p:ext>
    </p:extLst>
  </p:cSld>
</p:sld>
</file>

<file path=ppt/slides/slide7.xml><?xml version="1.0" encoding="utf-8"?>
<p:sld xmlns:p="http://schemas.openxmlformats.org/presentationml/2006/main">
  <p:cSld>
    <p:bg>
      <p:bgPr>
        <a:solidFill xmlns:a="http://schemas.openxmlformats.org/drawingml/2006/main">
          <a:srgbClr val="0A1929"/>
        </a:solidFill>
      </p:bgPr>
    </p:bg>
    <p:spTree>
      <p:nvGrpSpPr>
        <p:cNvPr id="1" name=""/>
        <p:cNvGrpSpPr/>
        <p:nvPr/>
      </p:nvGrpSpPr>
      <p:grpSpPr>
        <a:xfrm xmlns:a="http://schemas.openxmlformats.org/drawingml/2006/main"/>
      </p:grpSpPr>
      <p:sp>
        <p:nvSpPr>
          <p:cNvPr id="18" name="section-label">
            <a:extLst xmlns:a="http://schemas.openxmlformats.org/drawingml/2006/main">
              <a:ext uri="{FF2B5EF4-FFF2-40B4-BE49-F238E27FC236}">
                <a16:creationId xmlns:a16="http://schemas.microsoft.com/office/drawing/2014/main" id="{D8F9C3EA-FB40-4F85-B766-4332F19A03B7}"/>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68D0CB"/>
                </a:solidFill>
                <a:latin typeface="Calibri"/>
                <a:ea typeface="Calibri"/>
                <a:cs typeface="Calibri"/>
              </a:defRPr>
            </a:defPPr>
          </a:lstStyle>
          <a:p xmlns:a="http://schemas.openxmlformats.org/drawingml/2006/main">
            <a:pPr>
              <a:defRPr sz="1275" b="1">
                <a:solidFill>
                  <a:srgbClr val="68D0CB"/>
                </a:solidFill>
                <a:latin typeface="Calibri"/>
                <a:ea typeface="Calibri"/>
                <a:cs typeface="Calibri"/>
              </a:defRPr>
            </a:pPr>
            <a:r>
              <a:rPr sz="1275" b="1">
                <a:solidFill>
                  <a:srgbClr val="68D0CB"/>
                </a:solidFill>
                <a:latin typeface="Calibri"/>
                <a:ea typeface="Calibri"/>
                <a:cs typeface="Calibri"/>
              </a:rPr>
              <a:t>DEMO  /  NOTEBOOK 11</a:t>
            </a:r>
          </a:p>
        </p:txBody>
      </p:sp>
      <p:sp>
        <p:nvSpPr>
          <p:cNvPr id="2" name="slide-title">
            <a:extLst xmlns:a="http://schemas.openxmlformats.org/drawingml/2006/main">
              <a:ext uri="{FF2B5EF4-FFF2-40B4-BE49-F238E27FC236}">
                <a16:creationId xmlns:a16="http://schemas.microsoft.com/office/drawing/2014/main" id="{4A1625AA-200C-4491-8884-1FCC51BF3DA7}"/>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Calibri"/>
                <a:ea typeface="Calibri"/>
                <a:cs typeface="Calibri"/>
              </a:defRPr>
            </a:defPPr>
          </a:lstStyle>
          <a:p xmlns:a="http://schemas.openxmlformats.org/drawingml/2006/main">
            <a:pPr>
              <a:defRPr sz="3450" b="1">
                <a:solidFill>
                  <a:srgbClr val="FFFFFF"/>
                </a:solidFill>
                <a:latin typeface="Calibri"/>
                <a:ea typeface="Calibri"/>
                <a:cs typeface="Calibri"/>
              </a:defRPr>
            </a:pPr>
            <a:r>
              <a:rPr sz="3450" b="1">
                <a:solidFill>
                  <a:srgbClr val="FFFFFF"/>
                </a:solidFill>
                <a:latin typeface="Calibri"/>
                <a:ea typeface="Calibri"/>
                <a:cs typeface="Calibri"/>
              </a:rPr>
              <a:t>Live demo: follow the evidence and cache</a:t>
            </a:r>
          </a:p>
        </p:txBody>
      </p:sp>
      <p:sp>
        <p:nvSpPr>
          <p:cNvPr id="3" name="lead">
            <a:extLst xmlns:a="http://schemas.openxmlformats.org/drawingml/2006/main">
              <a:ext uri="{FF2B5EF4-FFF2-40B4-BE49-F238E27FC236}">
                <a16:creationId xmlns:a16="http://schemas.microsoft.com/office/drawing/2014/main" id="{65A6B28A-2E0E-47E4-A27B-3828FB3F850F}"/>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6E2E8"/>
                </a:solidFill>
                <a:latin typeface="Calibri"/>
                <a:ea typeface="Calibri"/>
                <a:cs typeface="Calibri"/>
              </a:defRPr>
            </a:defPPr>
          </a:lstStyle>
          <a:p xmlns:a="http://schemas.openxmlformats.org/drawingml/2006/main">
            <a:pPr>
              <a:defRPr sz="2100" b="0">
                <a:solidFill>
                  <a:srgbClr val="D6E2E8"/>
                </a:solidFill>
                <a:latin typeface="Calibri"/>
                <a:ea typeface="Calibri"/>
                <a:cs typeface="Calibri"/>
              </a:defRPr>
            </a:pPr>
            <a:r>
              <a:rPr sz="2100" b="0">
                <a:solidFill>
                  <a:srgbClr val="D6E2E8"/>
                </a:solidFill>
                <a:latin typeface="Calibri"/>
                <a:ea typeface="Calibri"/>
                <a:cs typeface="Calibri"/>
              </a:rPr>
              <a:t>Demonstrate a supported question, a repeat, and deterministic boundary checks.</a:t>
            </a:r>
          </a:p>
        </p:txBody>
      </p:sp>
      <p:sp>
        <p:nvSpPr>
          <p:cNvPr id="4" name="text">
            <a:extLst xmlns:a="http://schemas.openxmlformats.org/drawingml/2006/main">
              <a:ext uri="{FF2B5EF4-FFF2-40B4-BE49-F238E27FC236}">
                <a16:creationId xmlns:a16="http://schemas.microsoft.com/office/drawing/2014/main" id="{6BF8D696-1F10-4E4F-ACCD-EFE6D5EB723C}"/>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6B8C5"/>
                </a:solidFill>
                <a:latin typeface="Calibri"/>
                <a:ea typeface="Calibri"/>
                <a:cs typeface="Calibri"/>
              </a:defRPr>
            </a:defPPr>
          </a:lstStyle>
          <a:p xmlns:a="http://schemas.openxmlformats.org/drawingml/2006/main">
            <a:pPr>
              <a:defRPr sz="1200" b="0">
                <a:solidFill>
                  <a:srgbClr val="A6B8C5"/>
                </a:solidFill>
                <a:latin typeface="Calibri"/>
                <a:ea typeface="Calibri"/>
                <a:cs typeface="Calibri"/>
              </a:defRPr>
            </a:pPr>
            <a:r>
              <a:rPr sz="1200" b="0">
                <a:solidFill>
                  <a:srgbClr val="A6B8C5"/>
                </a:solidFill>
                <a:latin typeface="Calibri"/>
                <a:ea typeface="Calibri"/>
                <a:cs typeface="Calibri"/>
              </a:rPr>
              <a:t>RAG WORKSHOP  /  11  /  RAG production capstone</a:t>
            </a:r>
          </a:p>
        </p:txBody>
      </p:sp>
      <p:sp>
        <p:nvSpPr>
          <p:cNvPr id="5" name="page-number">
            <a:extLst xmlns:a="http://schemas.openxmlformats.org/drawingml/2006/main">
              <a:ext uri="{FF2B5EF4-FFF2-40B4-BE49-F238E27FC236}">
                <a16:creationId xmlns:a16="http://schemas.microsoft.com/office/drawing/2014/main" id="{500A3341-5A74-4DE6-BBFB-13EFBB8961F4}"/>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6B8C5"/>
                </a:solidFill>
                <a:latin typeface="Calibri"/>
                <a:ea typeface="Calibri"/>
                <a:cs typeface="Calibri"/>
              </a:defRPr>
            </a:defPPr>
          </a:lstStyle>
          <a:p xmlns:a="http://schemas.openxmlformats.org/drawingml/2006/main">
            <a:pPr>
              <a:defRPr sz="1350" b="0">
                <a:solidFill>
                  <a:srgbClr val="A6B8C5"/>
                </a:solidFill>
                <a:latin typeface="Calibri"/>
                <a:ea typeface="Calibri"/>
                <a:cs typeface="Calibri"/>
              </a:defRPr>
            </a:pPr>
            <a:r>
              <a:rPr sz="1350" b="0">
                <a:solidFill>
                  <a:srgbClr val="A6B8C5"/>
                </a:solidFill>
                <a:latin typeface="Calibri"/>
                <a:ea typeface="Calibri"/>
                <a:cs typeface="Calibri"/>
              </a:rPr>
              <a:t>07</a:t>
            </a:r>
          </a:p>
        </p:txBody>
      </p:sp>
      <p:sp>
        <p:nvSpPr>
          <p:cNvPr id="6" name="text">
            <a:extLst xmlns:a="http://schemas.openxmlformats.org/drawingml/2006/main">
              <a:ext uri="{FF2B5EF4-FFF2-40B4-BE49-F238E27FC236}">
                <a16:creationId xmlns:a16="http://schemas.microsoft.com/office/drawing/2014/main" id="{C2823A9F-3A26-44B4-AAB5-1E798CB6D5F4}"/>
              </a:ext>
            </a:extLst>
          </p:cNvPr>
          <p:cNvSpPr>
            <a:spLocks xmlns:a="http://schemas.openxmlformats.org/drawingml/2006/main" noGrp="1"/>
          </p:cNvSpPr>
          <p:nvPr/>
        </p:nvSpPr>
        <p:spPr>
          <a:xfrm xmlns:a="http://schemas.openxmlformats.org/drawingml/2006/main">
            <a:off x="609600" y="25527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01</a:t>
            </a:r>
          </a:p>
        </p:txBody>
      </p:sp>
      <p:sp>
        <p:nvSpPr>
          <p:cNvPr id="7" name="text">
            <a:extLst xmlns:a="http://schemas.openxmlformats.org/drawingml/2006/main">
              <a:ext uri="{FF2B5EF4-FFF2-40B4-BE49-F238E27FC236}">
                <a16:creationId xmlns:a16="http://schemas.microsoft.com/office/drawing/2014/main" id="{586E5428-581E-41EB-AF86-24D412769767}"/>
              </a:ext>
            </a:extLst>
          </p:cNvPr>
          <p:cNvSpPr>
            <a:spLocks xmlns:a="http://schemas.openxmlformats.org/drawingml/2006/main" noGrp="1"/>
          </p:cNvSpPr>
          <p:nvPr/>
        </p:nvSpPr>
        <p:spPr>
          <a:xfrm xmlns:a="http://schemas.openxmlformats.org/drawingml/2006/main">
            <a:off x="1495425" y="2552700"/>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Access first</a:t>
            </a:r>
          </a:p>
        </p:txBody>
      </p:sp>
      <p:sp>
        <p:nvSpPr>
          <p:cNvPr id="8" name="text">
            <a:extLst xmlns:a="http://schemas.openxmlformats.org/drawingml/2006/main">
              <a:ext uri="{FF2B5EF4-FFF2-40B4-BE49-F238E27FC236}">
                <a16:creationId xmlns:a16="http://schemas.microsoft.com/office/drawing/2014/main" id="{B66F1EE0-E7CD-4A2D-B8A3-4272F3824299}"/>
              </a:ext>
            </a:extLst>
          </p:cNvPr>
          <p:cNvSpPr>
            <a:spLocks xmlns:a="http://schemas.openxmlformats.org/drawingml/2006/main" noGrp="1"/>
          </p:cNvSpPr>
          <p:nvPr/>
        </p:nvSpPr>
        <p:spPr>
          <a:xfrm xmlns:a="http://schemas.openxmlformats.org/drawingml/2006/main">
            <a:off x="4429125" y="2552700"/>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Compare visitor and HR retrieval for annual leave.</a:t>
            </a:r>
          </a:p>
        </p:txBody>
      </p:sp>
      <p:sp>
        <p:nvSpPr>
          <p:cNvPr id="9" name="text">
            <a:extLst xmlns:a="http://schemas.openxmlformats.org/drawingml/2006/main">
              <a:ext uri="{FF2B5EF4-FFF2-40B4-BE49-F238E27FC236}">
                <a16:creationId xmlns:a16="http://schemas.microsoft.com/office/drawing/2014/main" id="{AB0C5639-42B1-4EDD-BA63-4E6C09E5E6C6}"/>
              </a:ext>
            </a:extLst>
          </p:cNvPr>
          <p:cNvSpPr>
            <a:spLocks xmlns:a="http://schemas.openxmlformats.org/drawingml/2006/main" noGrp="1"/>
          </p:cNvSpPr>
          <p:nvPr/>
        </p:nvSpPr>
        <p:spPr>
          <a:xfrm xmlns:a="http://schemas.openxmlformats.org/drawingml/2006/main">
            <a:off x="609600" y="3481388"/>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02</a:t>
            </a:r>
          </a:p>
        </p:txBody>
      </p:sp>
      <p:sp>
        <p:nvSpPr>
          <p:cNvPr id="10" name="text">
            <a:extLst xmlns:a="http://schemas.openxmlformats.org/drawingml/2006/main">
              <a:ext uri="{FF2B5EF4-FFF2-40B4-BE49-F238E27FC236}">
                <a16:creationId xmlns:a16="http://schemas.microsoft.com/office/drawing/2014/main" id="{5E63DD0B-F36C-46E5-B946-060E673F998B}"/>
              </a:ext>
            </a:extLst>
          </p:cNvPr>
          <p:cNvSpPr>
            <a:spLocks xmlns:a="http://schemas.openxmlformats.org/drawingml/2006/main" noGrp="1"/>
          </p:cNvSpPr>
          <p:nvPr/>
        </p:nvSpPr>
        <p:spPr>
          <a:xfrm xmlns:a="http://schemas.openxmlformats.org/drawingml/2006/main">
            <a:off x="1495425" y="3481388"/>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Supported answer</a:t>
            </a:r>
          </a:p>
        </p:txBody>
      </p:sp>
      <p:sp>
        <p:nvSpPr>
          <p:cNvPr id="11" name="text">
            <a:extLst xmlns:a="http://schemas.openxmlformats.org/drawingml/2006/main">
              <a:ext uri="{FF2B5EF4-FFF2-40B4-BE49-F238E27FC236}">
                <a16:creationId xmlns:a16="http://schemas.microsoft.com/office/drawing/2014/main" id="{3C050C7E-65E1-42C3-82C6-F46E2D3C6D89}"/>
              </a:ext>
            </a:extLst>
          </p:cNvPr>
          <p:cNvSpPr>
            <a:spLocks xmlns:a="http://schemas.openxmlformats.org/drawingml/2006/main" noGrp="1"/>
          </p:cNvSpPr>
          <p:nvPr/>
        </p:nvSpPr>
        <p:spPr>
          <a:xfrm xmlns:a="http://schemas.openxmlformats.org/drawingml/2006/main">
            <a:off x="4429125" y="3481388"/>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Ask the visitor fixture about the Team API rate limit and exceeding it.</a:t>
            </a:r>
          </a:p>
        </p:txBody>
      </p:sp>
      <p:sp>
        <p:nvSpPr>
          <p:cNvPr id="12" name="text">
            <a:extLst xmlns:a="http://schemas.openxmlformats.org/drawingml/2006/main">
              <a:ext uri="{FF2B5EF4-FFF2-40B4-BE49-F238E27FC236}">
                <a16:creationId xmlns:a16="http://schemas.microsoft.com/office/drawing/2014/main" id="{5E57979B-5F82-4B1A-BB21-080F5ADE5F77}"/>
              </a:ext>
            </a:extLst>
          </p:cNvPr>
          <p:cNvSpPr>
            <a:spLocks xmlns:a="http://schemas.openxmlformats.org/drawingml/2006/main" noGrp="1"/>
          </p:cNvSpPr>
          <p:nvPr/>
        </p:nvSpPr>
        <p:spPr>
          <a:xfrm xmlns:a="http://schemas.openxmlformats.org/drawingml/2006/main">
            <a:off x="609600" y="441007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03</a:t>
            </a:r>
          </a:p>
        </p:txBody>
      </p:sp>
      <p:sp>
        <p:nvSpPr>
          <p:cNvPr id="13" name="text">
            <a:extLst xmlns:a="http://schemas.openxmlformats.org/drawingml/2006/main">
              <a:ext uri="{FF2B5EF4-FFF2-40B4-BE49-F238E27FC236}">
                <a16:creationId xmlns:a16="http://schemas.microsoft.com/office/drawing/2014/main" id="{95DDBD09-487B-483C-A3BD-5B6253E746BA}"/>
              </a:ext>
            </a:extLst>
          </p:cNvPr>
          <p:cNvSpPr>
            <a:spLocks xmlns:a="http://schemas.openxmlformats.org/drawingml/2006/main" noGrp="1"/>
          </p:cNvSpPr>
          <p:nvPr/>
        </p:nvSpPr>
        <p:spPr>
          <a:xfrm xmlns:a="http://schemas.openxmlformats.org/drawingml/2006/main">
            <a:off x="1495425" y="4410075"/>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Repeat</a:t>
            </a:r>
          </a:p>
        </p:txBody>
      </p:sp>
      <p:sp>
        <p:nvSpPr>
          <p:cNvPr id="14" name="text">
            <a:extLst xmlns:a="http://schemas.openxmlformats.org/drawingml/2006/main">
              <a:ext uri="{FF2B5EF4-FFF2-40B4-BE49-F238E27FC236}">
                <a16:creationId xmlns:a16="http://schemas.microsoft.com/office/drawing/2014/main" id="{0C5FD479-7017-454C-A232-8E4EF2B46346}"/>
              </a:ext>
            </a:extLst>
          </p:cNvPr>
          <p:cNvSpPr>
            <a:spLocks xmlns:a="http://schemas.openxmlformats.org/drawingml/2006/main" noGrp="1"/>
          </p:cNvSpPr>
          <p:nvPr/>
        </p:nvSpPr>
        <p:spPr>
          <a:xfrm xmlns:a="http://schemas.openxmlformats.org/drawingml/2006/main">
            <a:off x="4429125" y="4410075"/>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Show the application cache flag and zero new tokens on a live cached repeat.</a:t>
            </a:r>
          </a:p>
        </p:txBody>
      </p:sp>
      <p:sp>
        <p:nvSpPr>
          <p:cNvPr id="15" name="text">
            <a:extLst xmlns:a="http://schemas.openxmlformats.org/drawingml/2006/main">
              <a:ext uri="{FF2B5EF4-FFF2-40B4-BE49-F238E27FC236}">
                <a16:creationId xmlns:a16="http://schemas.microsoft.com/office/drawing/2014/main" id="{2FBE6F1C-2061-4401-AB40-854CD7845D09}"/>
              </a:ext>
            </a:extLst>
          </p:cNvPr>
          <p:cNvSpPr>
            <a:spLocks xmlns:a="http://schemas.openxmlformats.org/drawingml/2006/main" noGrp="1"/>
          </p:cNvSpPr>
          <p:nvPr/>
        </p:nvSpPr>
        <p:spPr>
          <a:xfrm xmlns:a="http://schemas.openxmlformats.org/drawingml/2006/main">
            <a:off x="609600" y="5338763"/>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04</a:t>
            </a:r>
          </a:p>
        </p:txBody>
      </p:sp>
      <p:sp>
        <p:nvSpPr>
          <p:cNvPr id="16" name="text">
            <a:extLst xmlns:a="http://schemas.openxmlformats.org/drawingml/2006/main">
              <a:ext uri="{FF2B5EF4-FFF2-40B4-BE49-F238E27FC236}">
                <a16:creationId xmlns:a16="http://schemas.microsoft.com/office/drawing/2014/main" id="{B6574599-5818-4E3C-BB9A-F98AC2532A34}"/>
              </a:ext>
            </a:extLst>
          </p:cNvPr>
          <p:cNvSpPr>
            <a:spLocks xmlns:a="http://schemas.openxmlformats.org/drawingml/2006/main" noGrp="1"/>
          </p:cNvSpPr>
          <p:nvPr/>
        </p:nvSpPr>
        <p:spPr>
          <a:xfrm xmlns:a="http://schemas.openxmlformats.org/drawingml/2006/main">
            <a:off x="1495425" y="5338763"/>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Boundary checks</a:t>
            </a:r>
          </a:p>
        </p:txBody>
      </p:sp>
      <p:sp>
        <p:nvSpPr>
          <p:cNvPr id="17" name="text">
            <a:extLst xmlns:a="http://schemas.openxmlformats.org/drawingml/2006/main">
              <a:ext uri="{FF2B5EF4-FFF2-40B4-BE49-F238E27FC236}">
                <a16:creationId xmlns:a16="http://schemas.microsoft.com/office/drawing/2014/main" id="{FA3A1800-6089-4447-A9CF-CF3AC64071FA}"/>
              </a:ext>
            </a:extLst>
          </p:cNvPr>
          <p:cNvSpPr>
            <a:spLocks xmlns:a="http://schemas.openxmlformats.org/drawingml/2006/main" noGrp="1"/>
          </p:cNvSpPr>
          <p:nvPr/>
        </p:nvSpPr>
        <p:spPr>
          <a:xfrm xmlns:a="http://schemas.openxmlformats.org/drawingml/2006/main">
            <a:off x="4429125" y="5338763"/>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Reject an unknown identity, change a corpus key, and show the false-citation limitation.</a:t>
            </a:r>
          </a:p>
        </p:txBody>
      </p:sp>
    </p:spTree>
    <p:extLst>
      <p:ext uri="{BB962C8B-B14F-4D97-AF65-F5344CB8AC3E}">
        <p14:creationId xmlns:p14="http://schemas.microsoft.com/office/powerpoint/2010/main" val="827357394"/>
      </p:ext>
    </p:extLst>
  </p:cSld>
</p:sld>
</file>

<file path=ppt/slides/slide8.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887A5F65-935E-47E5-848A-A42AC4E19466}"/>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COMPARISON  /  NOTEBOOK 11</a:t>
            </a:r>
          </a:p>
        </p:txBody>
      </p:sp>
      <p:sp>
        <p:nvSpPr>
          <p:cNvPr id="2" name="slide-title">
            <a:extLst xmlns:a="http://schemas.openxmlformats.org/drawingml/2006/main">
              <a:ext uri="{FF2B5EF4-FFF2-40B4-BE49-F238E27FC236}">
                <a16:creationId xmlns:a16="http://schemas.microsoft.com/office/drawing/2014/main" id="{8B64B712-1D7A-4537-A9C5-A185774FF4FA}"/>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Exercise hostile and missing evidence separately</a:t>
            </a:r>
          </a:p>
        </p:txBody>
      </p:sp>
      <p:sp>
        <p:nvSpPr>
          <p:cNvPr id="3" name="lead">
            <a:extLst xmlns:a="http://schemas.openxmlformats.org/drawingml/2006/main">
              <a:ext uri="{FF2B5EF4-FFF2-40B4-BE49-F238E27FC236}">
                <a16:creationId xmlns:a16="http://schemas.microsoft.com/office/drawing/2014/main" id="{30D638B7-CDB6-4C5A-8C1A-E99AEDE06488}"/>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An empty evidence set and a malicious passage expose different failure modes.</a:t>
            </a:r>
          </a:p>
        </p:txBody>
      </p:sp>
      <p:sp>
        <p:nvSpPr>
          <p:cNvPr id="4" name="text">
            <a:extLst xmlns:a="http://schemas.openxmlformats.org/drawingml/2006/main">
              <a:ext uri="{FF2B5EF4-FFF2-40B4-BE49-F238E27FC236}">
                <a16:creationId xmlns:a16="http://schemas.microsoft.com/office/drawing/2014/main" id="{9051F20C-CFEB-4F1D-AFAC-8580D26CFA30}"/>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11  /  RAG production capstone</a:t>
            </a:r>
          </a:p>
        </p:txBody>
      </p:sp>
      <p:sp>
        <p:nvSpPr>
          <p:cNvPr id="5" name="page-number">
            <a:extLst xmlns:a="http://schemas.openxmlformats.org/drawingml/2006/main">
              <a:ext uri="{FF2B5EF4-FFF2-40B4-BE49-F238E27FC236}">
                <a16:creationId xmlns:a16="http://schemas.microsoft.com/office/drawing/2014/main" id="{CAF921A9-C3FE-4C8E-9C73-96E0B0BB9BD9}"/>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08</a:t>
            </a:r>
          </a:p>
        </p:txBody>
      </p:sp>
      <p:graphicFrame>
        <p:nvGraphicFramePr>
          <p:cNvPr id="6" name="">
            <a:extLst xmlns:a="http://schemas.openxmlformats.org/drawingml/2006/main">
              <a:ext uri="{FF2B5EF4-FFF2-40B4-BE49-F238E27FC236}">
                <a16:creationId xmlns:a16="http://schemas.microsoft.com/office/drawing/2014/main" id="{4310EEC8-C844-4CB7-98D6-1E6905953345}"/>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3333750"/>
                <a:gridCol w="7639050"/>
              </a:tblGrid>
              <a:tr h="466725">
                <a:tc>
                  <a:txBody>
                    <a:bodyPr wrap="square" lIns="133350" tIns="95250" rIns="133350" bIns="95250">
                      <a:noAutofit/>
                    </a:bodyPr>
                    <a:lstStyle/>
                    <a:p>
                      <a:r>
                        <a:rPr sz="1800" b="1">
                          <a:solidFill>
                            <a:srgbClr val="FFFFFF"/>
                          </a:solidFill>
                          <a:latin typeface="Calibri"/>
                          <a:ea typeface="Calibri"/>
                          <a:cs typeface="Calibri"/>
                        </a:rPr>
                        <a:t>Concept</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Meaning in this lesson</a:t>
                      </a:r>
                    </a:p>
                  </a:txBody>
                  <a:tcPr marL="91440" marR="91440" marT="45720" marB="45720">
                    <a:solidFill>
                      <a:srgbClr val="102F3E"/>
                    </a:solidFill>
                  </a:tcPr>
                </a:tc>
              </a:tr>
              <a:tr h="812006">
                <a:tc>
                  <a:txBody>
                    <a:bodyPr wrap="square" lIns="133350" tIns="95250" rIns="133350" bIns="95250">
                      <a:noAutofit/>
                    </a:bodyPr>
                    <a:lstStyle/>
                    <a:p>
                      <a:r>
                        <a:rPr sz="1875" b="1">
                          <a:solidFill>
                            <a:srgbClr val="102F3E"/>
                          </a:solidFill>
                          <a:latin typeface="Calibri"/>
                          <a:ea typeface="Calibri"/>
                          <a:cs typeface="Calibri"/>
                        </a:rPr>
                        <a:t>Missing evidence</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An empty authorized corpus triggers deterministic abstention without a model call.</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Hostile fixture</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A document asks the model to ignore rules and invent unlimited API access.</a:t>
                      </a:r>
                    </a:p>
                  </a:txBody>
                  <a:tcPr marL="91440" marR="91440" marT="45720" marB="45720">
                    <a:solidFill>
                      <a:srgbClr val="EDF2F1"/>
                    </a:solidFill>
                  </a:tcPr>
                </a:tc>
              </a:tr>
              <a:tr h="812006">
                <a:tc>
                  <a:txBody>
                    <a:bodyPr wrap="square" lIns="133350" tIns="95250" rIns="133350" bIns="95250">
                      <a:noAutofit/>
                    </a:bodyPr>
                    <a:lstStyle/>
                    <a:p>
                      <a:r>
                        <a:rPr sz="1875" b="1">
                          <a:solidFill>
                            <a:srgbClr val="102F3E"/>
                          </a:solidFill>
                          <a:latin typeface="Calibri"/>
                          <a:ea typeface="Calibri"/>
                          <a:cs typeface="Calibri"/>
                        </a:rPr>
                        <a:t>Optional live experiment</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The injection toggle is off by default; inspect actual selected hits before enabling it.</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Limit of one result</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One successful refusal does not establish resistance to prompt injection.</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923008828"/>
      </p:ext>
    </p:extLst>
  </p:cSld>
</p:sld>
</file>

<file path=ppt/slides/slide9.xml><?xml version="1.0" encoding="utf-8"?>
<p:sld xmlns:p="http://schemas.openxmlformats.org/presentationml/2006/main">
  <p:cSld>
    <p:bg>
      <p:bgPr>
        <a:solidFill xmlns:a="http://schemas.openxmlformats.org/drawingml/2006/main">
          <a:srgbClr val="EAF2F1"/>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C8056D3E-8880-4E14-B71A-71B6ED1F6A27}"/>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EXERCISE  /  NOTEBOOK 11</a:t>
            </a:r>
          </a:p>
        </p:txBody>
      </p:sp>
      <p:sp>
        <p:nvSpPr>
          <p:cNvPr id="2" name="slide-title">
            <a:extLst xmlns:a="http://schemas.openxmlformats.org/drawingml/2006/main">
              <a:ext uri="{FF2B5EF4-FFF2-40B4-BE49-F238E27FC236}">
                <a16:creationId xmlns:a16="http://schemas.microsoft.com/office/drawing/2014/main" id="{E0BC5CF1-AC38-41D7-A34F-A4BA5832152B}"/>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Exercise: revoke visibility and inspect reuse</a:t>
            </a:r>
          </a:p>
        </p:txBody>
      </p:sp>
      <p:sp>
        <p:nvSpPr>
          <p:cNvPr id="3" name="lead">
            <a:extLst xmlns:a="http://schemas.openxmlformats.org/drawingml/2006/main">
              <a:ext uri="{FF2B5EF4-FFF2-40B4-BE49-F238E27FC236}">
                <a16:creationId xmlns:a16="http://schemas.microsoft.com/office/drawing/2014/main" id="{F99EF8B3-0D9C-44CB-AB5F-9533BB06C390}"/>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Change a public document to restricted and prove that the old cached answer cannot be reused.</a:t>
            </a:r>
          </a:p>
        </p:txBody>
      </p:sp>
      <p:sp>
        <p:nvSpPr>
          <p:cNvPr id="4" name="text">
            <a:extLst xmlns:a="http://schemas.openxmlformats.org/drawingml/2006/main">
              <a:ext uri="{FF2B5EF4-FFF2-40B4-BE49-F238E27FC236}">
                <a16:creationId xmlns:a16="http://schemas.microsoft.com/office/drawing/2014/main" id="{150BC780-6955-4D59-BB59-BC7B108EA172}"/>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11  /  RAG production capstone</a:t>
            </a:r>
          </a:p>
        </p:txBody>
      </p:sp>
      <p:sp>
        <p:nvSpPr>
          <p:cNvPr id="5" name="page-number">
            <a:extLst xmlns:a="http://schemas.openxmlformats.org/drawingml/2006/main">
              <a:ext uri="{FF2B5EF4-FFF2-40B4-BE49-F238E27FC236}">
                <a16:creationId xmlns:a16="http://schemas.microsoft.com/office/drawing/2014/main" id="{EDDB9B89-25B6-4C17-A6E6-1B453DBDF898}"/>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09</a:t>
            </a:r>
          </a:p>
        </p:txBody>
      </p:sp>
      <p:sp>
        <p:nvSpPr>
          <p:cNvPr id="6" name="text">
            <a:extLst xmlns:a="http://schemas.openxmlformats.org/drawingml/2006/main">
              <a:ext uri="{FF2B5EF4-FFF2-40B4-BE49-F238E27FC236}">
                <a16:creationId xmlns:a16="http://schemas.microsoft.com/office/drawing/2014/main" id="{7C58752E-79B5-4065-A77E-49AF8CD6389C}"/>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Change policy</a:t>
            </a:r>
          </a:p>
        </p:txBody>
      </p:sp>
      <p:sp>
        <p:nvSpPr>
          <p:cNvPr id="7" name="text">
            <a:extLst xmlns:a="http://schemas.openxmlformats.org/drawingml/2006/main">
              <a:ext uri="{FF2B5EF4-FFF2-40B4-BE49-F238E27FC236}">
                <a16:creationId xmlns:a16="http://schemas.microsoft.com/office/drawing/2014/main" id="{B8A83F5B-8294-4477-B820-82774E4C4455}"/>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Copy a document with visibility set to restricted in a new corpus list.</a:t>
            </a:r>
          </a:p>
        </p:txBody>
      </p:sp>
      <p:sp>
        <p:nvSpPr>
          <p:cNvPr id="8" name="text">
            <a:extLst xmlns:a="http://schemas.openxmlformats.org/drawingml/2006/main">
              <a:ext uri="{FF2B5EF4-FFF2-40B4-BE49-F238E27FC236}">
                <a16:creationId xmlns:a16="http://schemas.microsoft.com/office/drawing/2014/main" id="{D640FA75-38DF-41E5-A6B2-B77290C20FFD}"/>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Compare retrieval</a:t>
            </a:r>
          </a:p>
        </p:txBody>
      </p:sp>
      <p:sp>
        <p:nvSpPr>
          <p:cNvPr id="9" name="text">
            <a:extLst xmlns:a="http://schemas.openxmlformats.org/drawingml/2006/main">
              <a:ext uri="{FF2B5EF4-FFF2-40B4-BE49-F238E27FC236}">
                <a16:creationId xmlns:a16="http://schemas.microsoft.com/office/drawing/2014/main" id="{F5E70C02-5101-45A9-854F-76AD96B80918}"/>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Visitor results should exclude it; the HR fixture may still retrieve it.</a:t>
            </a:r>
          </a:p>
        </p:txBody>
      </p:sp>
      <p:sp>
        <p:nvSpPr>
          <p:cNvPr id="10" name="text">
            <a:extLst xmlns:a="http://schemas.openxmlformats.org/drawingml/2006/main">
              <a:ext uri="{FF2B5EF4-FFF2-40B4-BE49-F238E27FC236}">
                <a16:creationId xmlns:a16="http://schemas.microsoft.com/office/drawing/2014/main" id="{04F1E144-E4E6-49CD-80E4-CCDF560CBB4A}"/>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Check identity</a:t>
            </a:r>
          </a:p>
        </p:txBody>
      </p:sp>
      <p:sp>
        <p:nvSpPr>
          <p:cNvPr id="11" name="text">
            <a:extLst xmlns:a="http://schemas.openxmlformats.org/drawingml/2006/main">
              <a:ext uri="{FF2B5EF4-FFF2-40B4-BE49-F238E27FC236}">
                <a16:creationId xmlns:a16="http://schemas.microsoft.com/office/drawing/2014/main" id="{06991B61-7F0F-43B7-9FB2-7ADE6048C895}"/>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The corpus fingerprint and caller-specific cache keys must change.</a:t>
            </a:r>
          </a:p>
        </p:txBody>
      </p:sp>
      <p:sp>
        <p:nvSpPr>
          <p:cNvPr id="12" name="text">
            <a:extLst xmlns:a="http://schemas.openxmlformats.org/drawingml/2006/main">
              <a:ext uri="{FF2B5EF4-FFF2-40B4-BE49-F238E27FC236}">
                <a16:creationId xmlns:a16="http://schemas.microsoft.com/office/drawing/2014/main" id="{64F1013B-3598-4A43-9A65-92E52DE43F2D}"/>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Expected discussion</a:t>
            </a:r>
          </a:p>
        </p:txBody>
      </p:sp>
      <p:sp>
        <p:nvSpPr>
          <p:cNvPr id="13" name="text">
            <a:extLst xmlns:a="http://schemas.openxmlformats.org/drawingml/2006/main">
              <a:ext uri="{FF2B5EF4-FFF2-40B4-BE49-F238E27FC236}">
                <a16:creationId xmlns:a16="http://schemas.microsoft.com/office/drawing/2014/main" id="{640B949A-F473-4402-AA26-01C956E155F5}"/>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Also test a plausible lexical match with no answer; calibrate false answers and abstentions.</a:t>
            </a:r>
          </a:p>
        </p:txBody>
      </p:sp>
    </p:spTree>
    <p:extLst>
      <p:ext uri="{BB962C8B-B14F-4D97-AF65-F5344CB8AC3E}">
        <p14:creationId xmlns:p14="http://schemas.microsoft.com/office/powerpoint/2010/main" val="2478415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2026-10-11T09:48:56.4680000Z</dcterms:created>
  <dcterms:modified xsi:type="dcterms:W3CDTF">2026-10-11T09:48:56.4680000Z</dcterms:modified>
</coreProperties>
</file>