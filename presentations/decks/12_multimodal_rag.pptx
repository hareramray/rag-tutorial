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a904d8d28c4cde" /><Relationship Type="http://schemas.openxmlformats.org/officeDocument/2006/relationships/extended-properties" Target="/docProps/app.xml" Id="R4848aa705f814981" /><Relationship Type="http://schemas.openxmlformats.org/officeDocument/2006/relationships/officeDocument" Target="/ppt/presentation.xml" Id="R0a9b6d2648d741ec" /></Relationships>
</file>

<file path=ppt/presentation.xml><?xml version="1.0" encoding="utf-8"?>
<p:presentation xmlns:p="http://schemas.openxmlformats.org/presentationml/2006/main">
  <p:sldMasterIdLst>
    <p:sldMasterId xmlns:r="http://schemas.openxmlformats.org/officeDocument/2006/relationships" id="2147483648" r:id="R129ccaf099ed4d3f"/>
  </p:sldMasterIdLst>
  <p:notesMasterIdLst>
    <p:notesMasterId xmlns:r="http://schemas.openxmlformats.org/officeDocument/2006/relationships" r:id="Rb1e24926795a4ec7"/>
  </p:notesMasterIdLst>
  <p:sldIdLst>
    <p:sldId xmlns:r="http://schemas.openxmlformats.org/officeDocument/2006/relationships" id="256" r:id="R80b3963f4f1b46bc"/>
    <p:sldId xmlns:r="http://schemas.openxmlformats.org/officeDocument/2006/relationships" id="257" r:id="R3fb366e2d5a241fe"/>
    <p:sldId xmlns:r="http://schemas.openxmlformats.org/officeDocument/2006/relationships" id="258" r:id="Re8fbcdbc2dbe4a38"/>
    <p:sldId xmlns:r="http://schemas.openxmlformats.org/officeDocument/2006/relationships" id="259" r:id="Rfc721f12a0c1489f"/>
    <p:sldId xmlns:r="http://schemas.openxmlformats.org/officeDocument/2006/relationships" id="260" r:id="R4fffcdbfb8754d0e"/>
    <p:sldId xmlns:r="http://schemas.openxmlformats.org/officeDocument/2006/relationships" id="261" r:id="R69bca065a15645a3"/>
    <p:sldId xmlns:r="http://schemas.openxmlformats.org/officeDocument/2006/relationships" id="262" r:id="R3497149b8a354440"/>
    <p:sldId xmlns:r="http://schemas.openxmlformats.org/officeDocument/2006/relationships" id="263" r:id="R6cf5ceb9f7694a68"/>
    <p:sldId xmlns:r="http://schemas.openxmlformats.org/officeDocument/2006/relationships" id="264" r:id="R7bde4dbdf1e346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244ab9b6ee4705" /><Relationship Type="http://schemas.openxmlformats.org/officeDocument/2006/relationships/slideMaster" Target="/ppt/slideMasters/slideMaster1.xml" Id="R129ccaf099ed4d3f" /><Relationship Type="http://schemas.openxmlformats.org/officeDocument/2006/relationships/notesMaster" Target="/ppt/notesMasters/notesMaster1.xml" Id="Rb1e24926795a4ec7" /><Relationship Type="http://schemas.openxmlformats.org/officeDocument/2006/relationships/presProps" Target="/ppt/presProps.xml" Id="R101b2598e16147cd" /><Relationship Type="http://schemas.openxmlformats.org/officeDocument/2006/relationships/tableStyles" Target="/ppt/tableStyles.xml" Id="R681df1391657469e" /><Relationship Type="http://schemas.openxmlformats.org/officeDocument/2006/relationships/slide" Target="/ppt/slides/slide1.xml" Id="R80b3963f4f1b46bc" /><Relationship Type="http://schemas.openxmlformats.org/officeDocument/2006/relationships/slide" Target="/ppt/slides/slide2.xml" Id="R3fb366e2d5a241fe" /><Relationship Type="http://schemas.openxmlformats.org/officeDocument/2006/relationships/slide" Target="/ppt/slides/slide3.xml" Id="Re8fbcdbc2dbe4a38" /><Relationship Type="http://schemas.openxmlformats.org/officeDocument/2006/relationships/slide" Target="/ppt/slides/slide4.xml" Id="Rfc721f12a0c1489f" /><Relationship Type="http://schemas.openxmlformats.org/officeDocument/2006/relationships/slide" Target="/ppt/slides/slide5.xml" Id="R4fffcdbfb8754d0e" /><Relationship Type="http://schemas.openxmlformats.org/officeDocument/2006/relationships/slide" Target="/ppt/slides/slide6.xml" Id="R69bca065a15645a3" /><Relationship Type="http://schemas.openxmlformats.org/officeDocument/2006/relationships/slide" Target="/ppt/slides/slide7.xml" Id="R3497149b8a354440" /><Relationship Type="http://schemas.openxmlformats.org/officeDocument/2006/relationships/slide" Target="/ppt/slides/slide8.xml" Id="R6cf5ceb9f7694a68" /><Relationship Type="http://schemas.openxmlformats.org/officeDocument/2006/relationships/slide" Target="/ppt/slides/slide9.xml" Id="R7bde4dbdf1e346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4707d05adf41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b5a33c4f1e4eb8" /><Relationship Type="http://schemas.openxmlformats.org/officeDocument/2006/relationships/notesMaster" Target="/ppt/notesMasters/notesMaster1.xml" Id="R5cbd07235f6c46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587a052ba74066" /><Relationship Type="http://schemas.openxmlformats.org/officeDocument/2006/relationships/notesMaster" Target="/ppt/notesMasters/notesMaster1.xml" Id="Rf80df80579ed45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ab1af71a784ea5" /><Relationship Type="http://schemas.openxmlformats.org/officeDocument/2006/relationships/notesMaster" Target="/ppt/notesMasters/notesMaster1.xml" Id="Rd29542866c7b4c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c650c3a9be4aa4" /><Relationship Type="http://schemas.openxmlformats.org/officeDocument/2006/relationships/notesMaster" Target="/ppt/notesMasters/notesMaster1.xml" Id="R06444dbd9b5540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7fda9e99c54e68" /><Relationship Type="http://schemas.openxmlformats.org/officeDocument/2006/relationships/notesMaster" Target="/ppt/notesMasters/notesMaster1.xml" Id="R259eda583a1a46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b1a205b4cb4987" /><Relationship Type="http://schemas.openxmlformats.org/officeDocument/2006/relationships/notesMaster" Target="/ppt/notesMasters/notesMaster1.xml" Id="Rfa7d218ad9c14d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487a1da3db4082" /><Relationship Type="http://schemas.openxmlformats.org/officeDocument/2006/relationships/notesMaster" Target="/ppt/notesMasters/notesMaster1.xml" Id="Rc84d25e93cfc40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b3fee4f73a43a3" /><Relationship Type="http://schemas.openxmlformats.org/officeDocument/2006/relationships/notesMaster" Target="/ppt/notesMasters/notesMaster1.xml" Id="Ra5a113f88aed41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ac7b0500d04d21" /><Relationship Type="http://schemas.openxmlformats.org/officeDocument/2006/relationships/notesMaster" Target="/ppt/notesMasters/notesMaster1.xml" Id="R0f0c1d838d8e43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notebooks/12_multimodal_rag.ipynb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notebooks/12_multimodal_rag.ipynb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a question that depends on a visible detail rather than a policy sentence. Ask the audience what a caption can preserve and what it can lose. Explain the two representations: the index stores a useful search representation, while the answer must receive evidence capable of supporting the requested fact. In section 1, the notebook explicitly labels recording summaries as authored fixtures. Those summaries cannot establish a sound, a voice characteristic, or an unseen frame. Keep this distinction visible throughout the demonstration; different file extensions alone do not prove multimodal retrieval.</a:t>
            </a:r>
          </a:p>
          <a:p xmlns:a="http://schemas.openxmlformats.org/drawingml/2006/main">
            <a:r>
              <a:t/>
            </a:r>
          </a:p>
          <a:p xmlns:a="http://schemas.openxmlformats.org/drawingml/2006/main">
            <a:r>
              <a:t>NOTEBOOK: notebooks/12_multimodal_rag.ipynb</a:t>
            </a:r>
          </a:p>
          <a:p xmlns:a="http://schemas.openxmlformats.org/drawingml/2006/main">
            <a:r>
              <a:t/>
            </a:r>
          </a:p>
          <a:p xmlns:a="http://schemas.openxmlformats.org/drawingml/2006/main">
            <a:r>
              <a:t>SOURCES</a:t>
            </a:r>
          </a:p>
          <a:p xmlns:a="http://schemas.openxmlformats.org/drawingml/2006/main">
            <a:r>
              <a:t>notebooks/12_multimodal_rag.ipynb - sections 1 and 3</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sections 3 through 7 before running the model request. The catalog is intentionally small enough to inspect in a dataframe. Metadata is not decoration: the path retrieves the asset and the ID becomes the citation label. The teaching router assigns explicit modality slots, which makes the evidence budget understandable, but it is not a learned routing model. Show that zero-overlap lexical results are removed before evidence selection. A production extension should measure coverage per modality and apply permissions before candidate selection, rather than sending every available file.</a:t>
            </a:r>
          </a:p>
          <a:p xmlns:a="http://schemas.openxmlformats.org/drawingml/2006/main">
            <a:r>
              <a:t/>
            </a:r>
          </a:p>
          <a:p xmlns:a="http://schemas.openxmlformats.org/drawingml/2006/main">
            <a:r>
              <a:t>NOTEBOOK: notebooks/12_multimodal_rag.ipynb</a:t>
            </a:r>
          </a:p>
          <a:p xmlns:a="http://schemas.openxmlformats.org/drawingml/2006/main">
            <a:r>
              <a:t/>
            </a:r>
          </a:p>
          <a:p xmlns:a="http://schemas.openxmlformats.org/drawingml/2006/main">
            <a:r>
              <a:t>SOURCES</a:t>
            </a:r>
          </a:p>
          <a:p xmlns:a="http://schemas.openxmlformats.org/drawingml/2006/main">
            <a:r>
              <a:t>notebooks/12_multimodal_rag.ipynb - sections 3-7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chart first and ask learners to state both a numeric fact and a visual fact. Then display the authored caption in section 2 and identify the missing color information. The retention values are written labels, while the bar color is a visual observation. The live question combines these with annual-billing policy facts, forcing the pipeline to collect more than one kind of evidence. The image on this slide is the exact fictional course asset used by the notebook. Do not present the expected answer here as a recorded Claude response.</a:t>
            </a:r>
          </a:p>
          <a:p xmlns:a="http://schemas.openxmlformats.org/drawingml/2006/main">
            <a:r>
              <a:t/>
            </a:r>
          </a:p>
          <a:p xmlns:a="http://schemas.openxmlformats.org/drawingml/2006/main">
            <a:r>
              <a:t>NOTEBOOK: notebooks/12_multimodal_rag.ipynb</a:t>
            </a:r>
          </a:p>
          <a:p xmlns:a="http://schemas.openxmlformats.org/drawingml/2006/main">
            <a:r>
              <a:t/>
            </a:r>
          </a:p>
          <a:p xmlns:a="http://schemas.openxmlformats.org/drawingml/2006/main">
            <a:r>
              <a:t>SOURCES</a:t>
            </a:r>
          </a:p>
          <a:p xmlns:a="http://schemas.openxmlformats.org/drawingml/2006/main">
            <a:r>
              <a:t>notebooks/12_multimodal_rag.ipynb - sections 2 and 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section 4, point to the helper call and the image records passed to it. The important distinction is the candidate input: pixels enter the image encoder. A caption-only search may still be useful, but it is a text retrieval method. Explain normalized vectors with the intuition of comparing direction rather than vector length; no lengthy derivation is necessary. The first live run downloads a local model and needs time and storage. Offline mode skips the branch explicitly. Invite learners to inspect a poor result instead of assuming the model always recognizes the best chart.</a:t>
            </a:r>
          </a:p>
          <a:p xmlns:a="http://schemas.openxmlformats.org/drawingml/2006/main">
            <a:r>
              <a:t/>
            </a:r>
          </a:p>
          <a:p xmlns:a="http://schemas.openxmlformats.org/drawingml/2006/main">
            <a:r>
              <a:t>NOTEBOOK: notebooks/12_multimodal_rag.ipynb</a:t>
            </a:r>
          </a:p>
          <a:p xmlns:a="http://schemas.openxmlformats.org/drawingml/2006/main">
            <a:r>
              <a:t/>
            </a:r>
          </a:p>
          <a:p xmlns:a="http://schemas.openxmlformats.org/drawingml/2006/main">
            <a:r>
              <a:t>SOURCES</a:t>
            </a:r>
          </a:p>
          <a:p xmlns:a="http://schemas.openxmlformats.org/drawingml/2006/main">
            <a:r>
              <a:t>notebooks/12_multimodal_rag.ipynb - section 4</a:t>
            </a:r>
          </a:p>
          <a:p xmlns:a="http://schemas.openxmlformats.org/drawingml/2006/main">
            <a:r>
              <a:t>https://huggingface.co/docs/transformers/model_doc/clip</a:t>
            </a:r>
          </a:p>
          <a:p xmlns:a="http://schemas.openxmlformats.org/drawingml/2006/main">
            <a:r>
              <a:t>https://huggingface.co/openai/clip-vit-base-patch32</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through the two fractions slowly. The point is not the numerical magnitude but the use of positions in separate lists. A TF-IDF score and a CLIP cosine score have different interpretations, so adding them directly would create an arbitrary weighting. The notebook merges image rankings, then uses a transparent modality budget. The displayed selection table contains values meaningful within their own rankings, not a universal score across every modality. Deduplicate by source ID before building the prompt, and inspect whether an extra summary contributes a distinct fact or only repeats existing evidence.</a:t>
            </a:r>
          </a:p>
          <a:p xmlns:a="http://schemas.openxmlformats.org/drawingml/2006/main">
            <a:r>
              <a:t/>
            </a:r>
          </a:p>
          <a:p xmlns:a="http://schemas.openxmlformats.org/drawingml/2006/main">
            <a:r>
              <a:t>NOTEBOOK: notebooks/12_multimodal_rag.ipynb</a:t>
            </a:r>
          </a:p>
          <a:p xmlns:a="http://schemas.openxmlformats.org/drawingml/2006/main">
            <a:r>
              <a:t/>
            </a:r>
          </a:p>
          <a:p xmlns:a="http://schemas.openxmlformats.org/drawingml/2006/main">
            <a:r>
              <a:t>SOURCES</a:t>
            </a:r>
          </a:p>
          <a:p xmlns:a="http://schemas.openxmlformats.org/drawingml/2006/main">
            <a:r>
              <a:t>notebooks/12_multimodal_rag.ipynb - section 5</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8 includes simple retrieval probes and a citation-ID audit. Explain what each test can establish. A probe can catch a broken path or a missing expected image, but the tiny fixture set does not establish general multimodal accuracy. An allowed citation string proves that a source was supplied; it does not verify that the source supports a color, number, or policy condition. Read one claim beside its evidence during the presentation. Then ask an unsupported sound question and discuss why an apparently relevant recording title cannot replace acoustic evidence.</a:t>
            </a:r>
          </a:p>
          <a:p xmlns:a="http://schemas.openxmlformats.org/drawingml/2006/main">
            <a:r>
              <a:t/>
            </a:r>
          </a:p>
          <a:p xmlns:a="http://schemas.openxmlformats.org/drawingml/2006/main">
            <a:r>
              <a:t>NOTEBOOK: notebooks/12_multimodal_rag.ipynb</a:t>
            </a:r>
          </a:p>
          <a:p xmlns:a="http://schemas.openxmlformats.org/drawingml/2006/main">
            <a:r>
              <a:t/>
            </a:r>
          </a:p>
          <a:p xmlns:a="http://schemas.openxmlformats.org/drawingml/2006/main">
            <a:r>
              <a:t>SOURCES</a:t>
            </a:r>
          </a:p>
          <a:p xmlns:a="http://schemas.openxmlformats.org/drawingml/2006/main">
            <a:r>
              <a:t>notebooks/12_multimodal_rag.ipynb - sections 7-8 and 10</a:t>
            </a:r>
          </a:p>
          <a:p xmlns:a="http://schemas.openxmlformats.org/drawingml/2006/main">
            <a:r>
              <a:t>https://platform.claude.com/docs/en/build-with-claude/vision</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fresh notebook kernel and run from the top. Confirm whether the session is live or offline before presenting results. The default live path makes one Claude vision request; the CLIP model runs locally and may download on first use. Prewarm the model before a timed class. Pause after selection and ask learners to predict which evidence supports each part of the question. Only then run the answer cell. In offline mode, demonstrate catalog retrieval and evidence packaging while pointing out the explicit skips; do not describe that run as a completed vision evaluation.</a:t>
            </a:r>
          </a:p>
          <a:p xmlns:a="http://schemas.openxmlformats.org/drawingml/2006/main">
            <a:r>
              <a:t/>
            </a:r>
          </a:p>
          <a:p xmlns:a="http://schemas.openxmlformats.org/drawingml/2006/main">
            <a:r>
              <a:t>NOTEBOOK: notebooks/12_multimodal_rag.ipynb</a:t>
            </a:r>
          </a:p>
          <a:p xmlns:a="http://schemas.openxmlformats.org/drawingml/2006/main">
            <a:r>
              <a:t/>
            </a:r>
          </a:p>
          <a:p xmlns:a="http://schemas.openxmlformats.org/drawingml/2006/main">
            <a:r>
              <a:t>SOURCES</a:t>
            </a:r>
          </a:p>
          <a:p xmlns:a="http://schemas.openxmlformats.org/drawingml/2006/main">
            <a:r>
              <a:t>notebooks/12_multimodal_rag.ipynb - setup and sections 1-8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learners to predict the behavior before rerunning anything. Removing an item from one list is insufficient if its bytes or an explicit description still remain in the prompt. The exercise must remove the relevant evidence completely to be meaningful. A generation rerun is optional and uses another Claude request; the retrieval comparison can be inspected locally. The expected discussion should cover stable asset IDs, file versions, permissions, provenance, and held-out questions for each modality. Close by connecting the next lessons: scanned pages require page grounding, while audio and video need signal or temporal evidence.</a:t>
            </a:r>
          </a:p>
          <a:p xmlns:a="http://schemas.openxmlformats.org/drawingml/2006/main">
            <a:r>
              <a:t/>
            </a:r>
          </a:p>
          <a:p xmlns:a="http://schemas.openxmlformats.org/drawingml/2006/main">
            <a:r>
              <a:t>NOTEBOOK: notebooks/12_multimodal_rag.ipynb</a:t>
            </a:r>
          </a:p>
          <a:p xmlns:a="http://schemas.openxmlformats.org/drawingml/2006/main">
            <a:r>
              <a:t/>
            </a:r>
          </a:p>
          <a:p xmlns:a="http://schemas.openxmlformats.org/drawingml/2006/main">
            <a:r>
              <a:t>SOURCES</a:t>
            </a:r>
          </a:p>
          <a:p xmlns:a="http://schemas.openxmlformats.org/drawingml/2006/main">
            <a:r>
              <a:t>notebooks/12_multimodal_rag.ipynb - sections 9-10</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438cc77a8044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fae55e54e846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a583a078cb41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bf38ed931a4b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e72f273edc46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c084bd58b641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E543CE-13E0-4F2A-95B1-3D0B99C134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2BE839-BF47-4EAD-9FE9-315A564A5C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F6248F-DD05-48AD-9EA9-078F15EAB78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5FE258-7F17-421F-95CC-24EDF7BD4E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6BAF0AD-E01A-4A4E-9D8D-6C40A89074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B5B8A1-EB5D-475E-872F-A2031B6F61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364A85-9A8C-4579-9BEC-E4D6017DDE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E1B122-0316-4B50-AAEE-3C64C98ADB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52043D-8013-4052-8CAD-84E284E356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077B03-1E9E-489B-8321-CE12F3BD47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876d52ebe24422" /><Relationship Type="http://schemas.openxmlformats.org/officeDocument/2006/relationships/slideLayout" Target="/ppt/slideLayouts/slideLayout1.xml" Id="Ra5e83a3ed8414874" /><Relationship Type="http://schemas.openxmlformats.org/officeDocument/2006/relationships/slideLayout" Target="/ppt/slideLayouts/slideLayout2.xml" Id="R9327b9696e074119" /><Relationship Type="http://schemas.openxmlformats.org/officeDocument/2006/relationships/slideLayout" Target="/ppt/slideLayouts/slideLayout3.xml" Id="Rbe9fd92bfad24cf5" /><Relationship Type="http://schemas.openxmlformats.org/officeDocument/2006/relationships/slideLayout" Target="/ppt/slideLayouts/slideLayout4.xml" Id="R8f2697c48cd74e54" /><Relationship Type="http://schemas.openxmlformats.org/officeDocument/2006/relationships/slideLayout" Target="/ppt/slideLayouts/slideLayout5.xml" Id="Re3b93f40c91d4727" /><Relationship Type="http://schemas.openxmlformats.org/officeDocument/2006/relationships/slideLayout" Target="/ppt/slideLayouts/slideLayout6.xml" Id="R13183ece7d7b4a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e83a3ed8414874"/>
    <p:sldLayoutId xmlns:r="http://schemas.openxmlformats.org/officeDocument/2006/relationships" id="2147483650" r:id="R9327b9696e074119"/>
    <p:sldLayoutId xmlns:r="http://schemas.openxmlformats.org/officeDocument/2006/relationships" id="2147483651" r:id="Rbe9fd92bfad24cf5"/>
    <p:sldLayoutId xmlns:r="http://schemas.openxmlformats.org/officeDocument/2006/relationships" id="2147483652" r:id="R8f2697c48cd74e54"/>
    <p:sldLayoutId xmlns:r="http://schemas.openxmlformats.org/officeDocument/2006/relationships" id="2147483653" r:id="Re3b93f40c91d4727"/>
    <p:sldLayoutId xmlns:r="http://schemas.openxmlformats.org/officeDocument/2006/relationships" id="2147483654" r:id="R13183ece7d7b4a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d3e026dfb24040" /><Relationship Type="http://schemas.openxmlformats.org/officeDocument/2006/relationships/image" Target="/ppt/media/image.png" Id="Rd1a5a43733cd4d44" /><Relationship Type="http://schemas.openxmlformats.org/officeDocument/2006/relationships/notesSlide" Target="/ppt/notesSlides/notesSlide1.xml" Id="Rb6994331da4742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c5c4f0e0424ea4" /><Relationship Type="http://schemas.openxmlformats.org/officeDocument/2006/relationships/notesSlide" Target="/ppt/notesSlides/notesSlide2.xml" Id="R29d7a9b17f5b49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15dfe2d3d64cc4" /><Relationship Type="http://schemas.openxmlformats.org/officeDocument/2006/relationships/notesSlide" Target="/ppt/notesSlides/notesSlide3.xml" Id="R22296865331e40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a170def61542ad" /><Relationship Type="http://schemas.openxmlformats.org/officeDocument/2006/relationships/image" Target="/ppt/media/image2.png" Id="Rdee08dc77b0e41ea" /><Relationship Type="http://schemas.openxmlformats.org/officeDocument/2006/relationships/notesSlide" Target="/ppt/notesSlides/notesSlide4.xml" Id="R743abed178b145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29089b3b52497e" /><Relationship Type="http://schemas.openxmlformats.org/officeDocument/2006/relationships/notesSlide" Target="/ppt/notesSlides/notesSlide5.xml" Id="Rf4a2b14011534c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b4ed6b8a4a4118" /><Relationship Type="http://schemas.openxmlformats.org/officeDocument/2006/relationships/notesSlide" Target="/ppt/notesSlides/notesSlide6.xml" Id="Rc3c459ac060d4e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2dc78ca5444dcf" /><Relationship Type="http://schemas.openxmlformats.org/officeDocument/2006/relationships/notesSlide" Target="/ppt/notesSlides/notesSlide7.xml" Id="Rf604afe777ff40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aaa4f1088440d8" /><Relationship Type="http://schemas.openxmlformats.org/officeDocument/2006/relationships/notesSlide" Target="/ppt/notesSlides/notesSlide8.xml" Id="Reaa4dd46211a43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946826abf8142ae" /><Relationship Type="http://schemas.openxmlformats.org/officeDocument/2006/relationships/notesSlide" Target="/ppt/notesSlides/notesSlide9.xml" Id="Rdc3f076802db4d4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64D1B761-581B-4C62-86D2-553A9EA145F0}"/>
              </a:ext>
            </a:extLst>
          </p:cNvPr>
          <p:cNvPicPr>
            <a:picLocks xmlns:a="http://schemas.openxmlformats.org/drawingml/2006/main" noChangeAspect="1"/>
          </p:cNvPicPr>
          <p:nvPr/>
        </p:nvPicPr>
        <p:blipFill>
          <a:blip xmlns:r="http://schemas.openxmlformats.org/officeDocument/2006/relationships" xmlns:a="http://schemas.openxmlformats.org/drawingml/2006/main" r:embed="Rd1a5a43733cd4d4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7FC6BAC6-B325-4804-B88A-B31B23C9758D}"/>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12</a:t>
            </a:r>
          </a:p>
        </p:txBody>
      </p:sp>
      <p:sp>
        <p:nvSpPr>
          <p:cNvPr id="3" name="deck-title">
            <a:extLst xmlns:a="http://schemas.openxmlformats.org/drawingml/2006/main">
              <a:ext uri="{FF2B5EF4-FFF2-40B4-BE49-F238E27FC236}">
                <a16:creationId xmlns:a16="http://schemas.microsoft.com/office/drawing/2014/main" id="{B1F34C25-F117-4297-95F0-18598FFCB819}"/>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Multimodal RAG</a:t>
            </a:r>
          </a:p>
        </p:txBody>
      </p:sp>
      <p:sp>
        <p:nvSpPr>
          <p:cNvPr id="4" name="text">
            <a:extLst xmlns:a="http://schemas.openxmlformats.org/drawingml/2006/main">
              <a:ext uri="{FF2B5EF4-FFF2-40B4-BE49-F238E27FC236}">
                <a16:creationId xmlns:a16="http://schemas.microsoft.com/office/drawing/2014/main" id="{5E178072-EEA8-4516-9334-C61F103BE370}"/>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Search across media, then answer from the right original evidence.</a:t>
            </a:r>
          </a:p>
        </p:txBody>
      </p:sp>
      <p:sp>
        <p:nvSpPr>
          <p:cNvPr id="5" name="text">
            <a:extLst xmlns:a="http://schemas.openxmlformats.org/drawingml/2006/main">
              <a:ext uri="{FF2B5EF4-FFF2-40B4-BE49-F238E27FC236}">
                <a16:creationId xmlns:a16="http://schemas.microsoft.com/office/drawing/2014/main" id="{F45EAE31-A09A-4CAE-8903-2905CEF6AD50}"/>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12_multimodal_rag.ipynb</a:t>
            </a:r>
          </a:p>
        </p:txBody>
      </p:sp>
    </p:spTree>
    <p:extLst>
      <p:ext uri="{BB962C8B-B14F-4D97-AF65-F5344CB8AC3E}">
        <p14:creationId xmlns:p14="http://schemas.microsoft.com/office/powerpoint/2010/main" val="1346348461"/>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79126DD-4EA0-42E8-A446-3EBC2BCBA941}"/>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12</a:t>
            </a:r>
          </a:p>
        </p:txBody>
      </p:sp>
      <p:sp>
        <p:nvSpPr>
          <p:cNvPr id="2" name="slide-title">
            <a:extLst xmlns:a="http://schemas.openxmlformats.org/drawingml/2006/main">
              <a:ext uri="{FF2B5EF4-FFF2-40B4-BE49-F238E27FC236}">
                <a16:creationId xmlns:a16="http://schemas.microsoft.com/office/drawing/2014/main" id="{63CEA3BF-4CAA-4A91-8727-F89DF27DC33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Search representation versus answer evidence</a:t>
            </a:r>
          </a:p>
        </p:txBody>
      </p:sp>
      <p:sp>
        <p:nvSpPr>
          <p:cNvPr id="3" name="lead">
            <a:extLst xmlns:a="http://schemas.openxmlformats.org/drawingml/2006/main">
              <a:ext uri="{FF2B5EF4-FFF2-40B4-BE49-F238E27FC236}">
                <a16:creationId xmlns:a16="http://schemas.microsoft.com/office/drawing/2014/main" id="{EECD8B6E-AF6D-4766-A907-DC970984475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searchable description is a pointer to an asset; it may omit the fact a question needs.</a:t>
            </a:r>
          </a:p>
        </p:txBody>
      </p:sp>
      <p:sp>
        <p:nvSpPr>
          <p:cNvPr id="4" name="text">
            <a:extLst xmlns:a="http://schemas.openxmlformats.org/drawingml/2006/main">
              <a:ext uri="{FF2B5EF4-FFF2-40B4-BE49-F238E27FC236}">
                <a16:creationId xmlns:a16="http://schemas.microsoft.com/office/drawing/2014/main" id="{9CCAAF4A-B782-4328-B3E1-072539B03D74}"/>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12  /  Multimodal RAG</a:t>
            </a:r>
          </a:p>
        </p:txBody>
      </p:sp>
      <p:sp>
        <p:nvSpPr>
          <p:cNvPr id="5" name="page-number">
            <a:extLst xmlns:a="http://schemas.openxmlformats.org/drawingml/2006/main">
              <a:ext uri="{FF2B5EF4-FFF2-40B4-BE49-F238E27FC236}">
                <a16:creationId xmlns:a16="http://schemas.microsoft.com/office/drawing/2014/main" id="{04E11D8A-6AAA-457B-9CE9-ECCB4B762CE9}"/>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graphicFrame>
        <p:nvGraphicFramePr>
          <p:cNvPr id="6" name="">
            <a:extLst xmlns:a="http://schemas.openxmlformats.org/drawingml/2006/main">
              <a:ext uri="{FF2B5EF4-FFF2-40B4-BE49-F238E27FC236}">
                <a16:creationId xmlns:a16="http://schemas.microsoft.com/office/drawing/2014/main" id="{EFA3F0C1-1686-4F1C-B0BE-33959D28C54E}"/>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Text</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Search policy text and pass the selected original text to Claude.</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Images</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Search captions or CLIP image vectors; attach the selected original image for visual claims.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Recordings</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This notebook searches authored summaries and passes their text, not audio or video bytes.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Source identity</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Retain a stable ID, modality, original path, and provenance for every item.</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866075789"/>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EF5002F-CFC0-4908-9F59-5EDA7733C47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12</a:t>
            </a:r>
          </a:p>
        </p:txBody>
      </p:sp>
      <p:sp>
        <p:nvSpPr>
          <p:cNvPr id="2" name="slide-title">
            <a:extLst xmlns:a="http://schemas.openxmlformats.org/drawingml/2006/main">
              <a:ext uri="{FF2B5EF4-FFF2-40B4-BE49-F238E27FC236}">
                <a16:creationId xmlns:a16="http://schemas.microsoft.com/office/drawing/2014/main" id="{0E22414B-46D4-4360-A898-8CBF00843CF9}"/>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Build a reversible retrieval pipeline</a:t>
            </a:r>
          </a:p>
        </p:txBody>
      </p:sp>
      <p:sp>
        <p:nvSpPr>
          <p:cNvPr id="3" name="lead">
            <a:extLst xmlns:a="http://schemas.openxmlformats.org/drawingml/2006/main">
              <a:ext uri="{FF2B5EF4-FFF2-40B4-BE49-F238E27FC236}">
                <a16:creationId xmlns:a16="http://schemas.microsoft.com/office/drawing/2014/main" id="{F5214C4A-0EEF-4AD7-BDF0-6D07E16B393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Every search hit must lead back to the correct original asset.</a:t>
            </a:r>
          </a:p>
        </p:txBody>
      </p:sp>
      <p:sp>
        <p:nvSpPr>
          <p:cNvPr id="4" name="text">
            <a:extLst xmlns:a="http://schemas.openxmlformats.org/drawingml/2006/main">
              <a:ext uri="{FF2B5EF4-FFF2-40B4-BE49-F238E27FC236}">
                <a16:creationId xmlns:a16="http://schemas.microsoft.com/office/drawing/2014/main" id="{35EE5451-F3F1-4918-84E5-7039E66586C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12  /  Multimodal RAG</a:t>
            </a:r>
          </a:p>
        </p:txBody>
      </p:sp>
      <p:sp>
        <p:nvSpPr>
          <p:cNvPr id="5" name="page-number">
            <a:extLst xmlns:a="http://schemas.openxmlformats.org/drawingml/2006/main">
              <a:ext uri="{FF2B5EF4-FFF2-40B4-BE49-F238E27FC236}">
                <a16:creationId xmlns:a16="http://schemas.microsoft.com/office/drawing/2014/main" id="{2CDC0F34-7E97-4440-BFD1-C7EEDEB210D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8C30F7D7-EA34-4560-8E19-6CECEEC10F80}"/>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Catalog</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Load IDs, paths, modalities, descriptions, and metadata; verify every path exists.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Retrieve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Search a lexical catalog and, in live mode, rank actual image pixels with CLIP.</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Select</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Fuse image ranks and allocate a small evidence budget across relevant modalities.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Ground</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Fetch originals, label their IDs, and request a supported answer with citations.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45338838"/>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D2276BF4-6C2F-45E5-879A-9B165B873AC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12</a:t>
            </a:r>
          </a:p>
        </p:txBody>
      </p:sp>
      <p:sp>
        <p:nvSpPr>
          <p:cNvPr id="2" name="slide-title">
            <a:extLst xmlns:a="http://schemas.openxmlformats.org/drawingml/2006/main">
              <a:ext uri="{FF2B5EF4-FFF2-40B4-BE49-F238E27FC236}">
                <a16:creationId xmlns:a16="http://schemas.microsoft.com/office/drawing/2014/main" id="{E0E74142-CE1B-47E6-A850-50891D9712B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color question needs visual evidence</a:t>
            </a:r>
          </a:p>
        </p:txBody>
      </p:sp>
      <p:sp>
        <p:nvSpPr>
          <p:cNvPr id="3" name="lead">
            <a:extLst xmlns:a="http://schemas.openxmlformats.org/drawingml/2006/main">
              <a:ext uri="{FF2B5EF4-FFF2-40B4-BE49-F238E27FC236}">
                <a16:creationId xmlns:a16="http://schemas.microsoft.com/office/drawing/2014/main" id="{FAB90FC6-4A15-487A-9C84-67FFDDD6420B}"/>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chart contains information that its authored search caption intentionally leaves out.</a:t>
            </a:r>
          </a:p>
        </p:txBody>
      </p:sp>
      <p:sp>
        <p:nvSpPr>
          <p:cNvPr id="4" name="text">
            <a:extLst xmlns:a="http://schemas.openxmlformats.org/drawingml/2006/main">
              <a:ext uri="{FF2B5EF4-FFF2-40B4-BE49-F238E27FC236}">
                <a16:creationId xmlns:a16="http://schemas.microsoft.com/office/drawing/2014/main" id="{795F3120-9A5B-41C1-AFB4-A9EFAC571F2D}"/>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12  /  Multimodal RAG</a:t>
            </a:r>
          </a:p>
        </p:txBody>
      </p:sp>
      <p:sp>
        <p:nvSpPr>
          <p:cNvPr id="5" name="page-number">
            <a:extLst xmlns:a="http://schemas.openxmlformats.org/drawingml/2006/main">
              <a:ext uri="{FF2B5EF4-FFF2-40B4-BE49-F238E27FC236}">
                <a16:creationId xmlns:a16="http://schemas.microsoft.com/office/drawing/2014/main" id="{4E65DC9C-FB90-4E0F-A07B-9D2EECB477F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pic>
        <p:nvPicPr>
          <p:cNvPr id="6" name="">
            <a:extLst xmlns:a="http://schemas.openxmlformats.org/drawingml/2006/main">
              <a:ext uri="{FF2B5EF4-FFF2-40B4-BE49-F238E27FC236}">
                <a16:creationId xmlns:a16="http://schemas.microsoft.com/office/drawing/2014/main" id="{0DF13874-30DA-4E80-8F25-43952CC34A5D}"/>
              </a:ext>
            </a:extLst>
          </p:cNvPr>
          <p:cNvPicPr>
            <a:picLocks xmlns:a="http://schemas.openxmlformats.org/drawingml/2006/main" noChangeAspect="1"/>
          </p:cNvPicPr>
          <p:nvPr/>
        </p:nvPicPr>
        <p:blipFill>
          <a:blip xmlns:r="http://schemas.openxmlformats.org/officeDocument/2006/relationships" xmlns:a="http://schemas.openxmlformats.org/drawingml/2006/main" r:embed="Rdee08dc77b0e41ea"/>
          <a:stretch xmlns:a="http://schemas.openxmlformats.org/drawingml/2006/main"/>
        </p:blipFill>
        <p:spPr>
          <a:xfrm xmlns:a="http://schemas.openxmlformats.org/drawingml/2006/main">
            <a:off x="4883679" y="2562225"/>
            <a:ext cx="6434667" cy="361950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D40A6DBE-6442-46A5-B387-207C5B5ED826}"/>
              </a:ext>
            </a:extLst>
          </p:cNvPr>
          <p:cNvSpPr>
            <a:spLocks xmlns:a="http://schemas.openxmlformats.org/drawingml/2006/main" noGrp="1"/>
          </p:cNvSpPr>
          <p:nvPr/>
        </p:nvSpPr>
        <p:spPr>
          <a:xfrm xmlns:a="http://schemas.openxmlformats.org/drawingml/2006/main">
            <a:off x="609600" y="2524125"/>
            <a:ext cx="352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E83"/>
                </a:solidFill>
                <a:latin typeface="Calibri"/>
                <a:ea typeface="Calibri"/>
                <a:cs typeface="Calibri"/>
              </a:defRPr>
            </a:defPPr>
          </a:lstStyle>
          <a:p xmlns:a="http://schemas.openxmlformats.org/drawingml/2006/main">
            <a:pPr>
              <a:defRPr sz="2100" b="1">
                <a:solidFill>
                  <a:srgbClr val="087E83"/>
                </a:solidFill>
                <a:latin typeface="Calibri"/>
                <a:ea typeface="Calibri"/>
                <a:cs typeface="Calibri"/>
              </a:defRPr>
            </a:pPr>
            <a:r>
              <a:rPr sz="2100" b="1">
                <a:solidFill>
                  <a:srgbClr val="087E83"/>
                </a:solidFill>
                <a:latin typeface="Calibri"/>
                <a:ea typeface="Calibri"/>
                <a:cs typeface="Calibri"/>
              </a:rPr>
              <a:t>Numeric facts</a:t>
            </a:r>
          </a:p>
        </p:txBody>
      </p:sp>
      <p:sp>
        <p:nvSpPr>
          <p:cNvPr id="8" name="text">
            <a:extLst xmlns:a="http://schemas.openxmlformats.org/drawingml/2006/main">
              <a:ext uri="{FF2B5EF4-FFF2-40B4-BE49-F238E27FC236}">
                <a16:creationId xmlns:a16="http://schemas.microsoft.com/office/drawing/2014/main" id="{DACC7CDF-410F-4D01-BDD9-CFEB9539A5EE}"/>
              </a:ext>
            </a:extLst>
          </p:cNvPr>
          <p:cNvSpPr>
            <a:spLocks xmlns:a="http://schemas.openxmlformats.org/drawingml/2006/main" noGrp="1"/>
          </p:cNvSpPr>
          <p:nvPr/>
        </p:nvSpPr>
        <p:spPr>
          <a:xfrm xmlns:a="http://schemas.openxmlformats.org/drawingml/2006/main">
            <a:off x="609600" y="3133725"/>
            <a:ext cx="3524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F3E"/>
                </a:solidFill>
                <a:latin typeface="Calibri"/>
                <a:ea typeface="Calibri"/>
                <a:cs typeface="Calibri"/>
              </a:defRPr>
            </a:defPPr>
          </a:lstStyle>
          <a:p xmlns:a="http://schemas.openxmlformats.org/drawingml/2006/main">
            <a:pPr>
              <a:defRPr sz="1875" b="0">
                <a:solidFill>
                  <a:srgbClr val="102F3E"/>
                </a:solidFill>
                <a:latin typeface="Calibri"/>
                <a:ea typeface="Calibri"/>
                <a:cs typeface="Calibri"/>
              </a:defRPr>
            </a:pPr>
            <a:r>
              <a:rPr sz="1875" b="0">
                <a:solidFill>
                  <a:srgbClr val="102F3E"/>
                </a:solidFill>
                <a:latin typeface="Calibri"/>
                <a:ea typeface="Calibri"/>
                <a:cs typeface="Calibri"/>
              </a:rPr>
              <a:t>Team retains events for 90 days; Enterprise retains them for 365 days.</a:t>
            </a:r>
          </a:p>
        </p:txBody>
      </p:sp>
      <p:sp>
        <p:nvSpPr>
          <p:cNvPr id="9" name="text">
            <a:extLst xmlns:a="http://schemas.openxmlformats.org/drawingml/2006/main">
              <a:ext uri="{FF2B5EF4-FFF2-40B4-BE49-F238E27FC236}">
                <a16:creationId xmlns:a16="http://schemas.microsoft.com/office/drawing/2014/main" id="{700B50E6-D2BB-402C-BE44-F812804B0674}"/>
              </a:ext>
            </a:extLst>
          </p:cNvPr>
          <p:cNvSpPr>
            <a:spLocks xmlns:a="http://schemas.openxmlformats.org/drawingml/2006/main" noGrp="1"/>
          </p:cNvSpPr>
          <p:nvPr/>
        </p:nvSpPr>
        <p:spPr>
          <a:xfrm xmlns:a="http://schemas.openxmlformats.org/drawingml/2006/main">
            <a:off x="609600" y="4381500"/>
            <a:ext cx="352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E83"/>
                </a:solidFill>
                <a:latin typeface="Calibri"/>
                <a:ea typeface="Calibri"/>
                <a:cs typeface="Calibri"/>
              </a:defRPr>
            </a:defPPr>
          </a:lstStyle>
          <a:p xmlns:a="http://schemas.openxmlformats.org/drawingml/2006/main">
            <a:pPr>
              <a:defRPr sz="2100" b="1">
                <a:solidFill>
                  <a:srgbClr val="087E83"/>
                </a:solidFill>
                <a:latin typeface="Calibri"/>
                <a:ea typeface="Calibri"/>
                <a:cs typeface="Calibri"/>
              </a:defRPr>
            </a:pPr>
            <a:r>
              <a:rPr sz="2100" b="1">
                <a:solidFill>
                  <a:srgbClr val="087E83"/>
                </a:solidFill>
                <a:latin typeface="Calibri"/>
                <a:ea typeface="Calibri"/>
                <a:cs typeface="Calibri"/>
              </a:rPr>
              <a:t>Visual fact</a:t>
            </a:r>
          </a:p>
        </p:txBody>
      </p:sp>
      <p:sp>
        <p:nvSpPr>
          <p:cNvPr id="10" name="text">
            <a:extLst xmlns:a="http://schemas.openxmlformats.org/drawingml/2006/main">
              <a:ext uri="{FF2B5EF4-FFF2-40B4-BE49-F238E27FC236}">
                <a16:creationId xmlns:a16="http://schemas.microsoft.com/office/drawing/2014/main" id="{033C06B2-84EF-43B3-94C4-EF96426398E4}"/>
              </a:ext>
            </a:extLst>
          </p:cNvPr>
          <p:cNvSpPr>
            <a:spLocks xmlns:a="http://schemas.openxmlformats.org/drawingml/2006/main" noGrp="1"/>
          </p:cNvSpPr>
          <p:nvPr/>
        </p:nvSpPr>
        <p:spPr>
          <a:xfrm xmlns:a="http://schemas.openxmlformats.org/drawingml/2006/main">
            <a:off x="609600" y="4991100"/>
            <a:ext cx="3524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F3E"/>
                </a:solidFill>
                <a:latin typeface="Calibri"/>
                <a:ea typeface="Calibri"/>
                <a:cs typeface="Calibri"/>
              </a:defRPr>
            </a:defPPr>
          </a:lstStyle>
          <a:p xmlns:a="http://schemas.openxmlformats.org/drawingml/2006/main">
            <a:pPr>
              <a:defRPr sz="1875" b="0">
                <a:solidFill>
                  <a:srgbClr val="102F3E"/>
                </a:solidFill>
                <a:latin typeface="Calibri"/>
                <a:ea typeface="Calibri"/>
                <a:cs typeface="Calibri"/>
              </a:defRPr>
            </a:pPr>
            <a:r>
              <a:rPr sz="1875" b="0">
                <a:solidFill>
                  <a:srgbClr val="102F3E"/>
                </a:solidFill>
                <a:latin typeface="Calibri"/>
                <a:ea typeface="Calibri"/>
                <a:cs typeface="Calibri"/>
              </a:rPr>
              <a:t>The taller Enterprise bar is purple. Verify its color from the actual chart pixels.</a:t>
            </a:r>
          </a:p>
        </p:txBody>
      </p:sp>
    </p:spTree>
    <p:extLst>
      <p:ext uri="{BB962C8B-B14F-4D97-AF65-F5344CB8AC3E}">
        <p14:creationId xmlns:p14="http://schemas.microsoft.com/office/powerpoint/2010/main" val="710232098"/>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7D76E444-850D-491F-A7C0-9E8B2494FAC7}"/>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12</a:t>
            </a:r>
          </a:p>
        </p:txBody>
      </p:sp>
      <p:sp>
        <p:nvSpPr>
          <p:cNvPr id="2" name="slide-title">
            <a:extLst xmlns:a="http://schemas.openxmlformats.org/drawingml/2006/main">
              <a:ext uri="{FF2B5EF4-FFF2-40B4-BE49-F238E27FC236}">
                <a16:creationId xmlns:a16="http://schemas.microsoft.com/office/drawing/2014/main" id="{93ED584C-3918-4120-82BA-6BA5016D0D1F}"/>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CLIP connects words and image pixels</a:t>
            </a:r>
          </a:p>
        </p:txBody>
      </p:sp>
      <p:sp>
        <p:nvSpPr>
          <p:cNvPr id="3" name="lead">
            <a:extLst xmlns:a="http://schemas.openxmlformats.org/drawingml/2006/main">
              <a:ext uri="{FF2B5EF4-FFF2-40B4-BE49-F238E27FC236}">
                <a16:creationId xmlns:a16="http://schemas.microsoft.com/office/drawing/2014/main" id="{12280D9D-5E59-41C7-BDEF-782EC9FB8F13}"/>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Its text and image encoders place both inputs in a shared vector space.</a:t>
            </a:r>
          </a:p>
        </p:txBody>
      </p:sp>
      <p:sp>
        <p:nvSpPr>
          <p:cNvPr id="4" name="text">
            <a:extLst xmlns:a="http://schemas.openxmlformats.org/drawingml/2006/main">
              <a:ext uri="{FF2B5EF4-FFF2-40B4-BE49-F238E27FC236}">
                <a16:creationId xmlns:a16="http://schemas.microsoft.com/office/drawing/2014/main" id="{4077A621-B6AE-4A58-B46E-076059EA5A8D}"/>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12  /  Multimodal RAG</a:t>
            </a:r>
          </a:p>
        </p:txBody>
      </p:sp>
      <p:sp>
        <p:nvSpPr>
          <p:cNvPr id="5" name="page-number">
            <a:extLst xmlns:a="http://schemas.openxmlformats.org/drawingml/2006/main">
              <a:ext uri="{FF2B5EF4-FFF2-40B4-BE49-F238E27FC236}">
                <a16:creationId xmlns:a16="http://schemas.microsoft.com/office/drawing/2014/main" id="{6F06D4D2-6935-472E-8AA1-C608EF1F62C5}"/>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sp>
        <p:nvSpPr>
          <p:cNvPr id="6" name="text">
            <a:extLst xmlns:a="http://schemas.openxmlformats.org/drawingml/2006/main">
              <a:ext uri="{FF2B5EF4-FFF2-40B4-BE49-F238E27FC236}">
                <a16:creationId xmlns:a16="http://schemas.microsoft.com/office/drawing/2014/main" id="{34206D54-D436-4447-8A16-887A493E754C}"/>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Query encoder</a:t>
            </a:r>
          </a:p>
        </p:txBody>
      </p:sp>
      <p:sp>
        <p:nvSpPr>
          <p:cNvPr id="7" name="text">
            <a:extLst xmlns:a="http://schemas.openxmlformats.org/drawingml/2006/main">
              <a:ext uri="{FF2B5EF4-FFF2-40B4-BE49-F238E27FC236}">
                <a16:creationId xmlns:a16="http://schemas.microsoft.com/office/drawing/2014/main" id="{39B98764-D40E-4278-B28E-1C63DB8DD59F}"/>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Encode a phrase such as a bar chart comparing data retention days.</a:t>
            </a:r>
          </a:p>
        </p:txBody>
      </p:sp>
      <p:sp>
        <p:nvSpPr>
          <p:cNvPr id="8" name="text">
            <a:extLst xmlns:a="http://schemas.openxmlformats.org/drawingml/2006/main">
              <a:ext uri="{FF2B5EF4-FFF2-40B4-BE49-F238E27FC236}">
                <a16:creationId xmlns:a16="http://schemas.microsoft.com/office/drawing/2014/main" id="{AA9F4F88-5842-4B87-AB55-6840F5E77323}"/>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Image encoder</a:t>
            </a:r>
          </a:p>
        </p:txBody>
      </p:sp>
      <p:sp>
        <p:nvSpPr>
          <p:cNvPr id="9" name="text">
            <a:extLst xmlns:a="http://schemas.openxmlformats.org/drawingml/2006/main">
              <a:ext uri="{FF2B5EF4-FFF2-40B4-BE49-F238E27FC236}">
                <a16:creationId xmlns:a16="http://schemas.microsoft.com/office/drawing/2014/main" id="{0F9C0094-7D6D-4964-B567-1126D5D8F3D1}"/>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Encode actual image pixels, rather than the catalog caption or filename.</a:t>
            </a:r>
          </a:p>
        </p:txBody>
      </p:sp>
      <p:sp>
        <p:nvSpPr>
          <p:cNvPr id="10" name="text">
            <a:extLst xmlns:a="http://schemas.openxmlformats.org/drawingml/2006/main">
              <a:ext uri="{FF2B5EF4-FFF2-40B4-BE49-F238E27FC236}">
                <a16:creationId xmlns:a16="http://schemas.microsoft.com/office/drawing/2014/main" id="{94177E25-18E9-405A-9784-D33FB9C84840}"/>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Rank</a:t>
            </a:r>
          </a:p>
        </p:txBody>
      </p:sp>
      <p:sp>
        <p:nvSpPr>
          <p:cNvPr id="11" name="text">
            <a:extLst xmlns:a="http://schemas.openxmlformats.org/drawingml/2006/main">
              <a:ext uri="{FF2B5EF4-FFF2-40B4-BE49-F238E27FC236}">
                <a16:creationId xmlns:a16="http://schemas.microsoft.com/office/drawing/2014/main" id="{F32A1F4C-A112-4D6B-8549-3B7269B616FF}"/>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Normalize vectors and compare cosine similarity; inspect the returned images.</a:t>
            </a:r>
          </a:p>
        </p:txBody>
      </p:sp>
      <p:sp>
        <p:nvSpPr>
          <p:cNvPr id="12" name="text">
            <a:extLst xmlns:a="http://schemas.openxmlformats.org/drawingml/2006/main">
              <a:ext uri="{FF2B5EF4-FFF2-40B4-BE49-F238E27FC236}">
                <a16:creationId xmlns:a16="http://schemas.microsoft.com/office/drawing/2014/main" id="{77F14858-AF9D-4BEF-AFCD-540DCCDDA7DF}"/>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Limit</a:t>
            </a:r>
          </a:p>
        </p:txBody>
      </p:sp>
      <p:sp>
        <p:nvSpPr>
          <p:cNvPr id="13" name="text">
            <a:extLst xmlns:a="http://schemas.openxmlformats.org/drawingml/2006/main">
              <a:ext uri="{FF2B5EF4-FFF2-40B4-BE49-F238E27FC236}">
                <a16:creationId xmlns:a16="http://schemas.microsoft.com/office/drawing/2014/main" id="{F1B26EE6-0DD1-4039-8C2B-596BC134E1C2}"/>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Similarity can miss tiny labels and exact chart numbers; it is not a proof of relevance.</a:t>
            </a:r>
          </a:p>
        </p:txBody>
      </p:sp>
    </p:spTree>
    <p:extLst>
      <p:ext uri="{BB962C8B-B14F-4D97-AF65-F5344CB8AC3E}">
        <p14:creationId xmlns:p14="http://schemas.microsoft.com/office/powerpoint/2010/main" val="52600899"/>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EAFF2F4B-1EA7-4E57-86EC-EFFBB3753B7E}"/>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12</a:t>
            </a:r>
          </a:p>
        </p:txBody>
      </p:sp>
      <p:sp>
        <p:nvSpPr>
          <p:cNvPr id="2" name="slide-title">
            <a:extLst xmlns:a="http://schemas.openxmlformats.org/drawingml/2006/main">
              <a:ext uri="{FF2B5EF4-FFF2-40B4-BE49-F238E27FC236}">
                <a16:creationId xmlns:a16="http://schemas.microsoft.com/office/drawing/2014/main" id="{7FF1D2B2-2FC4-4C8C-9F1F-33226F789A5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Fuse ranks without mixing score scales</a:t>
            </a:r>
          </a:p>
        </p:txBody>
      </p:sp>
      <p:sp>
        <p:nvSpPr>
          <p:cNvPr id="3" name="lead">
            <a:extLst xmlns:a="http://schemas.openxmlformats.org/drawingml/2006/main">
              <a:ext uri="{FF2B5EF4-FFF2-40B4-BE49-F238E27FC236}">
                <a16:creationId xmlns:a16="http://schemas.microsoft.com/office/drawing/2014/main" id="{7E8E91F2-0B39-4982-8353-11F302EA44B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Reciprocal-rank fusion adds 1 / (60 + rank) for each source in each ranking.</a:t>
            </a:r>
          </a:p>
        </p:txBody>
      </p:sp>
      <p:sp>
        <p:nvSpPr>
          <p:cNvPr id="4" name="text">
            <a:extLst xmlns:a="http://schemas.openxmlformats.org/drawingml/2006/main">
              <a:ext uri="{FF2B5EF4-FFF2-40B4-BE49-F238E27FC236}">
                <a16:creationId xmlns:a16="http://schemas.microsoft.com/office/drawing/2014/main" id="{B42CABD7-6281-4FB8-9364-A353133BA84D}"/>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12  /  Multimodal RAG</a:t>
            </a:r>
          </a:p>
        </p:txBody>
      </p:sp>
      <p:sp>
        <p:nvSpPr>
          <p:cNvPr id="5" name="page-number">
            <a:extLst xmlns:a="http://schemas.openxmlformats.org/drawingml/2006/main">
              <a:ext uri="{FF2B5EF4-FFF2-40B4-BE49-F238E27FC236}">
                <a16:creationId xmlns:a16="http://schemas.microsoft.com/office/drawing/2014/main" id="{51731A7E-A868-4AA9-9AB3-033E46D61CBA}"/>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A5CD6248-6C25-4E08-8956-9E79573FBD30}"/>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Caption rank 1</a:t>
            </a:r>
          </a:p>
        </p:txBody>
      </p:sp>
      <p:sp>
        <p:nvSpPr>
          <p:cNvPr id="7" name="text">
            <a:extLst xmlns:a="http://schemas.openxmlformats.org/drawingml/2006/main">
              <a:ext uri="{FF2B5EF4-FFF2-40B4-BE49-F238E27FC236}">
                <a16:creationId xmlns:a16="http://schemas.microsoft.com/office/drawing/2014/main" id="{247CE62E-7459-44ED-B016-7331EF09D699}"/>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One contribution is 1 / 61, approximately 0.01639.</a:t>
            </a:r>
          </a:p>
        </p:txBody>
      </p:sp>
      <p:sp>
        <p:nvSpPr>
          <p:cNvPr id="8" name="text">
            <a:extLst xmlns:a="http://schemas.openxmlformats.org/drawingml/2006/main">
              <a:ext uri="{FF2B5EF4-FFF2-40B4-BE49-F238E27FC236}">
                <a16:creationId xmlns:a16="http://schemas.microsoft.com/office/drawing/2014/main" id="{21C0EA0D-1715-46A3-8B03-D5D61A2C9136}"/>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CLIP rank 2</a:t>
            </a:r>
          </a:p>
        </p:txBody>
      </p:sp>
      <p:sp>
        <p:nvSpPr>
          <p:cNvPr id="9" name="text">
            <a:extLst xmlns:a="http://schemas.openxmlformats.org/drawingml/2006/main">
              <a:ext uri="{FF2B5EF4-FFF2-40B4-BE49-F238E27FC236}">
                <a16:creationId xmlns:a16="http://schemas.microsoft.com/office/drawing/2014/main" id="{94166132-DF28-4ABB-922C-C3DA9C4E0E0E}"/>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second contribution is 1 / 62, approximately 0.01613.</a:t>
            </a:r>
          </a:p>
        </p:txBody>
      </p:sp>
      <p:sp>
        <p:nvSpPr>
          <p:cNvPr id="10" name="text">
            <a:extLst xmlns:a="http://schemas.openxmlformats.org/drawingml/2006/main">
              <a:ext uri="{FF2B5EF4-FFF2-40B4-BE49-F238E27FC236}">
                <a16:creationId xmlns:a16="http://schemas.microsoft.com/office/drawing/2014/main" id="{430027D3-3454-4530-BE08-77ADA5E5604A}"/>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Fused score</a:t>
            </a:r>
          </a:p>
        </p:txBody>
      </p:sp>
      <p:sp>
        <p:nvSpPr>
          <p:cNvPr id="11" name="text">
            <a:extLst xmlns:a="http://schemas.openxmlformats.org/drawingml/2006/main">
              <a:ext uri="{FF2B5EF4-FFF2-40B4-BE49-F238E27FC236}">
                <a16:creationId xmlns:a16="http://schemas.microsoft.com/office/drawing/2014/main" id="{3C30F529-2F23-4309-ACA3-D73D911822BB}"/>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same image receives approximately 0.03252 from these two lists.</a:t>
            </a:r>
          </a:p>
        </p:txBody>
      </p:sp>
      <p:sp>
        <p:nvSpPr>
          <p:cNvPr id="12" name="text">
            <a:extLst xmlns:a="http://schemas.openxmlformats.org/drawingml/2006/main">
              <a:ext uri="{FF2B5EF4-FFF2-40B4-BE49-F238E27FC236}">
                <a16:creationId xmlns:a16="http://schemas.microsoft.com/office/drawing/2014/main" id="{0B3361AD-7568-493F-A154-A7C4AF5E3CFE}"/>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Evidence budget</a:t>
            </a:r>
          </a:p>
        </p:txBody>
      </p:sp>
      <p:sp>
        <p:nvSpPr>
          <p:cNvPr id="13" name="text">
            <a:extLst xmlns:a="http://schemas.openxmlformats.org/drawingml/2006/main">
              <a:ext uri="{FF2B5EF4-FFF2-40B4-BE49-F238E27FC236}">
                <a16:creationId xmlns:a16="http://schemas.microsoft.com/office/drawing/2014/main" id="{3E3C85A1-1EF0-4E17-9A10-D9D1257F3EA7}"/>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Use one image slot, one policy slot, and at most one relevant summary per recording modality.</a:t>
            </a:r>
          </a:p>
        </p:txBody>
      </p:sp>
    </p:spTree>
    <p:extLst>
      <p:ext uri="{BB962C8B-B14F-4D97-AF65-F5344CB8AC3E}">
        <p14:creationId xmlns:p14="http://schemas.microsoft.com/office/powerpoint/2010/main" val="432354913"/>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94F1E6DC-35F0-43CA-9F47-15058AB6BAF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12</a:t>
            </a:r>
          </a:p>
        </p:txBody>
      </p:sp>
      <p:sp>
        <p:nvSpPr>
          <p:cNvPr id="2" name="slide-title">
            <a:extLst xmlns:a="http://schemas.openxmlformats.org/drawingml/2006/main">
              <a:ext uri="{FF2B5EF4-FFF2-40B4-BE49-F238E27FC236}">
                <a16:creationId xmlns:a16="http://schemas.microsoft.com/office/drawing/2014/main" id="{9DA53995-7DA7-4025-A276-F1810C67F319}"/>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valid citation is only the first check</a:t>
            </a:r>
          </a:p>
        </p:txBody>
      </p:sp>
      <p:sp>
        <p:nvSpPr>
          <p:cNvPr id="3" name="lead">
            <a:extLst xmlns:a="http://schemas.openxmlformats.org/drawingml/2006/main">
              <a:ext uri="{FF2B5EF4-FFF2-40B4-BE49-F238E27FC236}">
                <a16:creationId xmlns:a16="http://schemas.microsoft.com/office/drawing/2014/main" id="{F270CC81-DEE9-4D0E-9E29-33EBD2DA6D0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Retrieval coverage and factual support need separate inspection.</a:t>
            </a:r>
          </a:p>
        </p:txBody>
      </p:sp>
      <p:sp>
        <p:nvSpPr>
          <p:cNvPr id="4" name="text">
            <a:extLst xmlns:a="http://schemas.openxmlformats.org/drawingml/2006/main">
              <a:ext uri="{FF2B5EF4-FFF2-40B4-BE49-F238E27FC236}">
                <a16:creationId xmlns:a16="http://schemas.microsoft.com/office/drawing/2014/main" id="{F210E3FB-48B5-45FF-A7C7-DA321D57207F}"/>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12  /  Multimodal RAG</a:t>
            </a:r>
          </a:p>
        </p:txBody>
      </p:sp>
      <p:sp>
        <p:nvSpPr>
          <p:cNvPr id="5" name="page-number">
            <a:extLst xmlns:a="http://schemas.openxmlformats.org/drawingml/2006/main">
              <a:ext uri="{FF2B5EF4-FFF2-40B4-BE49-F238E27FC236}">
                <a16:creationId xmlns:a16="http://schemas.microsoft.com/office/drawing/2014/main" id="{F952BDA7-E518-4451-BEEB-EAE654E5394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E71A7D5F-0405-42E3-82AC-5419C0006056}"/>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Known ID</a:t>
            </a:r>
          </a:p>
        </p:txBody>
      </p:sp>
      <p:sp>
        <p:nvSpPr>
          <p:cNvPr id="7" name="text">
            <a:extLst xmlns:a="http://schemas.openxmlformats.org/drawingml/2006/main">
              <a:ext uri="{FF2B5EF4-FFF2-40B4-BE49-F238E27FC236}">
                <a16:creationId xmlns:a16="http://schemas.microsoft.com/office/drawing/2014/main" id="{216D1806-CB7D-4AF5-8366-B484DA80F1CF}"/>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Check that every cited ID belongs to the supplied evidence set.</a:t>
            </a:r>
          </a:p>
        </p:txBody>
      </p:sp>
      <p:sp>
        <p:nvSpPr>
          <p:cNvPr id="8" name="text">
            <a:extLst xmlns:a="http://schemas.openxmlformats.org/drawingml/2006/main">
              <a:ext uri="{FF2B5EF4-FFF2-40B4-BE49-F238E27FC236}">
                <a16:creationId xmlns:a16="http://schemas.microsoft.com/office/drawing/2014/main" id="{A655DE4B-1DBE-4E19-8335-847715901860}"/>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Supported claim</a:t>
            </a:r>
          </a:p>
        </p:txBody>
      </p:sp>
      <p:sp>
        <p:nvSpPr>
          <p:cNvPr id="9" name="text">
            <a:extLst xmlns:a="http://schemas.openxmlformats.org/drawingml/2006/main">
              <a:ext uri="{FF2B5EF4-FFF2-40B4-BE49-F238E27FC236}">
                <a16:creationId xmlns:a16="http://schemas.microsoft.com/office/drawing/2014/main" id="{DD21537E-0EB5-415A-A2BA-955969746938}"/>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Read the cited text or pixels and verify that they establish the exact statement.</a:t>
            </a:r>
          </a:p>
        </p:txBody>
      </p:sp>
      <p:sp>
        <p:nvSpPr>
          <p:cNvPr id="10" name="text">
            <a:extLst xmlns:a="http://schemas.openxmlformats.org/drawingml/2006/main">
              <a:ext uri="{FF2B5EF4-FFF2-40B4-BE49-F238E27FC236}">
                <a16:creationId xmlns:a16="http://schemas.microsoft.com/office/drawing/2014/main" id="{8CD3E6F1-FEC3-4B8D-B6AA-0F3F7E3ACC0A}"/>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Missing modality</a:t>
            </a:r>
          </a:p>
        </p:txBody>
      </p:sp>
      <p:sp>
        <p:nvSpPr>
          <p:cNvPr id="11" name="text">
            <a:extLst xmlns:a="http://schemas.openxmlformats.org/drawingml/2006/main">
              <a:ext uri="{FF2B5EF4-FFF2-40B4-BE49-F238E27FC236}">
                <a16:creationId xmlns:a16="http://schemas.microsoft.com/office/drawing/2014/main" id="{A66AB527-2FF2-4ED1-A9A8-1BE102EFEB9E}"/>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Abstain on an audible alarm when only a transcript summary is available.</a:t>
            </a:r>
          </a:p>
        </p:txBody>
      </p:sp>
      <p:sp>
        <p:nvSpPr>
          <p:cNvPr id="12" name="text">
            <a:extLst xmlns:a="http://schemas.openxmlformats.org/drawingml/2006/main">
              <a:ext uri="{FF2B5EF4-FFF2-40B4-BE49-F238E27FC236}">
                <a16:creationId xmlns:a16="http://schemas.microsoft.com/office/drawing/2014/main" id="{D4B789F4-5EFC-4D62-9A16-33276EA2F065}"/>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Untrusted content</a:t>
            </a:r>
          </a:p>
        </p:txBody>
      </p:sp>
      <p:sp>
        <p:nvSpPr>
          <p:cNvPr id="13" name="text">
            <a:extLst xmlns:a="http://schemas.openxmlformats.org/drawingml/2006/main">
              <a:ext uri="{FF2B5EF4-FFF2-40B4-BE49-F238E27FC236}">
                <a16:creationId xmlns:a16="http://schemas.microsoft.com/office/drawing/2014/main" id="{0A7AE3BF-FD99-411C-B2B5-96D17481BA39}"/>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Treat instructions inside retrieved text and images as data, not as commands.</a:t>
            </a:r>
          </a:p>
        </p:txBody>
      </p:sp>
    </p:spTree>
    <p:extLst>
      <p:ext uri="{BB962C8B-B14F-4D97-AF65-F5344CB8AC3E}">
        <p14:creationId xmlns:p14="http://schemas.microsoft.com/office/powerpoint/2010/main" val="395025714"/>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F4075FF4-6270-4A59-8362-D54832A0D1A5}"/>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12</a:t>
            </a:r>
          </a:p>
        </p:txBody>
      </p:sp>
      <p:sp>
        <p:nvSpPr>
          <p:cNvPr id="2" name="slide-title">
            <a:extLst xmlns:a="http://schemas.openxmlformats.org/drawingml/2006/main">
              <a:ext uri="{FF2B5EF4-FFF2-40B4-BE49-F238E27FC236}">
                <a16:creationId xmlns:a16="http://schemas.microsoft.com/office/drawing/2014/main" id="{046E7B3D-55FB-4133-8A61-95D28F03B32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inspect evidence before the answer</a:t>
            </a:r>
          </a:p>
        </p:txBody>
      </p:sp>
      <p:sp>
        <p:nvSpPr>
          <p:cNvPr id="3" name="lead">
            <a:extLst xmlns:a="http://schemas.openxmlformats.org/drawingml/2006/main">
              <a:ext uri="{FF2B5EF4-FFF2-40B4-BE49-F238E27FC236}">
                <a16:creationId xmlns:a16="http://schemas.microsoft.com/office/drawing/2014/main" id="{FBFF241E-2581-4FB2-8749-8F1D0DFFAB15}"/>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Open notebook 12 and keep the selected assets visible beside the generated response.</a:t>
            </a:r>
          </a:p>
        </p:txBody>
      </p:sp>
      <p:sp>
        <p:nvSpPr>
          <p:cNvPr id="4" name="text">
            <a:extLst xmlns:a="http://schemas.openxmlformats.org/drawingml/2006/main">
              <a:ext uri="{FF2B5EF4-FFF2-40B4-BE49-F238E27FC236}">
                <a16:creationId xmlns:a16="http://schemas.microsoft.com/office/drawing/2014/main" id="{A02F024C-2CFE-43EB-8EDE-07F2CC3E68A6}"/>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12  /  Multimodal RAG</a:t>
            </a:r>
          </a:p>
        </p:txBody>
      </p:sp>
      <p:sp>
        <p:nvSpPr>
          <p:cNvPr id="5" name="page-number">
            <a:extLst xmlns:a="http://schemas.openxmlformats.org/drawingml/2006/main">
              <a:ext uri="{FF2B5EF4-FFF2-40B4-BE49-F238E27FC236}">
                <a16:creationId xmlns:a16="http://schemas.microsoft.com/office/drawing/2014/main" id="{C31D4E39-CE50-4AE4-9418-68C244661A5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205154EC-BD06-42A9-A84B-50579C1079DA}"/>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153D262B-1A16-4FCF-9AE9-537FC90E011E}"/>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Inspect - sections 1-3</a:t>
            </a:r>
          </a:p>
        </p:txBody>
      </p:sp>
      <p:sp>
        <p:nvSpPr>
          <p:cNvPr id="8" name="text">
            <a:extLst xmlns:a="http://schemas.openxmlformats.org/drawingml/2006/main">
              <a:ext uri="{FF2B5EF4-FFF2-40B4-BE49-F238E27FC236}">
                <a16:creationId xmlns:a16="http://schemas.microsoft.com/office/drawing/2014/main" id="{4AD0FE18-895A-401D-8603-1AC41DA58029}"/>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Read the catalog, view the chart, and compare its pixels with its incomplete caption.</a:t>
            </a:r>
          </a:p>
        </p:txBody>
      </p:sp>
      <p:sp>
        <p:nvSpPr>
          <p:cNvPr id="9" name="text">
            <a:extLst xmlns:a="http://schemas.openxmlformats.org/drawingml/2006/main">
              <a:ext uri="{FF2B5EF4-FFF2-40B4-BE49-F238E27FC236}">
                <a16:creationId xmlns:a16="http://schemas.microsoft.com/office/drawing/2014/main" id="{31B4B4D5-7A06-48B2-A0B6-20A796DBCEB1}"/>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DEF99353-762E-444B-8AEC-0818AF36F051}"/>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Compare - sections 4-5</a:t>
            </a:r>
          </a:p>
        </p:txBody>
      </p:sp>
      <p:sp>
        <p:nvSpPr>
          <p:cNvPr id="11" name="text">
            <a:extLst xmlns:a="http://schemas.openxmlformats.org/drawingml/2006/main">
              <a:ext uri="{FF2B5EF4-FFF2-40B4-BE49-F238E27FC236}">
                <a16:creationId xmlns:a16="http://schemas.microsoft.com/office/drawing/2014/main" id="{F8320FF5-882B-47A0-A10E-11011B4AEA41}"/>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Run CLIP in live mode; compare caption, visual, and fused ranks.</a:t>
            </a:r>
          </a:p>
        </p:txBody>
      </p:sp>
      <p:sp>
        <p:nvSpPr>
          <p:cNvPr id="12" name="text">
            <a:extLst xmlns:a="http://schemas.openxmlformats.org/drawingml/2006/main">
              <a:ext uri="{FF2B5EF4-FFF2-40B4-BE49-F238E27FC236}">
                <a16:creationId xmlns:a16="http://schemas.microsoft.com/office/drawing/2014/main" id="{72E27880-C19F-4E33-87B0-2088778BC306}"/>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C5E06BF3-BBBA-4ACD-8565-F4D59FB7E85A}"/>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Generate - sections 6-7</a:t>
            </a:r>
          </a:p>
        </p:txBody>
      </p:sp>
      <p:sp>
        <p:nvSpPr>
          <p:cNvPr id="14" name="text">
            <a:extLst xmlns:a="http://schemas.openxmlformats.org/drawingml/2006/main">
              <a:ext uri="{FF2B5EF4-FFF2-40B4-BE49-F238E27FC236}">
                <a16:creationId xmlns:a16="http://schemas.microsoft.com/office/drawing/2014/main" id="{D5B272AA-1A55-4F7F-8ADF-C8A9DFEC5DEB}"/>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Send selected images and text to Claude, then inspect tokens and latency.</a:t>
            </a:r>
          </a:p>
        </p:txBody>
      </p:sp>
      <p:sp>
        <p:nvSpPr>
          <p:cNvPr id="15" name="text">
            <a:extLst xmlns:a="http://schemas.openxmlformats.org/drawingml/2006/main">
              <a:ext uri="{FF2B5EF4-FFF2-40B4-BE49-F238E27FC236}">
                <a16:creationId xmlns:a16="http://schemas.microsoft.com/office/drawing/2014/main" id="{50B7A3EF-2C67-4913-B744-E1A31FC638D7}"/>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821155C7-A328-4187-B7D9-B16FBD7C19B3}"/>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Audit - section 8</a:t>
            </a:r>
          </a:p>
        </p:txBody>
      </p:sp>
      <p:sp>
        <p:nvSpPr>
          <p:cNvPr id="17" name="text">
            <a:extLst xmlns:a="http://schemas.openxmlformats.org/drawingml/2006/main">
              <a:ext uri="{FF2B5EF4-FFF2-40B4-BE49-F238E27FC236}">
                <a16:creationId xmlns:a16="http://schemas.microsoft.com/office/drawing/2014/main" id="{7A756193-BEC3-46B4-911E-E2A643B80F5D}"/>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Check citation IDs and manually verify visual and numeric claims.</a:t>
            </a:r>
          </a:p>
        </p:txBody>
      </p:sp>
    </p:spTree>
    <p:extLst>
      <p:ext uri="{BB962C8B-B14F-4D97-AF65-F5344CB8AC3E}">
        <p14:creationId xmlns:p14="http://schemas.microsoft.com/office/powerpoint/2010/main" val="1942154791"/>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81BD67C1-1499-4626-AE97-C5CC081E3FA5}"/>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12</a:t>
            </a:r>
          </a:p>
        </p:txBody>
      </p:sp>
      <p:sp>
        <p:nvSpPr>
          <p:cNvPr id="2" name="slide-title">
            <a:extLst xmlns:a="http://schemas.openxmlformats.org/drawingml/2006/main">
              <a:ext uri="{FF2B5EF4-FFF2-40B4-BE49-F238E27FC236}">
                <a16:creationId xmlns:a16="http://schemas.microsoft.com/office/drawing/2014/main" id="{F795283B-0AA2-4B38-8534-87329B58598F}"/>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Remove the evidence and predict the outcome</a:t>
            </a:r>
          </a:p>
        </p:txBody>
      </p:sp>
      <p:sp>
        <p:nvSpPr>
          <p:cNvPr id="3" name="lead">
            <a:extLst xmlns:a="http://schemas.openxmlformats.org/drawingml/2006/main">
              <a:ext uri="{FF2B5EF4-FFF2-40B4-BE49-F238E27FC236}">
                <a16:creationId xmlns:a16="http://schemas.microsoft.com/office/drawing/2014/main" id="{01520DCA-662C-490C-8C41-A1C6ABAF52C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Use an ablation to expose what each modality contributes.</a:t>
            </a:r>
          </a:p>
        </p:txBody>
      </p:sp>
      <p:sp>
        <p:nvSpPr>
          <p:cNvPr id="4" name="text">
            <a:extLst xmlns:a="http://schemas.openxmlformats.org/drawingml/2006/main">
              <a:ext uri="{FF2B5EF4-FFF2-40B4-BE49-F238E27FC236}">
                <a16:creationId xmlns:a16="http://schemas.microsoft.com/office/drawing/2014/main" id="{B5C7D16F-A00C-4B6F-B4DE-421C949871EC}"/>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12  /  Multimodal RAG</a:t>
            </a:r>
          </a:p>
        </p:txBody>
      </p:sp>
      <p:sp>
        <p:nvSpPr>
          <p:cNvPr id="5" name="page-number">
            <a:extLst xmlns:a="http://schemas.openxmlformats.org/drawingml/2006/main">
              <a:ext uri="{FF2B5EF4-FFF2-40B4-BE49-F238E27FC236}">
                <a16:creationId xmlns:a16="http://schemas.microsoft.com/office/drawing/2014/main" id="{7B6657D3-0EA8-437B-BE09-B242DA0FD390}"/>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1440FF14-979B-4698-A38A-96FE7DCBC6EB}"/>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Try</a:t>
            </a:r>
          </a:p>
        </p:txBody>
      </p:sp>
      <p:sp>
        <p:nvSpPr>
          <p:cNvPr id="7" name="text">
            <a:extLst xmlns:a="http://schemas.openxmlformats.org/drawingml/2006/main">
              <a:ext uri="{FF2B5EF4-FFF2-40B4-BE49-F238E27FC236}">
                <a16:creationId xmlns:a16="http://schemas.microsoft.com/office/drawing/2014/main" id="{712E4B36-944F-4DE3-837D-6CD248C9970F}"/>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Remove the chart from selected evidence and rebuild both image paths and the prompt text.</a:t>
            </a:r>
          </a:p>
        </p:txBody>
      </p:sp>
      <p:sp>
        <p:nvSpPr>
          <p:cNvPr id="8" name="text">
            <a:extLst xmlns:a="http://schemas.openxmlformats.org/drawingml/2006/main">
              <a:ext uri="{FF2B5EF4-FFF2-40B4-BE49-F238E27FC236}">
                <a16:creationId xmlns:a16="http://schemas.microsoft.com/office/drawing/2014/main" id="{17378965-42EE-4344-AAA3-CCD7BFB79282}"/>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Predict</a:t>
            </a:r>
          </a:p>
        </p:txBody>
      </p:sp>
      <p:sp>
        <p:nvSpPr>
          <p:cNvPr id="9" name="text">
            <a:extLst xmlns:a="http://schemas.openxmlformats.org/drawingml/2006/main">
              <a:ext uri="{FF2B5EF4-FFF2-40B4-BE49-F238E27FC236}">
                <a16:creationId xmlns:a16="http://schemas.microsoft.com/office/drawing/2014/main" id="{CE8B5A8E-F8F9-4575-B8E6-C0725094933F}"/>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color claim becomes unsupported unless a verified color description remains.</a:t>
            </a:r>
          </a:p>
        </p:txBody>
      </p:sp>
      <p:sp>
        <p:nvSpPr>
          <p:cNvPr id="10" name="text">
            <a:extLst xmlns:a="http://schemas.openxmlformats.org/drawingml/2006/main">
              <a:ext uri="{FF2B5EF4-FFF2-40B4-BE49-F238E27FC236}">
                <a16:creationId xmlns:a16="http://schemas.microsoft.com/office/drawing/2014/main" id="{80F98CC7-F6DF-48B6-86A0-CFCA023846E5}"/>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Compare</a:t>
            </a:r>
          </a:p>
        </p:txBody>
      </p:sp>
      <p:sp>
        <p:nvSpPr>
          <p:cNvPr id="11" name="text">
            <a:extLst xmlns:a="http://schemas.openxmlformats.org/drawingml/2006/main">
              <a:ext uri="{FF2B5EF4-FFF2-40B4-BE49-F238E27FC236}">
                <a16:creationId xmlns:a16="http://schemas.microsoft.com/office/drawing/2014/main" id="{44F0D3B4-1F6B-43BD-AE8C-68621265B026}"/>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Change the query to an incident flow diagram; inspect caption and CLIP rankings.</a:t>
            </a:r>
          </a:p>
        </p:txBody>
      </p:sp>
      <p:sp>
        <p:nvSpPr>
          <p:cNvPr id="12" name="text">
            <a:extLst xmlns:a="http://schemas.openxmlformats.org/drawingml/2006/main">
              <a:ext uri="{FF2B5EF4-FFF2-40B4-BE49-F238E27FC236}">
                <a16:creationId xmlns:a16="http://schemas.microsoft.com/office/drawing/2014/main" id="{B5B619DA-C6D5-4A7F-ADB0-89D368B6B609}"/>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Discuss</a:t>
            </a:r>
          </a:p>
        </p:txBody>
      </p:sp>
      <p:sp>
        <p:nvSpPr>
          <p:cNvPr id="13" name="text">
            <a:extLst xmlns:a="http://schemas.openxmlformats.org/drawingml/2006/main">
              <a:ext uri="{FF2B5EF4-FFF2-40B4-BE49-F238E27FC236}">
                <a16:creationId xmlns:a16="http://schemas.microsoft.com/office/drawing/2014/main" id="{EC5C9A57-93BB-4464-83A3-5AF721FDFEB7}"/>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What metadata and evaluation questions would you add for your own media collection?</a:t>
            </a:r>
          </a:p>
        </p:txBody>
      </p:sp>
    </p:spTree>
    <p:extLst>
      <p:ext uri="{BB962C8B-B14F-4D97-AF65-F5344CB8AC3E}">
        <p14:creationId xmlns:p14="http://schemas.microsoft.com/office/powerpoint/2010/main" val="18013401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2026-10-11T09:50:30.6040000Z</dcterms:created>
  <dcterms:modified xsi:type="dcterms:W3CDTF">2026-10-11T09:50:30.6040000Z</dcterms:modified>
</coreProperties>
</file>