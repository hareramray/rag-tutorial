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40ac23786d4f93" /><Relationship Type="http://schemas.openxmlformats.org/officeDocument/2006/relationships/extended-properties" Target="/docProps/app.xml" Id="Rdccabfec48df4888" /><Relationship Type="http://schemas.openxmlformats.org/officeDocument/2006/relationships/officeDocument" Target="/ppt/presentation.xml" Id="R205dc4b42e52478f" /></Relationships>
</file>

<file path=ppt/presentation.xml><?xml version="1.0" encoding="utf-8"?>
<p:presentation xmlns:p="http://schemas.openxmlformats.org/presentationml/2006/main">
  <p:sldMasterIdLst>
    <p:sldMasterId xmlns:r="http://schemas.openxmlformats.org/officeDocument/2006/relationships" id="2147483648" r:id="R176ce0a347ca4d0e"/>
  </p:sldMasterIdLst>
  <p:notesMasterIdLst>
    <p:notesMasterId xmlns:r="http://schemas.openxmlformats.org/officeDocument/2006/relationships" r:id="R07f56f4d93a34a89"/>
  </p:notesMasterIdLst>
  <p:sldIdLst>
    <p:sldId xmlns:r="http://schemas.openxmlformats.org/officeDocument/2006/relationships" id="256" r:id="Re2c4c4d73b2e4007"/>
    <p:sldId xmlns:r="http://schemas.openxmlformats.org/officeDocument/2006/relationships" id="257" r:id="Rd6ce6f4250e741f1"/>
    <p:sldId xmlns:r="http://schemas.openxmlformats.org/officeDocument/2006/relationships" id="258" r:id="R3ea310af6a9f4eb8"/>
    <p:sldId xmlns:r="http://schemas.openxmlformats.org/officeDocument/2006/relationships" id="259" r:id="Rb47179db9c754688"/>
    <p:sldId xmlns:r="http://schemas.openxmlformats.org/officeDocument/2006/relationships" id="260" r:id="R11a3e16090484279"/>
    <p:sldId xmlns:r="http://schemas.openxmlformats.org/officeDocument/2006/relationships" id="261" r:id="R3cb0d5e0f0e74604"/>
    <p:sldId xmlns:r="http://schemas.openxmlformats.org/officeDocument/2006/relationships" id="262" r:id="Rcbea40f84cd941f4"/>
    <p:sldId xmlns:r="http://schemas.openxmlformats.org/officeDocument/2006/relationships" id="263" r:id="Rc25647cc3f934b77"/>
    <p:sldId xmlns:r="http://schemas.openxmlformats.org/officeDocument/2006/relationships" id="264" r:id="R431511ab25b342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8a12133f594dde" /><Relationship Type="http://schemas.openxmlformats.org/officeDocument/2006/relationships/slideMaster" Target="/ppt/slideMasters/slideMaster1.xml" Id="R176ce0a347ca4d0e" /><Relationship Type="http://schemas.openxmlformats.org/officeDocument/2006/relationships/notesMaster" Target="/ppt/notesMasters/notesMaster1.xml" Id="R07f56f4d93a34a89" /><Relationship Type="http://schemas.openxmlformats.org/officeDocument/2006/relationships/presProps" Target="/ppt/presProps.xml" Id="Rf93c84b76dcf4820" /><Relationship Type="http://schemas.openxmlformats.org/officeDocument/2006/relationships/tableStyles" Target="/ppt/tableStyles.xml" Id="Rd83c246706554bca" /><Relationship Type="http://schemas.openxmlformats.org/officeDocument/2006/relationships/slide" Target="/ppt/slides/slide1.xml" Id="Re2c4c4d73b2e4007" /><Relationship Type="http://schemas.openxmlformats.org/officeDocument/2006/relationships/slide" Target="/ppt/slides/slide2.xml" Id="Rd6ce6f4250e741f1" /><Relationship Type="http://schemas.openxmlformats.org/officeDocument/2006/relationships/slide" Target="/ppt/slides/slide3.xml" Id="R3ea310af6a9f4eb8" /><Relationship Type="http://schemas.openxmlformats.org/officeDocument/2006/relationships/slide" Target="/ppt/slides/slide4.xml" Id="Rb47179db9c754688" /><Relationship Type="http://schemas.openxmlformats.org/officeDocument/2006/relationships/slide" Target="/ppt/slides/slide5.xml" Id="R11a3e16090484279" /><Relationship Type="http://schemas.openxmlformats.org/officeDocument/2006/relationships/slide" Target="/ppt/slides/slide6.xml" Id="R3cb0d5e0f0e74604" /><Relationship Type="http://schemas.openxmlformats.org/officeDocument/2006/relationships/slide" Target="/ppt/slides/slide7.xml" Id="Rcbea40f84cd941f4" /><Relationship Type="http://schemas.openxmlformats.org/officeDocument/2006/relationships/slide" Target="/ppt/slides/slide8.xml" Id="Rc25647cc3f934b77" /><Relationship Type="http://schemas.openxmlformats.org/officeDocument/2006/relationships/slide" Target="/ppt/slides/slide9.xml" Id="R431511ab25b342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e05b8859a142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13bc6235624a6a" /><Relationship Type="http://schemas.openxmlformats.org/officeDocument/2006/relationships/notesMaster" Target="/ppt/notesMasters/notesMaster1.xml" Id="Ref7b2405cb4048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f1fb557695461d" /><Relationship Type="http://schemas.openxmlformats.org/officeDocument/2006/relationships/notesMaster" Target="/ppt/notesMasters/notesMaster1.xml" Id="R08503b2084b04a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71a00ae6ee47ae" /><Relationship Type="http://schemas.openxmlformats.org/officeDocument/2006/relationships/notesMaster" Target="/ppt/notesMasters/notesMaster1.xml" Id="R73ea3630d46449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3f66f5d9384cb7" /><Relationship Type="http://schemas.openxmlformats.org/officeDocument/2006/relationships/notesMaster" Target="/ppt/notesMasters/notesMaster1.xml" Id="R59e6941c66c94e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3fb445fd354925" /><Relationship Type="http://schemas.openxmlformats.org/officeDocument/2006/relationships/notesMaster" Target="/ppt/notesMasters/notesMaster1.xml" Id="Rdb482398a00445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ef32ac4ec54e2b" /><Relationship Type="http://schemas.openxmlformats.org/officeDocument/2006/relationships/notesMaster" Target="/ppt/notesMasters/notesMaster1.xml" Id="R2e3986c11efd46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3eb9a4cec34caf" /><Relationship Type="http://schemas.openxmlformats.org/officeDocument/2006/relationships/notesMaster" Target="/ppt/notesMasters/notesMaster1.xml" Id="Ra979f84a13ca45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692cb3e37d4753" /><Relationship Type="http://schemas.openxmlformats.org/officeDocument/2006/relationships/notesMaster" Target="/ppt/notesMasters/notesMaster1.xml" Id="R764ac83661494a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92af081d094248" /><Relationship Type="http://schemas.openxmlformats.org/officeDocument/2006/relationships/notesMaster" Target="/ppt/notesMasters/notesMaster1.xml" Id="Rb52c3260162747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notebooks/14_audio_rag.ipynb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notebooks/14_audio_rag.ipynb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two questions: how long does Team retain events, and which file contains repeated beeps? The first can be answered from accurate recognized words; the second requires acoustic evidence. This lesson deliberately exposes both paths. Its main recording is synthetic speech about a fictional company, and the three short sound examples are generated signals. Explain provenance before showing results. Default playback and lexical retrieval are real operations, but an authored script does not demonstrate speech recognition. The final Claude response is grounded in transcript evidence; it does not establish that Claude listened to the recording.</a:t>
            </a:r>
          </a:p>
          <a:p xmlns:a="http://schemas.openxmlformats.org/drawingml/2006/main">
            <a:r>
              <a:t/>
            </a:r>
          </a:p>
          <a:p xmlns:a="http://schemas.openxmlformats.org/drawingml/2006/main">
            <a:r>
              <a:t>NOTEBOOK: notebooks/14_audio_rag.ipynb</a:t>
            </a:r>
          </a:p>
          <a:p xmlns:a="http://schemas.openxmlformats.org/drawingml/2006/main">
            <a:r>
              <a:t/>
            </a:r>
          </a:p>
          <a:p xmlns:a="http://schemas.openxmlformats.org/drawingml/2006/main">
            <a:r>
              <a:t>SOURCES</a:t>
            </a:r>
          </a:p>
          <a:p xmlns:a="http://schemas.openxmlformats.org/drawingml/2006/main">
            <a:r>
              <a:t>notebooks/14_audio_rag.ipynb — introduction and sections 2, 8–9</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sections 1 through 6, show the waveform, transcript table, retrieval results, and audio excerpt as separate representations. A waveform gives amplitude over time, not a semantic summary. Half-open intervals include their start and exclude their end, which avoids double-counting an exact boundary. Every chunk needs its own time range; assigning the full recording duration to every hit defeats localization. For long recordings, explain the need to split oversized segments or combine tiny neighboring segments under a duration budget. The notebook keeps a small fixture so every transformation remains inspectable.</a:t>
            </a:r>
          </a:p>
          <a:p xmlns:a="http://schemas.openxmlformats.org/drawingml/2006/main">
            <a:r>
              <a:t/>
            </a:r>
          </a:p>
          <a:p xmlns:a="http://schemas.openxmlformats.org/drawingml/2006/main">
            <a:r>
              <a:t>NOTEBOOK: notebooks/14_audio_rag.ipynb</a:t>
            </a:r>
          </a:p>
          <a:p xmlns:a="http://schemas.openxmlformats.org/drawingml/2006/main">
            <a:r>
              <a:t/>
            </a:r>
          </a:p>
          <a:p xmlns:a="http://schemas.openxmlformats.org/drawingml/2006/main">
            <a:r>
              <a:t>SOURCES</a:t>
            </a:r>
          </a:p>
          <a:p xmlns:a="http://schemas.openxmlformats.org/drawingml/2006/main">
            <a:r>
              <a:t>notebooks/14_audio_rag.ipynb — sections 1–6</a:t>
            </a:r>
          </a:p>
          <a:p xmlns:a="http://schemas.openxmlformats.org/drawingml/2006/main">
            <a:r>
              <a:t>https://github.com/SYSTRAN/faster-whisper#usage</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clear that the twenty-word calculation is a teaching example, not a measured score from the supplied recording. Section 3 compares actual ASR output with the reference only when ASR has run. Ninety versus 90 may count as an edit in this simple normalization even when the meaning matches; conversely, a short transcription can have a low aggregate error rate while its retention number is wrong. WER can exceed one because insertions are not bounded by reference length. Have learners listen to the numeric policy facts separately before treating transcript retrieval success as answer reliability.</a:t>
            </a:r>
          </a:p>
          <a:p xmlns:a="http://schemas.openxmlformats.org/drawingml/2006/main">
            <a:r>
              <a:t/>
            </a:r>
          </a:p>
          <a:p xmlns:a="http://schemas.openxmlformats.org/drawingml/2006/main">
            <a:r>
              <a:t>NOTEBOOK: notebooks/14_audio_rag.ipynb</a:t>
            </a:r>
          </a:p>
          <a:p xmlns:a="http://schemas.openxmlformats.org/drawingml/2006/main">
            <a:r>
              <a:t/>
            </a:r>
          </a:p>
          <a:p xmlns:a="http://schemas.openxmlformats.org/drawingml/2006/main">
            <a:r>
              <a:t>SOURCES</a:t>
            </a:r>
          </a:p>
          <a:p xmlns:a="http://schemas.openxmlformats.org/drawingml/2006/main">
            <a:r>
              <a:t>notebooks/14_audio_rag.ipynb — section 3</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question about how long each tier keeps events to contrast exact-word matching with semantic text matching. Then move to a beep query and explain why the transcript retrievers have no acoustic input. Section 8 sends actual decoded waveform samples to CLAP; filenames and authored speech descriptions are not the candidate vectors. Optional model branches are disabled by default for a quick first run and explicitly skipped offline. If a synthetic sound ranks poorly, retain that result and inspect it with the audience. The purpose is understanding the evidence path, not guaranteeing a perfect label.</a:t>
            </a:r>
          </a:p>
          <a:p xmlns:a="http://schemas.openxmlformats.org/drawingml/2006/main">
            <a:r>
              <a:t/>
            </a:r>
          </a:p>
          <a:p xmlns:a="http://schemas.openxmlformats.org/drawingml/2006/main">
            <a:r>
              <a:t>NOTEBOOK: notebooks/14_audio_rag.ipynb</a:t>
            </a:r>
          </a:p>
          <a:p xmlns:a="http://schemas.openxmlformats.org/drawingml/2006/main">
            <a:r>
              <a:t/>
            </a:r>
          </a:p>
          <a:p xmlns:a="http://schemas.openxmlformats.org/drawingml/2006/main">
            <a:r>
              <a:t>SOURCES</a:t>
            </a:r>
          </a:p>
          <a:p xmlns:a="http://schemas.openxmlformats.org/drawingml/2006/main">
            <a:r>
              <a:t>notebooks/14_audio_rag.ipynb — sections 5 and 8</a:t>
            </a:r>
          </a:p>
          <a:p xmlns:a="http://schemas.openxmlformats.org/drawingml/2006/main">
            <a:r>
              <a:t>https://huggingface.co/docs/transformers/en/model_doc/clap</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7 supplies real generated waveform files rather than recording titles alone. Play each example and then inspect the time and frequency plots. Ask what a waveform can reveal about repeated beeps, and what a spectrum can reveal about a tone. Neither plot is a semantic embedding, and neither should be described as recognizing an alarm. A spectrum can conceal temporal order, which motivates a spectrogram when time-varying frequency structure matters. The following CLAP step is a separate learned representation, so distinguish signal inspection from model-based retrieval during the explanation.</a:t>
            </a:r>
          </a:p>
          <a:p xmlns:a="http://schemas.openxmlformats.org/drawingml/2006/main">
            <a:r>
              <a:t/>
            </a:r>
          </a:p>
          <a:p xmlns:a="http://schemas.openxmlformats.org/drawingml/2006/main">
            <a:r>
              <a:t>NOTEBOOK: notebooks/14_audio_rag.ipynb</a:t>
            </a:r>
          </a:p>
          <a:p xmlns:a="http://schemas.openxmlformats.org/drawingml/2006/main">
            <a:r>
              <a:t/>
            </a:r>
          </a:p>
          <a:p xmlns:a="http://schemas.openxmlformats.org/drawingml/2006/main">
            <a:r>
              <a:t>SOURCES</a:t>
            </a:r>
          </a:p>
          <a:p xmlns:a="http://schemas.openxmlformats.org/drawingml/2006/main">
            <a:r>
              <a:t>notebooks/14_audio_rag.ipynb — sections 7–8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an apparently precise timestamp can create false confidence. The helper checks that a playback range fits inside the decoded recording, but that range check does not verify the actual spoken word boundary. Section 2 retains raw estimates for inspection when a correction is made. Section 6 lets the presenter replay selected waveform slices, which is the practical verification step. A correct citation string is useful only when its time span contains the claimed evidence. Future evaluations should include human-labelled question intervals and difficult names or numbers, rather than rely on this one synthetic recording.</a:t>
            </a:r>
          </a:p>
          <a:p xmlns:a="http://schemas.openxmlformats.org/drawingml/2006/main">
            <a:r>
              <a:t/>
            </a:r>
          </a:p>
          <a:p xmlns:a="http://schemas.openxmlformats.org/drawingml/2006/main">
            <a:r>
              <a:t>NOTEBOOK: notebooks/14_audio_rag.ipynb</a:t>
            </a:r>
          </a:p>
          <a:p xmlns:a="http://schemas.openxmlformats.org/drawingml/2006/main">
            <a:r>
              <a:t/>
            </a:r>
          </a:p>
          <a:p xmlns:a="http://schemas.openxmlformats.org/drawingml/2006/main">
            <a:r>
              <a:t>SOURCES</a:t>
            </a:r>
          </a:p>
          <a:p xmlns:a="http://schemas.openxmlformats.org/drawingml/2006/main">
            <a:r>
              <a:t>notebooks/14_audio_rag.ipynb — sections 2, 6, and 10–11</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class, decide which local models to demonstrate and download their weights in advance. RUN_ASR, RUN_DENSE, and RUN_CLAP default to false, while normal Run All makes at most one Claude answer request. Default results use the clearly labelled authored transcript; they must not be presented as a successful speech recognition run. Pause at the retrieved audio player and let learners hear the evidence before displaying generation. For an offline class, demonstrate loading, waveform inspection, playback, and lexical retrieval while keeping every skipped learned-model branch explicit.</a:t>
            </a:r>
          </a:p>
          <a:p xmlns:a="http://schemas.openxmlformats.org/drawingml/2006/main">
            <a:r>
              <a:t/>
            </a:r>
          </a:p>
          <a:p xmlns:a="http://schemas.openxmlformats.org/drawingml/2006/main">
            <a:r>
              <a:t>NOTEBOOK: notebooks/14_audio_rag.ipynb</a:t>
            </a:r>
          </a:p>
          <a:p xmlns:a="http://schemas.openxmlformats.org/drawingml/2006/main">
            <a:r>
              <a:t/>
            </a:r>
          </a:p>
          <a:p xmlns:a="http://schemas.openxmlformats.org/drawingml/2006/main">
            <a:r>
              <a:t>SOURCES</a:t>
            </a:r>
          </a:p>
          <a:p xmlns:a="http://schemas.openxmlformats.org/drawingml/2006/main">
            <a:r>
              <a:t>notebooks/14_audio_rag.ipynb — setup and sections 1–9</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section 10 as a short pair exercise. Ask learners to calculate the expanded interval first, including what happens near time zero and the end of the file. Half-open overlap rules determine which neighboring segments belong. The expected result preserves the original selected segment and labels additional context rather than replacing every timestamp with a broad range. Discuss how longer excerpts trade precise localization for more surrounding speech. For a CLAP extension, label relevant sound files independently and measure recall across several queries; one successful beep example cannot establish broad audio retrieval quality.</a:t>
            </a:r>
          </a:p>
          <a:p xmlns:a="http://schemas.openxmlformats.org/drawingml/2006/main">
            <a:r>
              <a:t/>
            </a:r>
          </a:p>
          <a:p xmlns:a="http://schemas.openxmlformats.org/drawingml/2006/main">
            <a:r>
              <a:t>NOTEBOOK: notebooks/14_audio_rag.ipynb</a:t>
            </a:r>
          </a:p>
          <a:p xmlns:a="http://schemas.openxmlformats.org/drawingml/2006/main">
            <a:r>
              <a:t/>
            </a:r>
          </a:p>
          <a:p xmlns:a="http://schemas.openxmlformats.org/drawingml/2006/main">
            <a:r>
              <a:t>SOURCES</a:t>
            </a:r>
          </a:p>
          <a:p xmlns:a="http://schemas.openxmlformats.org/drawingml/2006/main">
            <a:r>
              <a:t>notebooks/14_audio_rag.ipynb — sections 10–11</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a6da7ac1f841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251e5545074e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8ee814c9a84b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fa15384c914c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eccf422d0b4f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a7d4b96f4349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4305FB-39D9-418F-A250-C4B898827DC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94AE40-19EB-4D62-AC3D-527DD2EFC11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AD1E61F-A076-4889-BFB5-E9A97D13895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A5F376-FD21-4677-9ECD-7E49ED5D6B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432A7F-0950-4B03-92AB-3D90D758346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D162E9-ED60-4A8E-B913-C07FAEDC2C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9BC657-DD1A-4985-A569-9D4CAC9D6B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29C2C1A-2D31-43CA-855E-1DC23FC2A35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F6921A-306B-4644-A024-C92A3A3C44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C7AF00-677F-476A-8F52-CF750B9BA7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6c2f171936475a" /><Relationship Type="http://schemas.openxmlformats.org/officeDocument/2006/relationships/slideLayout" Target="/ppt/slideLayouts/slideLayout1.xml" Id="Re45022cef6264518" /><Relationship Type="http://schemas.openxmlformats.org/officeDocument/2006/relationships/slideLayout" Target="/ppt/slideLayouts/slideLayout2.xml" Id="Rb678d422e3714d3f" /><Relationship Type="http://schemas.openxmlformats.org/officeDocument/2006/relationships/slideLayout" Target="/ppt/slideLayouts/slideLayout3.xml" Id="R6c7bbc20bb1b4f66" /><Relationship Type="http://schemas.openxmlformats.org/officeDocument/2006/relationships/slideLayout" Target="/ppt/slideLayouts/slideLayout4.xml" Id="R4426d18c4e8f4e04" /><Relationship Type="http://schemas.openxmlformats.org/officeDocument/2006/relationships/slideLayout" Target="/ppt/slideLayouts/slideLayout5.xml" Id="Rf332f5866c1c4000" /><Relationship Type="http://schemas.openxmlformats.org/officeDocument/2006/relationships/slideLayout" Target="/ppt/slideLayouts/slideLayout6.xml" Id="R4e6462a6965749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5022cef6264518"/>
    <p:sldLayoutId xmlns:r="http://schemas.openxmlformats.org/officeDocument/2006/relationships" id="2147483650" r:id="Rb678d422e3714d3f"/>
    <p:sldLayoutId xmlns:r="http://schemas.openxmlformats.org/officeDocument/2006/relationships" id="2147483651" r:id="R6c7bbc20bb1b4f66"/>
    <p:sldLayoutId xmlns:r="http://schemas.openxmlformats.org/officeDocument/2006/relationships" id="2147483652" r:id="R4426d18c4e8f4e04"/>
    <p:sldLayoutId xmlns:r="http://schemas.openxmlformats.org/officeDocument/2006/relationships" id="2147483653" r:id="Rf332f5866c1c4000"/>
    <p:sldLayoutId xmlns:r="http://schemas.openxmlformats.org/officeDocument/2006/relationships" id="2147483654" r:id="R4e6462a6965749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ade3b8e5ca4e52" /><Relationship Type="http://schemas.openxmlformats.org/officeDocument/2006/relationships/image" Target="/ppt/media/image.png" Id="Rc48e565d302c45ea" /><Relationship Type="http://schemas.openxmlformats.org/officeDocument/2006/relationships/notesSlide" Target="/ppt/notesSlides/notesSlide1.xml" Id="Rde6e226533c84b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b772e83b834c2a" /><Relationship Type="http://schemas.openxmlformats.org/officeDocument/2006/relationships/notesSlide" Target="/ppt/notesSlides/notesSlide2.xml" Id="Ra618c578291c43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a9260d94ee452e" /><Relationship Type="http://schemas.openxmlformats.org/officeDocument/2006/relationships/notesSlide" Target="/ppt/notesSlides/notesSlide3.xml" Id="R433e889016994d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0b0a492190d44b1" /><Relationship Type="http://schemas.openxmlformats.org/officeDocument/2006/relationships/notesSlide" Target="/ppt/notesSlides/notesSlide4.xml" Id="Rc0306a25462e4e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f5f2691b2384116" /><Relationship Type="http://schemas.openxmlformats.org/officeDocument/2006/relationships/notesSlide" Target="/ppt/notesSlides/notesSlide5.xml" Id="R1856e21595c646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c3a0a566f354d4a" /><Relationship Type="http://schemas.openxmlformats.org/officeDocument/2006/relationships/notesSlide" Target="/ppt/notesSlides/notesSlide6.xml" Id="Ra68b0d70c1e446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89d1db148f34aa0" /><Relationship Type="http://schemas.openxmlformats.org/officeDocument/2006/relationships/notesSlide" Target="/ppt/notesSlides/notesSlide7.xml" Id="Rbf73eafa6f514d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8f182ed62394eb5" /><Relationship Type="http://schemas.openxmlformats.org/officeDocument/2006/relationships/notesSlide" Target="/ppt/notesSlides/notesSlide8.xml" Id="R85121170c9f541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d8458b286644e9" /><Relationship Type="http://schemas.openxmlformats.org/officeDocument/2006/relationships/notesSlide" Target="/ppt/notesSlides/notesSlide9.xml" Id="R262d528872cd4ea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38824554-44CB-4966-80DE-67AB8BCF25C0}"/>
              </a:ext>
            </a:extLst>
          </p:cNvPr>
          <p:cNvPicPr>
            <a:picLocks xmlns:a="http://schemas.openxmlformats.org/drawingml/2006/main" noChangeAspect="1"/>
          </p:cNvPicPr>
          <p:nvPr/>
        </p:nvPicPr>
        <p:blipFill>
          <a:blip xmlns:r="http://schemas.openxmlformats.org/officeDocument/2006/relationships" xmlns:a="http://schemas.openxmlformats.org/drawingml/2006/main" r:embed="Rc48e565d302c45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5ADD1643-7AF0-44F5-B104-EB37C8F810DB}"/>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14</a:t>
            </a:r>
          </a:p>
        </p:txBody>
      </p:sp>
      <p:sp>
        <p:nvSpPr>
          <p:cNvPr id="3" name="deck-title">
            <a:extLst xmlns:a="http://schemas.openxmlformats.org/drawingml/2006/main">
              <a:ext uri="{FF2B5EF4-FFF2-40B4-BE49-F238E27FC236}">
                <a16:creationId xmlns:a16="http://schemas.microsoft.com/office/drawing/2014/main" id="{D2D2A8EC-8A24-45FF-AEC1-546BECA175B0}"/>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Audio RAG</a:t>
            </a:r>
          </a:p>
        </p:txBody>
      </p:sp>
      <p:sp>
        <p:nvSpPr>
          <p:cNvPr id="4" name="text">
            <a:extLst xmlns:a="http://schemas.openxmlformats.org/drawingml/2006/main">
              <a:ext uri="{FF2B5EF4-FFF2-40B4-BE49-F238E27FC236}">
                <a16:creationId xmlns:a16="http://schemas.microsoft.com/office/drawing/2014/main" id="{A505B484-68E7-438E-B29F-6CFAF42D0583}"/>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Retrieve spoken facts and sound content with timestamps you can replay.</a:t>
            </a:r>
          </a:p>
        </p:txBody>
      </p:sp>
      <p:sp>
        <p:nvSpPr>
          <p:cNvPr id="5" name="text">
            <a:extLst xmlns:a="http://schemas.openxmlformats.org/drawingml/2006/main">
              <a:ext uri="{FF2B5EF4-FFF2-40B4-BE49-F238E27FC236}">
                <a16:creationId xmlns:a16="http://schemas.microsoft.com/office/drawing/2014/main" id="{A2BD3CF1-8F84-4714-9DDE-5511FC7C5561}"/>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14_audio_rag.ipynb</a:t>
            </a:r>
          </a:p>
        </p:txBody>
      </p:sp>
    </p:spTree>
    <p:extLst>
      <p:ext uri="{BB962C8B-B14F-4D97-AF65-F5344CB8AC3E}">
        <p14:creationId xmlns:p14="http://schemas.microsoft.com/office/powerpoint/2010/main" val="797721714"/>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290F138-7C6F-47B1-9853-B171D5787B0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14</a:t>
            </a:r>
          </a:p>
        </p:txBody>
      </p:sp>
      <p:sp>
        <p:nvSpPr>
          <p:cNvPr id="2" name="slide-title">
            <a:extLst xmlns:a="http://schemas.openxmlformats.org/drawingml/2006/main">
              <a:ext uri="{FF2B5EF4-FFF2-40B4-BE49-F238E27FC236}">
                <a16:creationId xmlns:a16="http://schemas.microsoft.com/office/drawing/2014/main" id="{4644AB7D-E800-47C0-9A49-33494A3FF458}"/>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Audio contains words and acoustic events</a:t>
            </a:r>
          </a:p>
        </p:txBody>
      </p:sp>
      <p:sp>
        <p:nvSpPr>
          <p:cNvPr id="3" name="lead">
            <a:extLst xmlns:a="http://schemas.openxmlformats.org/drawingml/2006/main">
              <a:ext uri="{FF2B5EF4-FFF2-40B4-BE49-F238E27FC236}">
                <a16:creationId xmlns:a16="http://schemas.microsoft.com/office/drawing/2014/main" id="{8E598938-9E9F-4E06-9A6F-6135FDAF38B0}"/>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Choose a representation that can support the kind of question being asked.</a:t>
            </a:r>
          </a:p>
        </p:txBody>
      </p:sp>
      <p:sp>
        <p:nvSpPr>
          <p:cNvPr id="4" name="text">
            <a:extLst xmlns:a="http://schemas.openxmlformats.org/drawingml/2006/main">
              <a:ext uri="{FF2B5EF4-FFF2-40B4-BE49-F238E27FC236}">
                <a16:creationId xmlns:a16="http://schemas.microsoft.com/office/drawing/2014/main" id="{7C2574C5-B1AC-412C-80BB-DF9C8CD5C927}"/>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14  /  Audio RAG</a:t>
            </a:r>
          </a:p>
        </p:txBody>
      </p:sp>
      <p:sp>
        <p:nvSpPr>
          <p:cNvPr id="5" name="page-number">
            <a:extLst xmlns:a="http://schemas.openxmlformats.org/drawingml/2006/main">
              <a:ext uri="{FF2B5EF4-FFF2-40B4-BE49-F238E27FC236}">
                <a16:creationId xmlns:a16="http://schemas.microsoft.com/office/drawing/2014/main" id="{FFD30211-762D-4474-AB2C-FAC15F619DBE}"/>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graphicFrame>
        <p:nvGraphicFramePr>
          <p:cNvPr id="6" name="">
            <a:extLst xmlns:a="http://schemas.openxmlformats.org/drawingml/2006/main">
              <a:ext uri="{FF2B5EF4-FFF2-40B4-BE49-F238E27FC236}">
                <a16:creationId xmlns:a16="http://schemas.microsoft.com/office/drawing/2014/main" id="{5D5E3097-6567-4F81-942D-FE0BDB88A8F7}"/>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Speech path</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Audio → transcript segments → text retrieval → a cited answer about spoken facts.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Sound path</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Actual waveform samples → CLAP embeddings → sound-file ranking for a text query.</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Authored baseline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The included transcript is the TTS script with measured boundaries, not ASR output.</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Claude input</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The answer call receives selected transcript text and time ranges, not the raw WAV.</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95935469"/>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B6FF3ED-9E5D-4FB1-B3E4-E2B98B6C3F5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14</a:t>
            </a:r>
          </a:p>
        </p:txBody>
      </p:sp>
      <p:sp>
        <p:nvSpPr>
          <p:cNvPr id="2" name="slide-title">
            <a:extLst xmlns:a="http://schemas.openxmlformats.org/drawingml/2006/main">
              <a:ext uri="{FF2B5EF4-FFF2-40B4-BE49-F238E27FC236}">
                <a16:creationId xmlns:a16="http://schemas.microsoft.com/office/drawing/2014/main" id="{BF38D3F1-9AE9-4671-98F2-B4AD6BD63A14}"/>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Turn recordings into replayable evidence</a:t>
            </a:r>
          </a:p>
        </p:txBody>
      </p:sp>
      <p:sp>
        <p:nvSpPr>
          <p:cNvPr id="3" name="lead">
            <a:extLst xmlns:a="http://schemas.openxmlformats.org/drawingml/2006/main">
              <a:ext uri="{FF2B5EF4-FFF2-40B4-BE49-F238E27FC236}">
                <a16:creationId xmlns:a16="http://schemas.microsoft.com/office/drawing/2014/main" id="{A2B2B9D3-1AE8-488D-821B-5BEC89BF8806}"/>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Preserve start and end times through transcription, indexing, retrieval, and playback.</a:t>
            </a:r>
          </a:p>
        </p:txBody>
      </p:sp>
      <p:sp>
        <p:nvSpPr>
          <p:cNvPr id="4" name="text">
            <a:extLst xmlns:a="http://schemas.openxmlformats.org/drawingml/2006/main">
              <a:ext uri="{FF2B5EF4-FFF2-40B4-BE49-F238E27FC236}">
                <a16:creationId xmlns:a16="http://schemas.microsoft.com/office/drawing/2014/main" id="{12E32B96-1452-46A8-950B-4E39965E74B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14  /  Audio RAG</a:t>
            </a:r>
          </a:p>
        </p:txBody>
      </p:sp>
      <p:sp>
        <p:nvSpPr>
          <p:cNvPr id="5" name="page-number">
            <a:extLst xmlns:a="http://schemas.openxmlformats.org/drawingml/2006/main">
              <a:ext uri="{FF2B5EF4-FFF2-40B4-BE49-F238E27FC236}">
                <a16:creationId xmlns:a16="http://schemas.microsoft.com/office/drawing/2014/main" id="{8FE4FE94-CFD6-4096-8E99-C3B6254F2A87}"/>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B3224DAF-B3CA-44E0-8A5A-CB3405C3092F}"/>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Decode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Read waveform samples and sample rate; sample index / sample rate gives seconds.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Segment</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Use the authored manifest or opt into actual faster-whisper transcription.</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Index</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Store each segment as a document with source ID, text, and numerical start/end times.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Replay</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Retrieve the relevant interval, play its real audio slice, and compare speech with transcript.</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961037606"/>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FF829270-DCE7-40ED-AD3F-457BDFC496E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14</a:t>
            </a:r>
          </a:p>
        </p:txBody>
      </p:sp>
      <p:sp>
        <p:nvSpPr>
          <p:cNvPr id="2" name="slide-title">
            <a:extLst xmlns:a="http://schemas.openxmlformats.org/drawingml/2006/main">
              <a:ext uri="{FF2B5EF4-FFF2-40B4-BE49-F238E27FC236}">
                <a16:creationId xmlns:a16="http://schemas.microsoft.com/office/drawing/2014/main" id="{6FD8B518-0AEE-4BB8-9700-A8C8640B5275}"/>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Measure transcription before retrieval</a:t>
            </a:r>
          </a:p>
        </p:txBody>
      </p:sp>
      <p:sp>
        <p:nvSpPr>
          <p:cNvPr id="3" name="lead">
            <a:extLst xmlns:a="http://schemas.openxmlformats.org/drawingml/2006/main">
              <a:ext uri="{FF2B5EF4-FFF2-40B4-BE49-F238E27FC236}">
                <a16:creationId xmlns:a16="http://schemas.microsoft.com/office/drawing/2014/main" id="{716DE5E6-D1C2-4DDF-AF21-2719627112B9}"/>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Word error rate counts edits; it does not directly measure answer correctness.</a:t>
            </a:r>
          </a:p>
        </p:txBody>
      </p:sp>
      <p:sp>
        <p:nvSpPr>
          <p:cNvPr id="4" name="text">
            <a:extLst xmlns:a="http://schemas.openxmlformats.org/drawingml/2006/main">
              <a:ext uri="{FF2B5EF4-FFF2-40B4-BE49-F238E27FC236}">
                <a16:creationId xmlns:a16="http://schemas.microsoft.com/office/drawing/2014/main" id="{26F35486-B32F-4D9B-B162-07894522D60B}"/>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14  /  Audio RAG</a:t>
            </a:r>
          </a:p>
        </p:txBody>
      </p:sp>
      <p:sp>
        <p:nvSpPr>
          <p:cNvPr id="5" name="page-number">
            <a:extLst xmlns:a="http://schemas.openxmlformats.org/drawingml/2006/main">
              <a:ext uri="{FF2B5EF4-FFF2-40B4-BE49-F238E27FC236}">
                <a16:creationId xmlns:a16="http://schemas.microsoft.com/office/drawing/2014/main" id="{51B00874-1C02-4F47-B27D-9AD8B1FD185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sp>
        <p:nvSpPr>
          <p:cNvPr id="6" name="text">
            <a:extLst xmlns:a="http://schemas.openxmlformats.org/drawingml/2006/main">
              <a:ext uri="{FF2B5EF4-FFF2-40B4-BE49-F238E27FC236}">
                <a16:creationId xmlns:a16="http://schemas.microsoft.com/office/drawing/2014/main" id="{58D1C302-DC94-4EE0-A0AF-4F062D2AEF15}"/>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Formula</a:t>
            </a:r>
          </a:p>
        </p:txBody>
      </p:sp>
      <p:sp>
        <p:nvSpPr>
          <p:cNvPr id="7" name="text">
            <a:extLst xmlns:a="http://schemas.openxmlformats.org/drawingml/2006/main">
              <a:ext uri="{FF2B5EF4-FFF2-40B4-BE49-F238E27FC236}">
                <a16:creationId xmlns:a16="http://schemas.microsoft.com/office/drawing/2014/main" id="{51728B2B-135D-4B0A-AFEE-57A84D9F7922}"/>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WER = (substitutions + deletions + insertions) / reference words.</a:t>
            </a:r>
          </a:p>
        </p:txBody>
      </p:sp>
      <p:sp>
        <p:nvSpPr>
          <p:cNvPr id="8" name="text">
            <a:extLst xmlns:a="http://schemas.openxmlformats.org/drawingml/2006/main">
              <a:ext uri="{FF2B5EF4-FFF2-40B4-BE49-F238E27FC236}">
                <a16:creationId xmlns:a16="http://schemas.microsoft.com/office/drawing/2014/main" id="{265C0B9C-489A-43FF-82C4-649FC7BD6D93}"/>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Worked example</a:t>
            </a:r>
          </a:p>
        </p:txBody>
      </p:sp>
      <p:sp>
        <p:nvSpPr>
          <p:cNvPr id="9" name="text">
            <a:extLst xmlns:a="http://schemas.openxmlformats.org/drawingml/2006/main">
              <a:ext uri="{FF2B5EF4-FFF2-40B4-BE49-F238E27FC236}">
                <a16:creationId xmlns:a16="http://schemas.microsoft.com/office/drawing/2014/main" id="{84F3C36C-6725-4E29-9075-64ABB34B49C6}"/>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With 20 reference words, 2 substitutions, 1 deletion, and 1 insertion give WER = 4/20 = 0.20.</a:t>
            </a:r>
          </a:p>
        </p:txBody>
      </p:sp>
      <p:sp>
        <p:nvSpPr>
          <p:cNvPr id="10" name="text">
            <a:extLst xmlns:a="http://schemas.openxmlformats.org/drawingml/2006/main">
              <a:ext uri="{FF2B5EF4-FFF2-40B4-BE49-F238E27FC236}">
                <a16:creationId xmlns:a16="http://schemas.microsoft.com/office/drawing/2014/main" id="{DEEB2A5D-A2DB-4178-8509-0F91981C9A2F}"/>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Normalization</a:t>
            </a:r>
          </a:p>
        </p:txBody>
      </p:sp>
      <p:sp>
        <p:nvSpPr>
          <p:cNvPr id="11" name="text">
            <a:extLst xmlns:a="http://schemas.openxmlformats.org/drawingml/2006/main">
              <a:ext uri="{FF2B5EF4-FFF2-40B4-BE49-F238E27FC236}">
                <a16:creationId xmlns:a16="http://schemas.microsoft.com/office/drawing/2014/main" id="{7AFEA42C-18C0-4BF2-9373-DE9CA63809A0}"/>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This implementation removes punctuation and case, but keeps numeric word forms distinct.</a:t>
            </a:r>
          </a:p>
        </p:txBody>
      </p:sp>
      <p:sp>
        <p:nvSpPr>
          <p:cNvPr id="12" name="text">
            <a:extLst xmlns:a="http://schemas.openxmlformats.org/drawingml/2006/main">
              <a:ext uri="{FF2B5EF4-FFF2-40B4-BE49-F238E27FC236}">
                <a16:creationId xmlns:a16="http://schemas.microsoft.com/office/drawing/2014/main" id="{F7C23DCA-673B-4769-AF95-96329FB1F410}"/>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Critical error</a:t>
            </a:r>
          </a:p>
        </p:txBody>
      </p:sp>
      <p:sp>
        <p:nvSpPr>
          <p:cNvPr id="13" name="text">
            <a:extLst xmlns:a="http://schemas.openxmlformats.org/drawingml/2006/main">
              <a:ext uri="{FF2B5EF4-FFF2-40B4-BE49-F238E27FC236}">
                <a16:creationId xmlns:a16="http://schemas.microsoft.com/office/drawing/2014/main" id="{16DA58B6-1453-41BD-B851-1CC519A47495}"/>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low overall WER can still hide the one wrong number needed for a policy answer.</a:t>
            </a:r>
          </a:p>
        </p:txBody>
      </p:sp>
    </p:spTree>
    <p:extLst>
      <p:ext uri="{BB962C8B-B14F-4D97-AF65-F5344CB8AC3E}">
        <p14:creationId xmlns:p14="http://schemas.microsoft.com/office/powerpoint/2010/main" val="1412748752"/>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32FD62D-2680-46B0-8821-9C34DB5FF251}"/>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14</a:t>
            </a:r>
          </a:p>
        </p:txBody>
      </p:sp>
      <p:sp>
        <p:nvSpPr>
          <p:cNvPr id="2" name="slide-title">
            <a:extLst xmlns:a="http://schemas.openxmlformats.org/drawingml/2006/main">
              <a:ext uri="{FF2B5EF4-FFF2-40B4-BE49-F238E27FC236}">
                <a16:creationId xmlns:a16="http://schemas.microsoft.com/office/drawing/2014/main" id="{E59646CB-6463-4AAD-810A-38C9EC5226D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Text similarity cannot hear a sound</a:t>
            </a:r>
          </a:p>
        </p:txBody>
      </p:sp>
      <p:sp>
        <p:nvSpPr>
          <p:cNvPr id="3" name="lead">
            <a:extLst xmlns:a="http://schemas.openxmlformats.org/drawingml/2006/main">
              <a:ext uri="{FF2B5EF4-FFF2-40B4-BE49-F238E27FC236}">
                <a16:creationId xmlns:a16="http://schemas.microsoft.com/office/drawing/2014/main" id="{49EEF735-C6F8-45F1-BDF2-9D0C821526B1}"/>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TF-IDF and dense text embeddings search words; CLAP searches audio samples against text.</a:t>
            </a:r>
          </a:p>
        </p:txBody>
      </p:sp>
      <p:sp>
        <p:nvSpPr>
          <p:cNvPr id="4" name="text">
            <a:extLst xmlns:a="http://schemas.openxmlformats.org/drawingml/2006/main">
              <a:ext uri="{FF2B5EF4-FFF2-40B4-BE49-F238E27FC236}">
                <a16:creationId xmlns:a16="http://schemas.microsoft.com/office/drawing/2014/main" id="{DD99F812-4B5A-4096-AB8D-152400A03834}"/>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14  /  Audio RAG</a:t>
            </a:r>
          </a:p>
        </p:txBody>
      </p:sp>
      <p:sp>
        <p:nvSpPr>
          <p:cNvPr id="5" name="page-number">
            <a:extLst xmlns:a="http://schemas.openxmlformats.org/drawingml/2006/main">
              <a:ext uri="{FF2B5EF4-FFF2-40B4-BE49-F238E27FC236}">
                <a16:creationId xmlns:a16="http://schemas.microsoft.com/office/drawing/2014/main" id="{4FD18758-6C32-4514-BB18-6511283473C0}"/>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graphicFrame>
        <p:nvGraphicFramePr>
          <p:cNvPr id="6" name="">
            <a:extLst xmlns:a="http://schemas.openxmlformats.org/drawingml/2006/main">
              <a:ext uri="{FF2B5EF4-FFF2-40B4-BE49-F238E27FC236}">
                <a16:creationId xmlns:a16="http://schemas.microsoft.com/office/drawing/2014/main" id="{0E0CCB9D-53A1-4C43-B7E9-B612F2530E62}"/>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TF-IDF</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Fast lexical matching over transcript segments; wording changes can affect rank.</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Dense text retrieval</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 local sentence model can match paraphrases, but still depends on transcript accuracy.</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CLAP</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Decodes and resamples raw waveforms, then compares normalized audio and text embeddings.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Score interpretation</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Similarity is a ranking signal, not a calibrated probability or confirmed sound label.</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2090750242"/>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9903D0A9-6587-49EE-8E33-F0A36168765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14</a:t>
            </a:r>
          </a:p>
        </p:txBody>
      </p:sp>
      <p:sp>
        <p:nvSpPr>
          <p:cNvPr id="2" name="slide-title">
            <a:extLst xmlns:a="http://schemas.openxmlformats.org/drawingml/2006/main">
              <a:ext uri="{FF2B5EF4-FFF2-40B4-BE49-F238E27FC236}">
                <a16:creationId xmlns:a16="http://schemas.microsoft.com/office/drawing/2014/main" id="{36AF8254-D5C6-48B1-ADF3-FD4CC8541FDF}"/>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Inspect sound without confusing plots with models</a:t>
            </a:r>
          </a:p>
        </p:txBody>
      </p:sp>
      <p:sp>
        <p:nvSpPr>
          <p:cNvPr id="3" name="lead">
            <a:extLst xmlns:a="http://schemas.openxmlformats.org/drawingml/2006/main">
              <a:ext uri="{FF2B5EF4-FFF2-40B4-BE49-F238E27FC236}">
                <a16:creationId xmlns:a16="http://schemas.microsoft.com/office/drawing/2014/main" id="{7FC0CC74-9285-40F4-91ED-7D2BE756EEF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Waveforms and spectra describe different properties of the same signal.</a:t>
            </a:r>
          </a:p>
        </p:txBody>
      </p:sp>
      <p:sp>
        <p:nvSpPr>
          <p:cNvPr id="4" name="text">
            <a:extLst xmlns:a="http://schemas.openxmlformats.org/drawingml/2006/main">
              <a:ext uri="{FF2B5EF4-FFF2-40B4-BE49-F238E27FC236}">
                <a16:creationId xmlns:a16="http://schemas.microsoft.com/office/drawing/2014/main" id="{1E6C9827-D5A6-4BF6-83CC-EF00F88E4B03}"/>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14  /  Audio RAG</a:t>
            </a:r>
          </a:p>
        </p:txBody>
      </p:sp>
      <p:sp>
        <p:nvSpPr>
          <p:cNvPr id="5" name="page-number">
            <a:extLst xmlns:a="http://schemas.openxmlformats.org/drawingml/2006/main">
              <a:ext uri="{FF2B5EF4-FFF2-40B4-BE49-F238E27FC236}">
                <a16:creationId xmlns:a16="http://schemas.microsoft.com/office/drawing/2014/main" id="{0A896D07-79AF-4DF3-AE04-C1D8578A22D4}"/>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5BA76567-CC83-48F1-AF4C-0487DB77D1C9}"/>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Waveform</a:t>
            </a:r>
          </a:p>
        </p:txBody>
      </p:sp>
      <p:sp>
        <p:nvSpPr>
          <p:cNvPr id="7" name="text">
            <a:extLst xmlns:a="http://schemas.openxmlformats.org/drawingml/2006/main">
              <a:ext uri="{FF2B5EF4-FFF2-40B4-BE49-F238E27FC236}">
                <a16:creationId xmlns:a16="http://schemas.microsoft.com/office/drawing/2014/main" id="{65C037A4-2E3E-49FE-BAD7-14AF9E46854E}"/>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Amplitude over time reveals pauses, bursts, and repeating patterns.</a:t>
            </a:r>
          </a:p>
        </p:txBody>
      </p:sp>
      <p:sp>
        <p:nvSpPr>
          <p:cNvPr id="8" name="text">
            <a:extLst xmlns:a="http://schemas.openxmlformats.org/drawingml/2006/main">
              <a:ext uri="{FF2B5EF4-FFF2-40B4-BE49-F238E27FC236}">
                <a16:creationId xmlns:a16="http://schemas.microsoft.com/office/drawing/2014/main" id="{76AF9F11-E551-492E-962A-0C6882A9DFD3}"/>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Spectrum</a:t>
            </a:r>
          </a:p>
        </p:txBody>
      </p:sp>
      <p:sp>
        <p:nvSpPr>
          <p:cNvPr id="9" name="text">
            <a:extLst xmlns:a="http://schemas.openxmlformats.org/drawingml/2006/main">
              <a:ext uri="{FF2B5EF4-FFF2-40B4-BE49-F238E27FC236}">
                <a16:creationId xmlns:a16="http://schemas.microsoft.com/office/drawing/2014/main" id="{862758EC-A21B-461E-BDD7-02032EBFDCF9}"/>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Frequency energy shows tonal content but loses when a sound occurred.</a:t>
            </a:r>
          </a:p>
        </p:txBody>
      </p:sp>
      <p:sp>
        <p:nvSpPr>
          <p:cNvPr id="10" name="text">
            <a:extLst xmlns:a="http://schemas.openxmlformats.org/drawingml/2006/main">
              <a:ext uri="{FF2B5EF4-FFF2-40B4-BE49-F238E27FC236}">
                <a16:creationId xmlns:a16="http://schemas.microsoft.com/office/drawing/2014/main" id="{1F5BDA8A-CCE3-4D2B-9A2A-BEB26A800907}"/>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Spectrogram</a:t>
            </a:r>
          </a:p>
        </p:txBody>
      </p:sp>
      <p:sp>
        <p:nvSpPr>
          <p:cNvPr id="11" name="text">
            <a:extLst xmlns:a="http://schemas.openxmlformats.org/drawingml/2006/main">
              <a:ext uri="{FF2B5EF4-FFF2-40B4-BE49-F238E27FC236}">
                <a16:creationId xmlns:a16="http://schemas.microsoft.com/office/drawing/2014/main" id="{4487B8C6-EAE6-430B-BD53-A843CC9FAE3D}"/>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Adds a time axis to frequency content; it is distinct from a learned embedding.</a:t>
            </a:r>
          </a:p>
        </p:txBody>
      </p:sp>
      <p:sp>
        <p:nvSpPr>
          <p:cNvPr id="12" name="text">
            <a:extLst xmlns:a="http://schemas.openxmlformats.org/drawingml/2006/main">
              <a:ext uri="{FF2B5EF4-FFF2-40B4-BE49-F238E27FC236}">
                <a16:creationId xmlns:a16="http://schemas.microsoft.com/office/drawing/2014/main" id="{6DF671EF-9325-481C-80B7-C38CD7D2A287}"/>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This demonstration</a:t>
            </a:r>
          </a:p>
        </p:txBody>
      </p:sp>
      <p:sp>
        <p:nvSpPr>
          <p:cNvPr id="13" name="text">
            <a:extLst xmlns:a="http://schemas.openxmlformats.org/drawingml/2006/main">
              <a:ext uri="{FF2B5EF4-FFF2-40B4-BE49-F238E27FC236}">
                <a16:creationId xmlns:a16="http://schemas.microsoft.com/office/drawing/2014/main" id="{74D01B17-8599-49FD-907D-974AF2C0F3BF}"/>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Listen to synthetic beeps, a rising tone, and noise bursts before interpreting similarity ranks.</a:t>
            </a:r>
          </a:p>
        </p:txBody>
      </p:sp>
    </p:spTree>
    <p:extLst>
      <p:ext uri="{BB962C8B-B14F-4D97-AF65-F5344CB8AC3E}">
        <p14:creationId xmlns:p14="http://schemas.microsoft.com/office/powerpoint/2010/main" val="1799599750"/>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E1FA16F2-704D-4BE3-8924-DAA6F6EC996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14</a:t>
            </a:r>
          </a:p>
        </p:txBody>
      </p:sp>
      <p:sp>
        <p:nvSpPr>
          <p:cNvPr id="2" name="slide-title">
            <a:extLst xmlns:a="http://schemas.openxmlformats.org/drawingml/2006/main">
              <a:ext uri="{FF2B5EF4-FFF2-40B4-BE49-F238E27FC236}">
                <a16:creationId xmlns:a16="http://schemas.microsoft.com/office/drawing/2014/main" id="{E6A5D77E-2689-49B9-9AE6-1C558D1983ED}"/>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Timestamps need a quality check too</a:t>
            </a:r>
          </a:p>
        </p:txBody>
      </p:sp>
      <p:sp>
        <p:nvSpPr>
          <p:cNvPr id="3" name="lead">
            <a:extLst xmlns:a="http://schemas.openxmlformats.org/drawingml/2006/main">
              <a:ext uri="{FF2B5EF4-FFF2-40B4-BE49-F238E27FC236}">
                <a16:creationId xmlns:a16="http://schemas.microsoft.com/office/drawing/2014/main" id="{0B5FE9DE-1AAA-476F-BE23-93727555AF6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formatted citation can point to the wrong words if transcription or alignment is wrong.</a:t>
            </a:r>
          </a:p>
        </p:txBody>
      </p:sp>
      <p:sp>
        <p:nvSpPr>
          <p:cNvPr id="4" name="text">
            <a:extLst xmlns:a="http://schemas.openxmlformats.org/drawingml/2006/main">
              <a:ext uri="{FF2B5EF4-FFF2-40B4-BE49-F238E27FC236}">
                <a16:creationId xmlns:a16="http://schemas.microsoft.com/office/drawing/2014/main" id="{529682B5-324E-4078-93B8-41861220DDF4}"/>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14  /  Audio RAG</a:t>
            </a:r>
          </a:p>
        </p:txBody>
      </p:sp>
      <p:sp>
        <p:nvSpPr>
          <p:cNvPr id="5" name="page-number">
            <a:extLst xmlns:a="http://schemas.openxmlformats.org/drawingml/2006/main">
              <a:ext uri="{FF2B5EF4-FFF2-40B4-BE49-F238E27FC236}">
                <a16:creationId xmlns:a16="http://schemas.microsoft.com/office/drawing/2014/main" id="{B662CA13-834D-43D7-984C-49399A9E80E7}"/>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75B6E65B-54B8-4DEE-BD4B-E3777B90B207}"/>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Estimated boundaries</a:t>
            </a:r>
          </a:p>
        </p:txBody>
      </p:sp>
      <p:sp>
        <p:nvSpPr>
          <p:cNvPr id="7" name="text">
            <a:extLst xmlns:a="http://schemas.openxmlformats.org/drawingml/2006/main">
              <a:ext uri="{FF2B5EF4-FFF2-40B4-BE49-F238E27FC236}">
                <a16:creationId xmlns:a16="http://schemas.microsoft.com/office/drawing/2014/main" id="{6833D9A8-E49E-4B47-8863-AB497983CFEA}"/>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ASR timestamps are estimates; retain their raw values when corrections are needed.</a:t>
            </a:r>
          </a:p>
        </p:txBody>
      </p:sp>
      <p:sp>
        <p:nvSpPr>
          <p:cNvPr id="8" name="text">
            <a:extLst xmlns:a="http://schemas.openxmlformats.org/drawingml/2006/main">
              <a:ext uri="{FF2B5EF4-FFF2-40B4-BE49-F238E27FC236}">
                <a16:creationId xmlns:a16="http://schemas.microsoft.com/office/drawing/2014/main" id="{B5F99F09-15DF-4FF7-9A39-5507C9D088AC}"/>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Bounded playback</a:t>
            </a:r>
          </a:p>
        </p:txBody>
      </p:sp>
      <p:sp>
        <p:nvSpPr>
          <p:cNvPr id="9" name="text">
            <a:extLst xmlns:a="http://schemas.openxmlformats.org/drawingml/2006/main">
              <a:ext uri="{FF2B5EF4-FFF2-40B4-BE49-F238E27FC236}">
                <a16:creationId xmlns:a16="http://schemas.microsoft.com/office/drawing/2014/main" id="{F19E0AC4-5A30-4BBE-BCEA-46A8D2EEB3B7}"/>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helper clips out-of-range estimates to the recording and warns about corrections.</a:t>
            </a:r>
          </a:p>
        </p:txBody>
      </p:sp>
      <p:sp>
        <p:nvSpPr>
          <p:cNvPr id="10" name="text">
            <a:extLst xmlns:a="http://schemas.openxmlformats.org/drawingml/2006/main">
              <a:ext uri="{FF2B5EF4-FFF2-40B4-BE49-F238E27FC236}">
                <a16:creationId xmlns:a16="http://schemas.microsoft.com/office/drawing/2014/main" id="{F94994E8-A387-4A1C-AD98-008CA5723886}"/>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Alignment check</a:t>
            </a:r>
          </a:p>
        </p:txBody>
      </p:sp>
      <p:sp>
        <p:nvSpPr>
          <p:cNvPr id="11" name="text">
            <a:extLst xmlns:a="http://schemas.openxmlformats.org/drawingml/2006/main">
              <a:ext uri="{FF2B5EF4-FFF2-40B4-BE49-F238E27FC236}">
                <a16:creationId xmlns:a16="http://schemas.microsoft.com/office/drawing/2014/main" id="{202C1887-98EB-4F06-8BF1-819BC24A0018}"/>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Clipping prevents an invalid range; it does not prove that words align with the audio.</a:t>
            </a:r>
          </a:p>
        </p:txBody>
      </p:sp>
      <p:sp>
        <p:nvSpPr>
          <p:cNvPr id="12" name="text">
            <a:extLst xmlns:a="http://schemas.openxmlformats.org/drawingml/2006/main">
              <a:ext uri="{FF2B5EF4-FFF2-40B4-BE49-F238E27FC236}">
                <a16:creationId xmlns:a16="http://schemas.microsoft.com/office/drawing/2014/main" id="{FAEF38C8-97CA-4A23-B7FE-CF92858A4E01}"/>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Separate evaluation</a:t>
            </a:r>
          </a:p>
        </p:txBody>
      </p:sp>
      <p:sp>
        <p:nvSpPr>
          <p:cNvPr id="13" name="text">
            <a:extLst xmlns:a="http://schemas.openxmlformats.org/drawingml/2006/main">
              <a:ext uri="{FF2B5EF4-FFF2-40B4-BE49-F238E27FC236}">
                <a16:creationId xmlns:a16="http://schemas.microsoft.com/office/drawing/2014/main" id="{D62B05C6-6E65-452E-9648-F296D70A157F}"/>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Measure speech accuracy, relevant-interval retrieval, answer correctness, and support independently.</a:t>
            </a:r>
          </a:p>
        </p:txBody>
      </p:sp>
    </p:spTree>
    <p:extLst>
      <p:ext uri="{BB962C8B-B14F-4D97-AF65-F5344CB8AC3E}">
        <p14:creationId xmlns:p14="http://schemas.microsoft.com/office/powerpoint/2010/main" val="1905696715"/>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C8AB921F-A717-4746-8C72-1C724872CF4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14</a:t>
            </a:r>
          </a:p>
        </p:txBody>
      </p:sp>
      <p:sp>
        <p:nvSpPr>
          <p:cNvPr id="2" name="slide-title">
            <a:extLst xmlns:a="http://schemas.openxmlformats.org/drawingml/2006/main">
              <a:ext uri="{FF2B5EF4-FFF2-40B4-BE49-F238E27FC236}">
                <a16:creationId xmlns:a16="http://schemas.microsoft.com/office/drawing/2014/main" id="{0BC26960-890A-46F4-B658-3788960CCE1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hear the retrieved interval</a:t>
            </a:r>
          </a:p>
        </p:txBody>
      </p:sp>
      <p:sp>
        <p:nvSpPr>
          <p:cNvPr id="3" name="lead">
            <a:extLst xmlns:a="http://schemas.openxmlformats.org/drawingml/2006/main">
              <a:ext uri="{FF2B5EF4-FFF2-40B4-BE49-F238E27FC236}">
                <a16:creationId xmlns:a16="http://schemas.microsoft.com/office/drawing/2014/main" id="{BB0CDB6C-BC70-4F5B-8ED7-4C6BF40C26F7}"/>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Open notebook 14 and make the active retrieval path explicit.</a:t>
            </a:r>
          </a:p>
        </p:txBody>
      </p:sp>
      <p:sp>
        <p:nvSpPr>
          <p:cNvPr id="4" name="text">
            <a:extLst xmlns:a="http://schemas.openxmlformats.org/drawingml/2006/main">
              <a:ext uri="{FF2B5EF4-FFF2-40B4-BE49-F238E27FC236}">
                <a16:creationId xmlns:a16="http://schemas.microsoft.com/office/drawing/2014/main" id="{F64382CF-B794-44D3-B73C-2A357FA33E22}"/>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14  /  Audio RAG</a:t>
            </a:r>
          </a:p>
        </p:txBody>
      </p:sp>
      <p:sp>
        <p:nvSpPr>
          <p:cNvPr id="5" name="page-number">
            <a:extLst xmlns:a="http://schemas.openxmlformats.org/drawingml/2006/main">
              <a:ext uri="{FF2B5EF4-FFF2-40B4-BE49-F238E27FC236}">
                <a16:creationId xmlns:a16="http://schemas.microsoft.com/office/drawing/2014/main" id="{0090FF8A-589A-46BB-91E3-F3A685F5A206}"/>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CCB269E6-2DB3-4A3C-AD6C-40010B8EC1EA}"/>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514FA42D-F258-4F21-9712-34E194C05DBF}"/>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Baseline · sections 1–6</a:t>
            </a:r>
          </a:p>
        </p:txBody>
      </p:sp>
      <p:sp>
        <p:nvSpPr>
          <p:cNvPr id="8" name="text">
            <a:extLst xmlns:a="http://schemas.openxmlformats.org/drawingml/2006/main">
              <a:ext uri="{FF2B5EF4-FFF2-40B4-BE49-F238E27FC236}">
                <a16:creationId xmlns:a16="http://schemas.microsoft.com/office/drawing/2014/main" id="{64D82B8F-0A83-4499-90AF-15EC0ED0D71E}"/>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Play the recording, inspect authored segments, retrieve a retention answer, and replay the exact slice.</a:t>
            </a:r>
          </a:p>
        </p:txBody>
      </p:sp>
      <p:sp>
        <p:nvSpPr>
          <p:cNvPr id="9" name="text">
            <a:extLst xmlns:a="http://schemas.openxmlformats.org/drawingml/2006/main">
              <a:ext uri="{FF2B5EF4-FFF2-40B4-BE49-F238E27FC236}">
                <a16:creationId xmlns:a16="http://schemas.microsoft.com/office/drawing/2014/main" id="{708F352D-8E50-4248-A5D8-A59CF9C507FD}"/>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5B27B3BC-AA69-4EAB-8D39-51E1D1F9C898}"/>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ASR · sections 2–3</a:t>
            </a:r>
          </a:p>
        </p:txBody>
      </p:sp>
      <p:sp>
        <p:nvSpPr>
          <p:cNvPr id="11" name="text">
            <a:extLst xmlns:a="http://schemas.openxmlformats.org/drawingml/2006/main">
              <a:ext uri="{FF2B5EF4-FFF2-40B4-BE49-F238E27FC236}">
                <a16:creationId xmlns:a16="http://schemas.microsoft.com/office/drawing/2014/main" id="{EF04FBFC-D5C2-4F0A-BC09-B07BFD7638BE}"/>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Optionally set RUN_ASR=True, inspect recognized words, and compare them with the reference.</a:t>
            </a:r>
          </a:p>
        </p:txBody>
      </p:sp>
      <p:sp>
        <p:nvSpPr>
          <p:cNvPr id="12" name="text">
            <a:extLst xmlns:a="http://schemas.openxmlformats.org/drawingml/2006/main">
              <a:ext uri="{FF2B5EF4-FFF2-40B4-BE49-F238E27FC236}">
                <a16:creationId xmlns:a16="http://schemas.microsoft.com/office/drawing/2014/main" id="{9ED5A216-C3B3-4722-B482-F454384DF126}"/>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954E1F81-360C-4024-8B91-2B8D811F037E}"/>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Sound · sections 7–8</a:t>
            </a:r>
          </a:p>
        </p:txBody>
      </p:sp>
      <p:sp>
        <p:nvSpPr>
          <p:cNvPr id="14" name="text">
            <a:extLst xmlns:a="http://schemas.openxmlformats.org/drawingml/2006/main">
              <a:ext uri="{FF2B5EF4-FFF2-40B4-BE49-F238E27FC236}">
                <a16:creationId xmlns:a16="http://schemas.microsoft.com/office/drawing/2014/main" id="{A1316F0B-3CF2-4A56-AB18-62EE38AA1867}"/>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Listen to synthetic files; optionally enable RUN_CLAP for waveform-based ranking.</a:t>
            </a:r>
          </a:p>
        </p:txBody>
      </p:sp>
      <p:sp>
        <p:nvSpPr>
          <p:cNvPr id="15" name="text">
            <a:extLst xmlns:a="http://schemas.openxmlformats.org/drawingml/2006/main">
              <a:ext uri="{FF2B5EF4-FFF2-40B4-BE49-F238E27FC236}">
                <a16:creationId xmlns:a16="http://schemas.microsoft.com/office/drawing/2014/main" id="{26443DF3-93E5-42AC-8992-1FAE2835C4B4}"/>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73602F28-38E9-4DFB-A616-A17C87F7E19C}"/>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Answer · section 9</a:t>
            </a:r>
          </a:p>
        </p:txBody>
      </p:sp>
      <p:sp>
        <p:nvSpPr>
          <p:cNvPr id="17" name="text">
            <a:extLst xmlns:a="http://schemas.openxmlformats.org/drawingml/2006/main">
              <a:ext uri="{FF2B5EF4-FFF2-40B4-BE49-F238E27FC236}">
                <a16:creationId xmlns:a16="http://schemas.microsoft.com/office/drawing/2014/main" id="{AE309C96-F5A7-4F42-ACA2-C3FF54CF0357}"/>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Send selected transcript evidence to Claude and inspect source IDs plus time ranges.</a:t>
            </a:r>
          </a:p>
        </p:txBody>
      </p:sp>
    </p:spTree>
    <p:extLst>
      <p:ext uri="{BB962C8B-B14F-4D97-AF65-F5344CB8AC3E}">
        <p14:creationId xmlns:p14="http://schemas.microsoft.com/office/powerpoint/2010/main" val="520301835"/>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7CE19331-97AE-4B36-82E5-305F5E76998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14</a:t>
            </a:r>
          </a:p>
        </p:txBody>
      </p:sp>
      <p:sp>
        <p:nvSpPr>
          <p:cNvPr id="2" name="slide-title">
            <a:extLst xmlns:a="http://schemas.openxmlformats.org/drawingml/2006/main">
              <a:ext uri="{FF2B5EF4-FFF2-40B4-BE49-F238E27FC236}">
                <a16:creationId xmlns:a16="http://schemas.microsoft.com/office/drawing/2014/main" id="{C66E26D0-4FAE-4633-8A15-25E5B2F23C3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Expand context without inventing a time range</a:t>
            </a:r>
          </a:p>
        </p:txBody>
      </p:sp>
      <p:sp>
        <p:nvSpPr>
          <p:cNvPr id="3" name="lead">
            <a:extLst xmlns:a="http://schemas.openxmlformats.org/drawingml/2006/main">
              <a:ext uri="{FF2B5EF4-FFF2-40B4-BE49-F238E27FC236}">
                <a16:creationId xmlns:a16="http://schemas.microsoft.com/office/drawing/2014/main" id="{EB425994-E608-41C9-840F-285149A18F6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Add context around the best hit while preserving the hit and its neighbors as separate evidence.</a:t>
            </a:r>
          </a:p>
        </p:txBody>
      </p:sp>
      <p:sp>
        <p:nvSpPr>
          <p:cNvPr id="4" name="text">
            <a:extLst xmlns:a="http://schemas.openxmlformats.org/drawingml/2006/main">
              <a:ext uri="{FF2B5EF4-FFF2-40B4-BE49-F238E27FC236}">
                <a16:creationId xmlns:a16="http://schemas.microsoft.com/office/drawing/2014/main" id="{2B9DD213-AC50-44A4-A895-531E8C6BE933}"/>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14  /  Audio RAG</a:t>
            </a:r>
          </a:p>
        </p:txBody>
      </p:sp>
      <p:sp>
        <p:nvSpPr>
          <p:cNvPr id="5" name="page-number">
            <a:extLst xmlns:a="http://schemas.openxmlformats.org/drawingml/2006/main">
              <a:ext uri="{FF2B5EF4-FFF2-40B4-BE49-F238E27FC236}">
                <a16:creationId xmlns:a16="http://schemas.microsoft.com/office/drawing/2014/main" id="{4395CCE8-570B-4239-AC6E-A140D0023D70}"/>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BBFC8698-0A64-42CD-BD77-B5674F8B3DAB}"/>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Try</a:t>
            </a:r>
          </a:p>
        </p:txBody>
      </p:sp>
      <p:sp>
        <p:nvSpPr>
          <p:cNvPr id="7" name="text">
            <a:extLst xmlns:a="http://schemas.openxmlformats.org/drawingml/2006/main">
              <a:ext uri="{FF2B5EF4-FFF2-40B4-BE49-F238E27FC236}">
                <a16:creationId xmlns:a16="http://schemas.microsoft.com/office/drawing/2014/main" id="{CB7345D2-040F-43E9-908B-FAA5E470C9C3}"/>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Expand one second before and after the top hit, clipped to the recording duration.</a:t>
            </a:r>
          </a:p>
        </p:txBody>
      </p:sp>
      <p:sp>
        <p:nvSpPr>
          <p:cNvPr id="8" name="text">
            <a:extLst xmlns:a="http://schemas.openxmlformats.org/drawingml/2006/main">
              <a:ext uri="{FF2B5EF4-FFF2-40B4-BE49-F238E27FC236}">
                <a16:creationId xmlns:a16="http://schemas.microsoft.com/office/drawing/2014/main" id="{DC35C46B-A240-47CC-B849-B89A594ABFED}"/>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Include</a:t>
            </a:r>
          </a:p>
        </p:txBody>
      </p:sp>
      <p:sp>
        <p:nvSpPr>
          <p:cNvPr id="9" name="text">
            <a:extLst xmlns:a="http://schemas.openxmlformats.org/drawingml/2006/main">
              <a:ext uri="{FF2B5EF4-FFF2-40B4-BE49-F238E27FC236}">
                <a16:creationId xmlns:a16="http://schemas.microsoft.com/office/drawing/2014/main" id="{501C4FB7-BA63-452C-B1F9-23294FF16661}"/>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Collect all transcript segments overlapping the expanded interval; keep original hit times visible.</a:t>
            </a:r>
          </a:p>
        </p:txBody>
      </p:sp>
      <p:sp>
        <p:nvSpPr>
          <p:cNvPr id="10" name="text">
            <a:extLst xmlns:a="http://schemas.openxmlformats.org/drawingml/2006/main">
              <a:ext uri="{FF2B5EF4-FFF2-40B4-BE49-F238E27FC236}">
                <a16:creationId xmlns:a16="http://schemas.microsoft.com/office/drawing/2014/main" id="{3F6F4BCF-F59C-4D40-9791-CE28FAE84471}"/>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Discuss</a:t>
            </a:r>
          </a:p>
        </p:txBody>
      </p:sp>
      <p:sp>
        <p:nvSpPr>
          <p:cNvPr id="11" name="text">
            <a:extLst xmlns:a="http://schemas.openxmlformats.org/drawingml/2006/main">
              <a:ext uri="{FF2B5EF4-FFF2-40B4-BE49-F238E27FC236}">
                <a16:creationId xmlns:a16="http://schemas.microsoft.com/office/drawing/2014/main" id="{B63252E8-8791-4C5B-976E-84C5B50C47E0}"/>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Could neighboring speech add useful context or introduce a contradictory fact?</a:t>
            </a:r>
          </a:p>
        </p:txBody>
      </p:sp>
      <p:sp>
        <p:nvSpPr>
          <p:cNvPr id="12" name="text">
            <a:extLst xmlns:a="http://schemas.openxmlformats.org/drawingml/2006/main">
              <a:ext uri="{FF2B5EF4-FFF2-40B4-BE49-F238E27FC236}">
                <a16:creationId xmlns:a16="http://schemas.microsoft.com/office/drawing/2014/main" id="{25A3B7EF-AACA-43C9-9235-F45309C15C41}"/>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Evaluate</a:t>
            </a:r>
          </a:p>
        </p:txBody>
      </p:sp>
      <p:sp>
        <p:nvSpPr>
          <p:cNvPr id="13" name="text">
            <a:extLst xmlns:a="http://schemas.openxmlformats.org/drawingml/2006/main">
              <a:ext uri="{FF2B5EF4-FFF2-40B4-BE49-F238E27FC236}">
                <a16:creationId xmlns:a16="http://schemas.microsoft.com/office/drawing/2014/main" id="{D844BC64-0ADF-4911-9F0F-95C98D41C9F6}"/>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Label ten question intervals; compare transcription, interval retrieval, answers, and citation support.</a:t>
            </a:r>
          </a:p>
        </p:txBody>
      </p:sp>
    </p:spTree>
    <p:extLst>
      <p:ext uri="{BB962C8B-B14F-4D97-AF65-F5344CB8AC3E}">
        <p14:creationId xmlns:p14="http://schemas.microsoft.com/office/powerpoint/2010/main" val="1768953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2026-10-11T09:50:40.8810000Z</dcterms:created>
  <dcterms:modified xsi:type="dcterms:W3CDTF">2026-10-11T09:50:40.8810000Z</dcterms:modified>
</coreProperties>
</file>