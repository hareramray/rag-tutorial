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9dc7427d15472e" /><Relationship Type="http://schemas.openxmlformats.org/officeDocument/2006/relationships/extended-properties" Target="/docProps/app.xml" Id="R4f27b164524d4eed" /><Relationship Type="http://schemas.openxmlformats.org/officeDocument/2006/relationships/officeDocument" Target="/ppt/presentation.xml" Id="R411113c844b84e6f" /></Relationships>
</file>

<file path=ppt/presentation.xml><?xml version="1.0" encoding="utf-8"?>
<p:presentation xmlns:p="http://schemas.openxmlformats.org/presentationml/2006/main">
  <p:sldMasterIdLst>
    <p:sldMasterId xmlns:r="http://schemas.openxmlformats.org/officeDocument/2006/relationships" id="2147483648" r:id="Rc6adea14fbfe4ecd"/>
  </p:sldMasterIdLst>
  <p:notesMasterIdLst>
    <p:notesMasterId xmlns:r="http://schemas.openxmlformats.org/officeDocument/2006/relationships" r:id="R6f1699b02f3d47e1"/>
  </p:notesMasterIdLst>
  <p:sldIdLst>
    <p:sldId xmlns:r="http://schemas.openxmlformats.org/officeDocument/2006/relationships" id="256" r:id="Re8782dd780344f68"/>
    <p:sldId xmlns:r="http://schemas.openxmlformats.org/officeDocument/2006/relationships" id="257" r:id="R04b8d6f765374c43"/>
    <p:sldId xmlns:r="http://schemas.openxmlformats.org/officeDocument/2006/relationships" id="258" r:id="Rdd32a50fbfe54703"/>
    <p:sldId xmlns:r="http://schemas.openxmlformats.org/officeDocument/2006/relationships" id="259" r:id="R7817f2c8cc9541fd"/>
    <p:sldId xmlns:r="http://schemas.openxmlformats.org/officeDocument/2006/relationships" id="260" r:id="Rb813f5bc85bf480c"/>
    <p:sldId xmlns:r="http://schemas.openxmlformats.org/officeDocument/2006/relationships" id="261" r:id="R2fb057e13eea4028"/>
    <p:sldId xmlns:r="http://schemas.openxmlformats.org/officeDocument/2006/relationships" id="262" r:id="R3c2d6e205fa8428c"/>
    <p:sldId xmlns:r="http://schemas.openxmlformats.org/officeDocument/2006/relationships" id="263" r:id="R1cd735038aaa4821"/>
    <p:sldId xmlns:r="http://schemas.openxmlformats.org/officeDocument/2006/relationships" id="264" r:id="Rf5f0399a151146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c1d92f136149cf" /><Relationship Type="http://schemas.openxmlformats.org/officeDocument/2006/relationships/slideMaster" Target="/ppt/slideMasters/slideMaster1.xml" Id="Rc6adea14fbfe4ecd" /><Relationship Type="http://schemas.openxmlformats.org/officeDocument/2006/relationships/notesMaster" Target="/ppt/notesMasters/notesMaster1.xml" Id="R6f1699b02f3d47e1" /><Relationship Type="http://schemas.openxmlformats.org/officeDocument/2006/relationships/presProps" Target="/ppt/presProps.xml" Id="R9fe5f18f56f04747" /><Relationship Type="http://schemas.openxmlformats.org/officeDocument/2006/relationships/tableStyles" Target="/ppt/tableStyles.xml" Id="R3979cdbd84554362" /><Relationship Type="http://schemas.openxmlformats.org/officeDocument/2006/relationships/slide" Target="/ppt/slides/slide1.xml" Id="Re8782dd780344f68" /><Relationship Type="http://schemas.openxmlformats.org/officeDocument/2006/relationships/slide" Target="/ppt/slides/slide2.xml" Id="R04b8d6f765374c43" /><Relationship Type="http://schemas.openxmlformats.org/officeDocument/2006/relationships/slide" Target="/ppt/slides/slide3.xml" Id="Rdd32a50fbfe54703" /><Relationship Type="http://schemas.openxmlformats.org/officeDocument/2006/relationships/slide" Target="/ppt/slides/slide4.xml" Id="R7817f2c8cc9541fd" /><Relationship Type="http://schemas.openxmlformats.org/officeDocument/2006/relationships/slide" Target="/ppt/slides/slide5.xml" Id="Rb813f5bc85bf480c" /><Relationship Type="http://schemas.openxmlformats.org/officeDocument/2006/relationships/slide" Target="/ppt/slides/slide6.xml" Id="R2fb057e13eea4028" /><Relationship Type="http://schemas.openxmlformats.org/officeDocument/2006/relationships/slide" Target="/ppt/slides/slide7.xml" Id="R3c2d6e205fa8428c" /><Relationship Type="http://schemas.openxmlformats.org/officeDocument/2006/relationships/slide" Target="/ppt/slides/slide8.xml" Id="R1cd735038aaa4821" /><Relationship Type="http://schemas.openxmlformats.org/officeDocument/2006/relationships/slide" Target="/ppt/slides/slide9.xml" Id="Rf5f0399a151146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8c7bc7cb6e4f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3d0b2c8454427c" /><Relationship Type="http://schemas.openxmlformats.org/officeDocument/2006/relationships/notesMaster" Target="/ppt/notesMasters/notesMaster1.xml" Id="R4afec06379974e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2bb3720af44aac" /><Relationship Type="http://schemas.openxmlformats.org/officeDocument/2006/relationships/notesMaster" Target="/ppt/notesMasters/notesMaster1.xml" Id="Rb670aafc225d46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abc6888f8f442a" /><Relationship Type="http://schemas.openxmlformats.org/officeDocument/2006/relationships/notesMaster" Target="/ppt/notesMasters/notesMaster1.xml" Id="Rba5072de28bb47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62e76e8f3f4c92" /><Relationship Type="http://schemas.openxmlformats.org/officeDocument/2006/relationships/notesMaster" Target="/ppt/notesMasters/notesMaster1.xml" Id="Rad67f1de15c948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c5b3a8811f4112" /><Relationship Type="http://schemas.openxmlformats.org/officeDocument/2006/relationships/notesMaster" Target="/ppt/notesMasters/notesMaster1.xml" Id="R22e8d417ecb04e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136a3058eb4469" /><Relationship Type="http://schemas.openxmlformats.org/officeDocument/2006/relationships/notesMaster" Target="/ppt/notesMasters/notesMaster1.xml" Id="R6d15942ce31d45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d1caff6e304691" /><Relationship Type="http://schemas.openxmlformats.org/officeDocument/2006/relationships/notesMaster" Target="/ppt/notesMasters/notesMaster1.xml" Id="R7352bcccecec40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aa474bd54d4d3b" /><Relationship Type="http://schemas.openxmlformats.org/officeDocument/2006/relationships/notesMaster" Target="/ppt/notesMasters/notesMaster1.xml" Id="Rc55eee25789346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02f0c73fe94e9f" /><Relationship Type="http://schemas.openxmlformats.org/officeDocument/2006/relationships/notesMaster" Target="/ppt/notesMasters/notesMaster1.xml" Id="Rcac3af6ddc8544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notebooks/00_setup_and_claude.ipynb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notebooks/00_setup_and_claude.ipynb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three words in RAG using a familiar open-book exercise. The retriever chooses pages, the prompt presents those pages, and the generator writes a response. Explain that these roles are separate: a polished answer cannot repair missing evidence. Notebook 00 section 4 introduces a Document with an ID, text, and metadata. Show one source before showing any generated answer so learners see where facts originate. All policies belong to the fictional Northstar Analytics teaching corpus; they are not claims about a real company.</a:t>
            </a:r>
          </a:p>
          <a:p xmlns:a="http://schemas.openxmlformats.org/drawingml/2006/main">
            <a:r>
              <a:t/>
            </a:r>
          </a:p>
          <a:p xmlns:a="http://schemas.openxmlformats.org/drawingml/2006/main">
            <a:r>
              <a:t>NOTEBOOK: notebooks/00_setup_and_claude.ipynb</a:t>
            </a:r>
          </a:p>
          <a:p xmlns:a="http://schemas.openxmlformats.org/drawingml/2006/main">
            <a:r>
              <a:t/>
            </a:r>
          </a:p>
          <a:p xmlns:a="http://schemas.openxmlformats.org/drawingml/2006/main">
            <a:r>
              <a:t>SOURCES</a:t>
            </a:r>
          </a:p>
          <a:p xmlns:a="http://schemas.openxmlformats.org/drawingml/2006/main">
            <a:r>
              <a:t>notebooks/00_setup_and_claude.ipynb — sections 4 and 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section 1 and connect the terminal setup commands with the notebook kernel selector. The locked requirements capture the tested Windows and Python 3.13 setup; the portable requirements may resolve differently on another platform. Ask learners to point to the printed interpreter path and verify it belongs to the project environment. If a package is missing, the first diagnostic is the selected interpreter, not repeatedly installing into unrelated Python environments. Later semantic lessons can download weights on first use, so complete that preparation before a live class.</a:t>
            </a:r>
          </a:p>
          <a:p xmlns:a="http://schemas.openxmlformats.org/drawingml/2006/main">
            <a:r>
              <a:t/>
            </a:r>
          </a:p>
          <a:p xmlns:a="http://schemas.openxmlformats.org/drawingml/2006/main">
            <a:r>
              <a:t>NOTEBOOK: notebooks/00_setup_and_claude.ipynb</a:t>
            </a:r>
          </a:p>
          <a:p xmlns:a="http://schemas.openxmlformats.org/drawingml/2006/main">
            <a:r>
              <a:t/>
            </a:r>
          </a:p>
          <a:p xmlns:a="http://schemas.openxmlformats.org/drawingml/2006/main">
            <a:r>
              <a:t>SOURCES</a:t>
            </a:r>
          </a:p>
          <a:p xmlns:a="http://schemas.openxmlformats.org/drawingml/2006/main">
            <a:r>
              <a:t>notebooks/00_setup_and_claude.ipynb — section 1</a:t>
            </a:r>
          </a:p>
          <a:p xmlns:a="http://schemas.openxmlformats.org/drawingml/2006/main">
            <a:r>
              <a:t>https://jupyterlab.readthedocs.io/en/stable/getting_started/installation.html</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sections 2 and 3 to show safe configuration checks. The existing key is passed explicitly from CLAUDE_KEY, so learners do not need to rename it or acquire a second provider key. The optional workspace setting is only relevant when a credential requires a workspace ID. Do not display the settings object, request headers, or the .env contents during a projected demo. Read the mode indicator aloud and distinguish a cached live response from an offline skip. A configuration change should be followed by a kernel restart.</a:t>
            </a:r>
          </a:p>
          <a:p xmlns:a="http://schemas.openxmlformats.org/drawingml/2006/main">
            <a:r>
              <a:t/>
            </a:r>
          </a:p>
          <a:p xmlns:a="http://schemas.openxmlformats.org/drawingml/2006/main">
            <a:r>
              <a:t>NOTEBOOK: notebooks/00_setup_and_claude.ipynb</a:t>
            </a:r>
          </a:p>
          <a:p xmlns:a="http://schemas.openxmlformats.org/drawingml/2006/main">
            <a:r>
              <a:t/>
            </a:r>
          </a:p>
          <a:p xmlns:a="http://schemas.openxmlformats.org/drawingml/2006/main">
            <a:r>
              <a:t>SOURCES</a:t>
            </a:r>
          </a:p>
          <a:p xmlns:a="http://schemas.openxmlformats.org/drawingml/2006/main">
            <a:r>
              <a:t>notebooks/00_setup_and_claude.ipynb — sections 2 and 3</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section 4 and pause on the inventory table. Ask learners to predict which document answers a leave-policy question. Open the corresponding text and separate its factual content from metadata that describes its origin. Metadata makes evidence easier to manage, but the title alone is not the answer. Explain that word count is a simple corpus-inspection measure, while API token usage is a different measure introduced next. This habit of reading source material first will make later retrieval failures much easier to diagnose.</a:t>
            </a:r>
          </a:p>
          <a:p xmlns:a="http://schemas.openxmlformats.org/drawingml/2006/main">
            <a:r>
              <a:t/>
            </a:r>
          </a:p>
          <a:p xmlns:a="http://schemas.openxmlformats.org/drawingml/2006/main">
            <a:r>
              <a:t>NOTEBOOK: notebooks/00_setup_and_claude.ipynb</a:t>
            </a:r>
          </a:p>
          <a:p xmlns:a="http://schemas.openxmlformats.org/drawingml/2006/main">
            <a:r>
              <a:t/>
            </a:r>
          </a:p>
          <a:p xmlns:a="http://schemas.openxmlformats.org/drawingml/2006/main">
            <a:r>
              <a:t>SOURCES</a:t>
            </a:r>
          </a:p>
          <a:p xmlns:a="http://schemas.openxmlformats.org/drawingml/2006/main">
            <a:r>
              <a:t>notebooks/00_setup_and_claude.ipynb — section 4</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section 5 and read the response metadata before discussing the wording. The output cap constrains response length; it should not be confused with how much context the model can receive. The helper may reuse a matching local cached response, which changes the meaning of the observed latency and spending. Section 6 shows the direct SDK equivalent with an explicit API key parameter, but it is optional and sends a separate uncached request. Leave that switch disabled unless demonstrating the underlying Messages API adds value to the class.</a:t>
            </a:r>
          </a:p>
          <a:p xmlns:a="http://schemas.openxmlformats.org/drawingml/2006/main">
            <a:r>
              <a:t/>
            </a:r>
          </a:p>
          <a:p xmlns:a="http://schemas.openxmlformats.org/drawingml/2006/main">
            <a:r>
              <a:t>NOTEBOOK: notebooks/00_setup_and_claude.ipynb</a:t>
            </a:r>
          </a:p>
          <a:p xmlns:a="http://schemas.openxmlformats.org/drawingml/2006/main">
            <a:r>
              <a:t/>
            </a:r>
          </a:p>
          <a:p xmlns:a="http://schemas.openxmlformats.org/drawingml/2006/main">
            <a:r>
              <a:t>SOURCES</a:t>
            </a:r>
          </a:p>
          <a:p xmlns:a="http://schemas.openxmlformats.org/drawingml/2006/main">
            <a:r>
              <a:t>notebooks/00_setup_and_claude.ipynb — sections 5 and 6</a:t>
            </a:r>
          </a:p>
          <a:p xmlns:a="http://schemas.openxmlformats.org/drawingml/2006/main">
            <a:r>
              <a:t>https://platform.claude.com/docs/en/api/messages</a:t>
            </a:r>
          </a:p>
          <a:p xmlns:a="http://schemas.openxmlformats.org/drawingml/2006/main">
            <a:r>
              <a:t>https://github.com/anthropics/anthropic-sdk-python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section 8 one operation at a time. Explain that chunking creates smaller retrieval units and that TF-IDF is a lexical method based on the words in the corpus. Do not introduce embeddings as if they are already involved in this preview. The question asks how many annual paid leave days employees receive; the policy contains 24 days for full-time employees. Make the audience read the selected text before the model answer. In offline mode, stop at evidence inspection and explain why the placeholder cannot establish answer quality.</a:t>
            </a:r>
          </a:p>
          <a:p xmlns:a="http://schemas.openxmlformats.org/drawingml/2006/main">
            <a:r>
              <a:t/>
            </a:r>
          </a:p>
          <a:p xmlns:a="http://schemas.openxmlformats.org/drawingml/2006/main">
            <a:r>
              <a:t>NOTEBOOK: notebooks/00_setup_and_claude.ipynb</a:t>
            </a:r>
          </a:p>
          <a:p xmlns:a="http://schemas.openxmlformats.org/drawingml/2006/main">
            <a:r>
              <a:t/>
            </a:r>
          </a:p>
          <a:p xmlns:a="http://schemas.openxmlformats.org/drawingml/2006/main">
            <a:r>
              <a:t>SOURCES</a:t>
            </a:r>
          </a:p>
          <a:p xmlns:a="http://schemas.openxmlformats.org/drawingml/2006/main">
            <a:r>
              <a:t>notebooks/00_setup_and_claude.ipynb — section 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presenter's transition into the notebook. Keep the optional direct SDK and model-listing calls disabled on the first pass; they are useful extensions but are not required to demonstrate the pipeline. A missing module indicates an environment problem, while an authentication or model-access error belongs to configuration. Explain those layers without showing secrets. The important classroom observation is the visible chain of evidence, not the speed of clicking Run All. Let a participant predict the source document before the retrieval cell executes.</a:t>
            </a:r>
          </a:p>
          <a:p xmlns:a="http://schemas.openxmlformats.org/drawingml/2006/main">
            <a:r>
              <a:t/>
            </a:r>
          </a:p>
          <a:p xmlns:a="http://schemas.openxmlformats.org/drawingml/2006/main">
            <a:r>
              <a:t>NOTEBOOK: notebooks/00_setup_and_claude.ipynb</a:t>
            </a:r>
          </a:p>
          <a:p xmlns:a="http://schemas.openxmlformats.org/drawingml/2006/main">
            <a:r>
              <a:t/>
            </a:r>
          </a:p>
          <a:p xmlns:a="http://schemas.openxmlformats.org/drawingml/2006/main">
            <a:r>
              <a:t>SOURCES</a:t>
            </a:r>
          </a:p>
          <a:p xmlns:a="http://schemas.openxmlformats.org/drawingml/2006/main">
            <a:r>
              <a:t>notebooks/00_setup_and_claude.ipynb — sections 1–5 and 8; Troubleshooting and next step</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section 9 as a short audience exercise. Ask learners to name the likely source before running the carry-forward query, then identify both the number and the deadline in the returned evidence. For the unsupported variation, show that a retriever can still return ranked results. A grounded response should acknowledge insufficient evidence rather than inventing a fact. Finish by asking learners to distinguish source inspection, retrieval behavior, and generation behavior. Those separate responsibilities become the focus of notebook 01, where the scoring and prompt construction are implemented directly.</a:t>
            </a:r>
          </a:p>
          <a:p xmlns:a="http://schemas.openxmlformats.org/drawingml/2006/main">
            <a:r>
              <a:t/>
            </a:r>
          </a:p>
          <a:p xmlns:a="http://schemas.openxmlformats.org/drawingml/2006/main">
            <a:r>
              <a:t>NOTEBOOK: notebooks/00_setup_and_claude.ipynb</a:t>
            </a:r>
          </a:p>
          <a:p xmlns:a="http://schemas.openxmlformats.org/drawingml/2006/main">
            <a:r>
              <a:t/>
            </a:r>
          </a:p>
          <a:p xmlns:a="http://schemas.openxmlformats.org/drawingml/2006/main">
            <a:r>
              <a:t>SOURCES</a:t>
            </a:r>
          </a:p>
          <a:p xmlns:a="http://schemas.openxmlformats.org/drawingml/2006/main">
            <a:r>
              <a:t>notebooks/00_setup_and_claude.ipynb — section 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ff503d7f8144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e30d4c88d346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8a4567b7694a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ff30e2b82543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601a4cbbbe4e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4a2ebe876e49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17A4E9-A76F-4884-A89A-67A8CA663B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0C700E-114C-4C8A-8468-3E05701E4C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362F6F-6A7F-4DF9-9474-67F22E60939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562B7C-D12B-421A-8986-3B79FDDD06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2EFA2F-8E8F-43A7-B343-951D7A569C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E7D926-816F-4038-8A64-DF65DA1240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2260F6-12DA-49AE-BEF0-6FE91B4731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5C0575-F68F-4691-B9B8-D3A2EE2D52E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EDB9D9-BABB-49A0-BEA7-7F87E1307E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FBD573-535D-47DA-BFF4-0452BECA49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d0bc43c2034aed" /><Relationship Type="http://schemas.openxmlformats.org/officeDocument/2006/relationships/slideLayout" Target="/ppt/slideLayouts/slideLayout1.xml" Id="Ra4130b4c72ef41f0" /><Relationship Type="http://schemas.openxmlformats.org/officeDocument/2006/relationships/slideLayout" Target="/ppt/slideLayouts/slideLayout2.xml" Id="R934472a66edc4649" /><Relationship Type="http://schemas.openxmlformats.org/officeDocument/2006/relationships/slideLayout" Target="/ppt/slideLayouts/slideLayout3.xml" Id="R9e8c86bfaf9c40e3" /><Relationship Type="http://schemas.openxmlformats.org/officeDocument/2006/relationships/slideLayout" Target="/ppt/slideLayouts/slideLayout4.xml" Id="Rf174b9c7fd72477a" /><Relationship Type="http://schemas.openxmlformats.org/officeDocument/2006/relationships/slideLayout" Target="/ppt/slideLayouts/slideLayout5.xml" Id="Rc405cfddadb44c21" /><Relationship Type="http://schemas.openxmlformats.org/officeDocument/2006/relationships/slideLayout" Target="/ppt/slideLayouts/slideLayout6.xml" Id="Re653bdc6872d46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130b4c72ef41f0"/>
    <p:sldLayoutId xmlns:r="http://schemas.openxmlformats.org/officeDocument/2006/relationships" id="2147483650" r:id="R934472a66edc4649"/>
    <p:sldLayoutId xmlns:r="http://schemas.openxmlformats.org/officeDocument/2006/relationships" id="2147483651" r:id="R9e8c86bfaf9c40e3"/>
    <p:sldLayoutId xmlns:r="http://schemas.openxmlformats.org/officeDocument/2006/relationships" id="2147483652" r:id="Rf174b9c7fd72477a"/>
    <p:sldLayoutId xmlns:r="http://schemas.openxmlformats.org/officeDocument/2006/relationships" id="2147483653" r:id="Rc405cfddadb44c21"/>
    <p:sldLayoutId xmlns:r="http://schemas.openxmlformats.org/officeDocument/2006/relationships" id="2147483654" r:id="Re653bdc6872d46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05835b71514666" /><Relationship Type="http://schemas.openxmlformats.org/officeDocument/2006/relationships/image" Target="/ppt/media/image.png" Id="R8adc19e010f3449c" /><Relationship Type="http://schemas.openxmlformats.org/officeDocument/2006/relationships/notesSlide" Target="/ppt/notesSlides/notesSlide1.xml" Id="R3720f213968946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64bb71fd2a47d3" /><Relationship Type="http://schemas.openxmlformats.org/officeDocument/2006/relationships/notesSlide" Target="/ppt/notesSlides/notesSlide2.xml" Id="R6f1be127b26a44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a3ace0bfc94588" /><Relationship Type="http://schemas.openxmlformats.org/officeDocument/2006/relationships/notesSlide" Target="/ppt/notesSlides/notesSlide3.xml" Id="R7d7fd1806d1346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d634fc06012485a" /><Relationship Type="http://schemas.openxmlformats.org/officeDocument/2006/relationships/notesSlide" Target="/ppt/notesSlides/notesSlide4.xml" Id="R84d1b953cd4b40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4a4535593e4eb6" /><Relationship Type="http://schemas.openxmlformats.org/officeDocument/2006/relationships/notesSlide" Target="/ppt/notesSlides/notesSlide5.xml" Id="R144f31aaee4f41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a8cff5a5474083" /><Relationship Type="http://schemas.openxmlformats.org/officeDocument/2006/relationships/notesSlide" Target="/ppt/notesSlides/notesSlide6.xml" Id="R40bab442655844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f56c526360b4f60" /><Relationship Type="http://schemas.openxmlformats.org/officeDocument/2006/relationships/notesSlide" Target="/ppt/notesSlides/notesSlide7.xml" Id="Rb420015b0a224e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407890de9684645" /><Relationship Type="http://schemas.openxmlformats.org/officeDocument/2006/relationships/notesSlide" Target="/ppt/notesSlides/notesSlide8.xml" Id="R8abddf401f864e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31ba32a4e042dc" /><Relationship Type="http://schemas.openxmlformats.org/officeDocument/2006/relationships/notesSlide" Target="/ppt/notesSlides/notesSlide9.xml" Id="R45c7fdce5e434d9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686AD5F6-C041-4884-A37C-16EE57778475}"/>
              </a:ext>
            </a:extLst>
          </p:cNvPr>
          <p:cNvPicPr>
            <a:picLocks xmlns:a="http://schemas.openxmlformats.org/drawingml/2006/main" noChangeAspect="1"/>
          </p:cNvPicPr>
          <p:nvPr/>
        </p:nvPicPr>
        <p:blipFill>
          <a:blip xmlns:r="http://schemas.openxmlformats.org/officeDocument/2006/relationships" xmlns:a="http://schemas.openxmlformats.org/drawingml/2006/main" r:embed="R8adc19e010f3449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0990A2DA-32E9-4CEC-927B-8EFBD5EAF311}"/>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00</a:t>
            </a:r>
          </a:p>
        </p:txBody>
      </p:sp>
      <p:sp>
        <p:nvSpPr>
          <p:cNvPr id="3" name="deck-title">
            <a:extLst xmlns:a="http://schemas.openxmlformats.org/drawingml/2006/main">
              <a:ext uri="{FF2B5EF4-FFF2-40B4-BE49-F238E27FC236}">
                <a16:creationId xmlns:a16="http://schemas.microsoft.com/office/drawing/2014/main" id="{B034A73B-8326-4547-930E-BDD718D42CBF}"/>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Your first Claude call</a:t>
            </a:r>
          </a:p>
        </p:txBody>
      </p:sp>
      <p:sp>
        <p:nvSpPr>
          <p:cNvPr id="4" name="text">
            <a:extLst xmlns:a="http://schemas.openxmlformats.org/drawingml/2006/main">
              <a:ext uri="{FF2B5EF4-FFF2-40B4-BE49-F238E27FC236}">
                <a16:creationId xmlns:a16="http://schemas.microsoft.com/office/drawing/2014/main" id="{31A1684B-0F9F-41A0-A659-BE2B207940F5}"/>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Workshop setup · Safe configuration · A complete RAG preview</a:t>
            </a:r>
          </a:p>
        </p:txBody>
      </p:sp>
      <p:sp>
        <p:nvSpPr>
          <p:cNvPr id="5" name="text">
            <a:extLst xmlns:a="http://schemas.openxmlformats.org/drawingml/2006/main">
              <a:ext uri="{FF2B5EF4-FFF2-40B4-BE49-F238E27FC236}">
                <a16:creationId xmlns:a16="http://schemas.microsoft.com/office/drawing/2014/main" id="{24A7DE18-1AE3-4664-A62E-64EE6B6AA949}"/>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00_setup_and_claude.ipynb</a:t>
            </a:r>
          </a:p>
        </p:txBody>
      </p:sp>
    </p:spTree>
    <p:extLst>
      <p:ext uri="{BB962C8B-B14F-4D97-AF65-F5344CB8AC3E}">
        <p14:creationId xmlns:p14="http://schemas.microsoft.com/office/powerpoint/2010/main" val="664409910"/>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A1B87218-CAE8-4DC0-8495-03740805DA8D}"/>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00</a:t>
            </a:r>
          </a:p>
        </p:txBody>
      </p:sp>
      <p:sp>
        <p:nvSpPr>
          <p:cNvPr id="2" name="slide-title">
            <a:extLst xmlns:a="http://schemas.openxmlformats.org/drawingml/2006/main">
              <a:ext uri="{FF2B5EF4-FFF2-40B4-BE49-F238E27FC236}">
                <a16:creationId xmlns:a16="http://schemas.microsoft.com/office/drawing/2014/main" id="{8B49E437-6735-4F99-B4D0-B20BDEA8DF8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RAG connects an answer to evidence</a:t>
            </a:r>
          </a:p>
        </p:txBody>
      </p:sp>
      <p:sp>
        <p:nvSpPr>
          <p:cNvPr id="3" name="lead">
            <a:extLst xmlns:a="http://schemas.openxmlformats.org/drawingml/2006/main">
              <a:ext uri="{FF2B5EF4-FFF2-40B4-BE49-F238E27FC236}">
                <a16:creationId xmlns:a16="http://schemas.microsoft.com/office/drawing/2014/main" id="{A22CDD6E-723E-4E49-BDCB-16A0753AEB6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Retrieval augmented generation finds relevant source material before asking a model to answer.</a:t>
            </a:r>
          </a:p>
        </p:txBody>
      </p:sp>
      <p:sp>
        <p:nvSpPr>
          <p:cNvPr id="4" name="text">
            <a:extLst xmlns:a="http://schemas.openxmlformats.org/drawingml/2006/main">
              <a:ext uri="{FF2B5EF4-FFF2-40B4-BE49-F238E27FC236}">
                <a16:creationId xmlns:a16="http://schemas.microsoft.com/office/drawing/2014/main" id="{5FD7011D-4DD9-4A84-ADED-798F4D94926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00  /  Your first Claude call</a:t>
            </a:r>
          </a:p>
        </p:txBody>
      </p:sp>
      <p:sp>
        <p:nvSpPr>
          <p:cNvPr id="5" name="page-number">
            <a:extLst xmlns:a="http://schemas.openxmlformats.org/drawingml/2006/main">
              <a:ext uri="{FF2B5EF4-FFF2-40B4-BE49-F238E27FC236}">
                <a16:creationId xmlns:a16="http://schemas.microsoft.com/office/drawing/2014/main" id="{DA36A647-E9E3-4FFE-87B0-EC638F559074}"/>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sp>
        <p:nvSpPr>
          <p:cNvPr id="6" name="text">
            <a:extLst xmlns:a="http://schemas.openxmlformats.org/drawingml/2006/main">
              <a:ext uri="{FF2B5EF4-FFF2-40B4-BE49-F238E27FC236}">
                <a16:creationId xmlns:a16="http://schemas.microsoft.com/office/drawing/2014/main" id="{37178898-4842-4595-A193-5193DFB1726E}"/>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Retrieval</a:t>
            </a:r>
          </a:p>
        </p:txBody>
      </p:sp>
      <p:sp>
        <p:nvSpPr>
          <p:cNvPr id="7" name="text">
            <a:extLst xmlns:a="http://schemas.openxmlformats.org/drawingml/2006/main">
              <a:ext uri="{FF2B5EF4-FFF2-40B4-BE49-F238E27FC236}">
                <a16:creationId xmlns:a16="http://schemas.microsoft.com/office/drawing/2014/main" id="{61B5C474-D4F0-4EBA-B18E-9A477AC69255}"/>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Search the fictional Northstar Analytics policies for passages related to the question.</a:t>
            </a:r>
          </a:p>
        </p:txBody>
      </p:sp>
      <p:sp>
        <p:nvSpPr>
          <p:cNvPr id="8" name="text">
            <a:extLst xmlns:a="http://schemas.openxmlformats.org/drawingml/2006/main">
              <a:ext uri="{FF2B5EF4-FFF2-40B4-BE49-F238E27FC236}">
                <a16:creationId xmlns:a16="http://schemas.microsoft.com/office/drawing/2014/main" id="{CDC3F083-7B22-4749-B6C1-C8DFF4272FAC}"/>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Augmentation</a:t>
            </a:r>
          </a:p>
        </p:txBody>
      </p:sp>
      <p:sp>
        <p:nvSpPr>
          <p:cNvPr id="9" name="text">
            <a:extLst xmlns:a="http://schemas.openxmlformats.org/drawingml/2006/main">
              <a:ext uri="{FF2B5EF4-FFF2-40B4-BE49-F238E27FC236}">
                <a16:creationId xmlns:a16="http://schemas.microsoft.com/office/drawing/2014/main" id="{E3FF3983-FF12-4B64-9491-5CD20CA8994A}"/>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Put selected passages and their source IDs into the model's prompt.</a:t>
            </a:r>
          </a:p>
        </p:txBody>
      </p:sp>
      <p:sp>
        <p:nvSpPr>
          <p:cNvPr id="10" name="text">
            <a:extLst xmlns:a="http://schemas.openxmlformats.org/drawingml/2006/main">
              <a:ext uri="{FF2B5EF4-FFF2-40B4-BE49-F238E27FC236}">
                <a16:creationId xmlns:a16="http://schemas.microsoft.com/office/drawing/2014/main" id="{310C424D-4B84-4B0E-A1B9-762EC33B8274}"/>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Generation</a:t>
            </a:r>
          </a:p>
        </p:txBody>
      </p:sp>
      <p:sp>
        <p:nvSpPr>
          <p:cNvPr id="11" name="text">
            <a:extLst xmlns:a="http://schemas.openxmlformats.org/drawingml/2006/main">
              <a:ext uri="{FF2B5EF4-FFF2-40B4-BE49-F238E27FC236}">
                <a16:creationId xmlns:a16="http://schemas.microsoft.com/office/drawing/2014/main" id="{3333879C-849B-4922-AC9A-46ECEB39C13A}"/>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Claude writes an answer; we compare each factual claim with the supplied evidence.</a:t>
            </a:r>
          </a:p>
        </p:txBody>
      </p:sp>
      <p:sp>
        <p:nvSpPr>
          <p:cNvPr id="12" name="text">
            <a:extLst xmlns:a="http://schemas.openxmlformats.org/drawingml/2006/main">
              <a:ext uri="{FF2B5EF4-FFF2-40B4-BE49-F238E27FC236}">
                <a16:creationId xmlns:a16="http://schemas.microsoft.com/office/drawing/2014/main" id="{F2CD9FDD-207B-4828-BAF8-196A3FC4848C}"/>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Today's outcome</a:t>
            </a:r>
          </a:p>
        </p:txBody>
      </p:sp>
      <p:sp>
        <p:nvSpPr>
          <p:cNvPr id="13" name="text">
            <a:extLst xmlns:a="http://schemas.openxmlformats.org/drawingml/2006/main">
              <a:ext uri="{FF2B5EF4-FFF2-40B4-BE49-F238E27FC236}">
                <a16:creationId xmlns:a16="http://schemas.microsoft.com/office/drawing/2014/main" id="{8A24259D-25BF-4F1D-99DA-D44C71E929BE}"/>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Run the environment, inspect the corpus, call Claude, and explain what the output proves.</a:t>
            </a:r>
          </a:p>
        </p:txBody>
      </p:sp>
    </p:spTree>
    <p:extLst>
      <p:ext uri="{BB962C8B-B14F-4D97-AF65-F5344CB8AC3E}">
        <p14:creationId xmlns:p14="http://schemas.microsoft.com/office/powerpoint/2010/main" val="586400795"/>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245E60A-6B4F-454C-AD3C-97DA8D73CC11}"/>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00</a:t>
            </a:r>
          </a:p>
        </p:txBody>
      </p:sp>
      <p:sp>
        <p:nvSpPr>
          <p:cNvPr id="2" name="slide-title">
            <a:extLst xmlns:a="http://schemas.openxmlformats.org/drawingml/2006/main">
              <a:ext uri="{FF2B5EF4-FFF2-40B4-BE49-F238E27FC236}">
                <a16:creationId xmlns:a16="http://schemas.microsoft.com/office/drawing/2014/main" id="{AD6C2F65-A968-464F-8E75-8E73F3395EB1}"/>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Make the notebook use the right Python</a:t>
            </a:r>
          </a:p>
        </p:txBody>
      </p:sp>
      <p:sp>
        <p:nvSpPr>
          <p:cNvPr id="3" name="lead">
            <a:extLst xmlns:a="http://schemas.openxmlformats.org/drawingml/2006/main">
              <a:ext uri="{FF2B5EF4-FFF2-40B4-BE49-F238E27FC236}">
                <a16:creationId xmlns:a16="http://schemas.microsoft.com/office/drawing/2014/main" id="{E37A02EC-5505-40BC-81C4-2AC28B2D542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package installed in one interpreter may be missing from the notebook's selected kernel.</a:t>
            </a:r>
          </a:p>
        </p:txBody>
      </p:sp>
      <p:sp>
        <p:nvSpPr>
          <p:cNvPr id="4" name="text">
            <a:extLst xmlns:a="http://schemas.openxmlformats.org/drawingml/2006/main">
              <a:ext uri="{FF2B5EF4-FFF2-40B4-BE49-F238E27FC236}">
                <a16:creationId xmlns:a16="http://schemas.microsoft.com/office/drawing/2014/main" id="{844E906A-2589-442A-B7CC-FEFC84D60FE3}"/>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00  /  Your first Claude call</a:t>
            </a:r>
          </a:p>
        </p:txBody>
      </p:sp>
      <p:sp>
        <p:nvSpPr>
          <p:cNvPr id="5" name="page-number">
            <a:extLst xmlns:a="http://schemas.openxmlformats.org/drawingml/2006/main">
              <a:ext uri="{FF2B5EF4-FFF2-40B4-BE49-F238E27FC236}">
                <a16:creationId xmlns:a16="http://schemas.microsoft.com/office/drawing/2014/main" id="{C4E79D3B-0E03-435E-82F3-A21B2AE69A4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75979844-7CEF-4C3B-AEEF-432EAA788E64}"/>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Create the environment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Create .venv in the project folder and install the workshop dependencies.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Select the kernel</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Choose Python (RAG Workshop) or the project's .venv interpreter in Jupyter or VS Code.</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Inspect the interpreter</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Run the cell that prints sys.executable, the Python version, and package versions.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Rehearse downloads</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Allow local embedding models to download before presenting the semantic-search lessons.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365158567"/>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1204B18-A915-4A94-91E0-50EE746606B5}"/>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00</a:t>
            </a:r>
          </a:p>
        </p:txBody>
      </p:sp>
      <p:sp>
        <p:nvSpPr>
          <p:cNvPr id="2" name="slide-title">
            <a:extLst xmlns:a="http://schemas.openxmlformats.org/drawingml/2006/main">
              <a:ext uri="{FF2B5EF4-FFF2-40B4-BE49-F238E27FC236}">
                <a16:creationId xmlns:a16="http://schemas.microsoft.com/office/drawing/2014/main" id="{CD12C281-EA4D-4F6D-A0A4-E474B5417FF4}"/>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Know which execution mode you are showing</a:t>
            </a:r>
          </a:p>
        </p:txBody>
      </p:sp>
      <p:sp>
        <p:nvSpPr>
          <p:cNvPr id="3" name="lead">
            <a:extLst xmlns:a="http://schemas.openxmlformats.org/drawingml/2006/main">
              <a:ext uri="{FF2B5EF4-FFF2-40B4-BE49-F238E27FC236}">
                <a16:creationId xmlns:a16="http://schemas.microsoft.com/office/drawing/2014/main" id="{374335DF-64F8-4BEA-814C-9B91FA06790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successful dry run checks the data flow; it does not demonstrate a model-generated answer.</a:t>
            </a:r>
          </a:p>
        </p:txBody>
      </p:sp>
      <p:sp>
        <p:nvSpPr>
          <p:cNvPr id="4" name="text">
            <a:extLst xmlns:a="http://schemas.openxmlformats.org/drawingml/2006/main">
              <a:ext uri="{FF2B5EF4-FFF2-40B4-BE49-F238E27FC236}">
                <a16:creationId xmlns:a16="http://schemas.microsoft.com/office/drawing/2014/main" id="{653A2028-E3D7-4771-A13E-4E979E77D30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00  /  Your first Claude call</a:t>
            </a:r>
          </a:p>
        </p:txBody>
      </p:sp>
      <p:sp>
        <p:nvSpPr>
          <p:cNvPr id="5" name="page-number">
            <a:extLst xmlns:a="http://schemas.openxmlformats.org/drawingml/2006/main">
              <a:ext uri="{FF2B5EF4-FFF2-40B4-BE49-F238E27FC236}">
                <a16:creationId xmlns:a16="http://schemas.microsoft.com/office/drawing/2014/main" id="{55CE701B-B7C0-4F12-AE0F-174C1435CBBF}"/>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graphicFrame>
        <p:nvGraphicFramePr>
          <p:cNvPr id="6" name="">
            <a:extLst xmlns:a="http://schemas.openxmlformats.org/drawingml/2006/main">
              <a:ext uri="{FF2B5EF4-FFF2-40B4-BE49-F238E27FC236}">
                <a16:creationId xmlns:a16="http://schemas.microsoft.com/office/drawing/2014/main" id="{54FE5D1A-82D1-43AA-8F9A-784C44812803}"/>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Live mode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Claude requests use the configured Anthropic key and API credits; local models may download weights.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Offline mode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RAG_OFFLINE=1 skips Claude and model downloads. Generation output is a labeled placeholder.</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Private configuration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Keep CLAUDE_KEY in .env. Display only whether it exists, never the value or settings object.</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After a configuration change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Restart the kernel so imported settings do not keep stale environment values.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715330481"/>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83D8747C-4FF6-48CE-AA81-DA11ADAB49C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00</a:t>
            </a:r>
          </a:p>
        </p:txBody>
      </p:sp>
      <p:sp>
        <p:nvSpPr>
          <p:cNvPr id="2" name="slide-title">
            <a:extLst xmlns:a="http://schemas.openxmlformats.org/drawingml/2006/main">
              <a:ext uri="{FF2B5EF4-FFF2-40B4-BE49-F238E27FC236}">
                <a16:creationId xmlns:a16="http://schemas.microsoft.com/office/drawing/2014/main" id="{C5E74040-38ED-4CDC-A735-F774CCCD2EFA}"/>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Inspect documents before asking the model</a:t>
            </a:r>
          </a:p>
        </p:txBody>
      </p:sp>
      <p:sp>
        <p:nvSpPr>
          <p:cNvPr id="3" name="lead">
            <a:extLst xmlns:a="http://schemas.openxmlformats.org/drawingml/2006/main">
              <a:ext uri="{FF2B5EF4-FFF2-40B4-BE49-F238E27FC236}">
                <a16:creationId xmlns:a16="http://schemas.microsoft.com/office/drawing/2014/main" id="{5E53BAC4-FE55-467F-856F-C7579835273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corpus is the source of truth for this exercise, so start by reading it.</a:t>
            </a:r>
          </a:p>
        </p:txBody>
      </p:sp>
      <p:sp>
        <p:nvSpPr>
          <p:cNvPr id="4" name="text">
            <a:extLst xmlns:a="http://schemas.openxmlformats.org/drawingml/2006/main">
              <a:ext uri="{FF2B5EF4-FFF2-40B4-BE49-F238E27FC236}">
                <a16:creationId xmlns:a16="http://schemas.microsoft.com/office/drawing/2014/main" id="{62DCA735-24C6-45A4-A588-6C7890D0E27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00  /  Your first Claude call</a:t>
            </a:r>
          </a:p>
        </p:txBody>
      </p:sp>
      <p:sp>
        <p:nvSpPr>
          <p:cNvPr id="5" name="page-number">
            <a:extLst xmlns:a="http://schemas.openxmlformats.org/drawingml/2006/main">
              <a:ext uri="{FF2B5EF4-FFF2-40B4-BE49-F238E27FC236}">
                <a16:creationId xmlns:a16="http://schemas.microsoft.com/office/drawing/2014/main" id="{472805E5-C2B9-4279-AC2F-7ABFA2A92F4E}"/>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sp>
        <p:nvSpPr>
          <p:cNvPr id="6" name="text">
            <a:extLst xmlns:a="http://schemas.openxmlformats.org/drawingml/2006/main">
              <a:ext uri="{FF2B5EF4-FFF2-40B4-BE49-F238E27FC236}">
                <a16:creationId xmlns:a16="http://schemas.microsoft.com/office/drawing/2014/main" id="{7E36B590-6472-468F-9516-7A6C35587DE0}"/>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ID</a:t>
            </a:r>
          </a:p>
        </p:txBody>
      </p:sp>
      <p:sp>
        <p:nvSpPr>
          <p:cNvPr id="7" name="text">
            <a:extLst xmlns:a="http://schemas.openxmlformats.org/drawingml/2006/main">
              <a:ext uri="{FF2B5EF4-FFF2-40B4-BE49-F238E27FC236}">
                <a16:creationId xmlns:a16="http://schemas.microsoft.com/office/drawing/2014/main" id="{84EFE2D7-EEE3-4988-A507-A7BF79E84788}"/>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stable label identifies the source and later connects citations to evidence.</a:t>
            </a:r>
          </a:p>
        </p:txBody>
      </p:sp>
      <p:sp>
        <p:nvSpPr>
          <p:cNvPr id="8" name="text">
            <a:extLst xmlns:a="http://schemas.openxmlformats.org/drawingml/2006/main">
              <a:ext uri="{FF2B5EF4-FFF2-40B4-BE49-F238E27FC236}">
                <a16:creationId xmlns:a16="http://schemas.microsoft.com/office/drawing/2014/main" id="{378053E6-A940-4F84-85D1-378238D5B4EB}"/>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Text</a:t>
            </a:r>
          </a:p>
        </p:txBody>
      </p:sp>
      <p:sp>
        <p:nvSpPr>
          <p:cNvPr id="9" name="text">
            <a:extLst xmlns:a="http://schemas.openxmlformats.org/drawingml/2006/main">
              <a:ext uri="{FF2B5EF4-FFF2-40B4-BE49-F238E27FC236}">
                <a16:creationId xmlns:a16="http://schemas.microsoft.com/office/drawing/2014/main" id="{0CE4FD96-728B-49A7-AED2-70C88D6B695A}"/>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policy wording contains the facts the answer must preserve, including conditions and deadlines.</a:t>
            </a:r>
          </a:p>
        </p:txBody>
      </p:sp>
      <p:sp>
        <p:nvSpPr>
          <p:cNvPr id="10" name="text">
            <a:extLst xmlns:a="http://schemas.openxmlformats.org/drawingml/2006/main">
              <a:ext uri="{FF2B5EF4-FFF2-40B4-BE49-F238E27FC236}">
                <a16:creationId xmlns:a16="http://schemas.microsoft.com/office/drawing/2014/main" id="{DA401933-83E7-4249-905F-2ADB0FC99A22}"/>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Metadata</a:t>
            </a:r>
          </a:p>
        </p:txBody>
      </p:sp>
      <p:sp>
        <p:nvSpPr>
          <p:cNvPr id="11" name="text">
            <a:extLst xmlns:a="http://schemas.openxmlformats.org/drawingml/2006/main">
              <a:ext uri="{FF2B5EF4-FFF2-40B4-BE49-F238E27FC236}">
                <a16:creationId xmlns:a16="http://schemas.microsoft.com/office/drawing/2014/main" id="{2E0FBEC4-F8B0-4089-9D7B-A137DBFB3B28}"/>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Title, source, and department help inspect, filter, and trace retrieved passages.</a:t>
            </a:r>
          </a:p>
        </p:txBody>
      </p:sp>
      <p:sp>
        <p:nvSpPr>
          <p:cNvPr id="12" name="text">
            <a:extLst xmlns:a="http://schemas.openxmlformats.org/drawingml/2006/main">
              <a:ext uri="{FF2B5EF4-FFF2-40B4-BE49-F238E27FC236}">
                <a16:creationId xmlns:a16="http://schemas.microsoft.com/office/drawing/2014/main" id="{F6C7D29C-07E9-425A-874E-5096533B7F70}"/>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Inventory</a:t>
            </a:r>
          </a:p>
        </p:txBody>
      </p:sp>
      <p:sp>
        <p:nvSpPr>
          <p:cNvPr id="13" name="text">
            <a:extLst xmlns:a="http://schemas.openxmlformats.org/drawingml/2006/main">
              <a:ext uri="{FF2B5EF4-FFF2-40B4-BE49-F238E27FC236}">
                <a16:creationId xmlns:a16="http://schemas.microsoft.com/office/drawing/2014/main" id="{4AAF2869-232B-48BE-9F0E-CF4A535E2005}"/>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notebook displays document IDs, titles, departments, and word counts before generation.</a:t>
            </a:r>
          </a:p>
        </p:txBody>
      </p:sp>
    </p:spTree>
    <p:extLst>
      <p:ext uri="{BB962C8B-B14F-4D97-AF65-F5344CB8AC3E}">
        <p14:creationId xmlns:p14="http://schemas.microsoft.com/office/powerpoint/2010/main" val="152928997"/>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2CA56AC1-5469-4002-B10C-8A48D4C9CC1D}"/>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00</a:t>
            </a:r>
          </a:p>
        </p:txBody>
      </p:sp>
      <p:sp>
        <p:nvSpPr>
          <p:cNvPr id="2" name="slide-title">
            <a:extLst xmlns:a="http://schemas.openxmlformats.org/drawingml/2006/main">
              <a:ext uri="{FF2B5EF4-FFF2-40B4-BE49-F238E27FC236}">
                <a16:creationId xmlns:a16="http://schemas.microsoft.com/office/drawing/2014/main" id="{B56B70D8-1302-4747-877E-A9F10A35F60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Read the result of a small Claude call</a:t>
            </a:r>
          </a:p>
        </p:txBody>
      </p:sp>
      <p:sp>
        <p:nvSpPr>
          <p:cNvPr id="3" name="lead">
            <a:extLst xmlns:a="http://schemas.openxmlformats.org/drawingml/2006/main">
              <a:ext uri="{FF2B5EF4-FFF2-40B4-BE49-F238E27FC236}">
                <a16:creationId xmlns:a16="http://schemas.microsoft.com/office/drawing/2014/main" id="{BC651A41-2E3B-4BEA-B348-43D0CC81A21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first request asks Claude to explain RAG in two short sentences.</a:t>
            </a:r>
          </a:p>
        </p:txBody>
      </p:sp>
      <p:sp>
        <p:nvSpPr>
          <p:cNvPr id="4" name="text">
            <a:extLst xmlns:a="http://schemas.openxmlformats.org/drawingml/2006/main">
              <a:ext uri="{FF2B5EF4-FFF2-40B4-BE49-F238E27FC236}">
                <a16:creationId xmlns:a16="http://schemas.microsoft.com/office/drawing/2014/main" id="{4A7030C0-8C31-4B9F-A68E-0DEC30D4BE5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00  /  Your first Claude call</a:t>
            </a:r>
          </a:p>
        </p:txBody>
      </p:sp>
      <p:sp>
        <p:nvSpPr>
          <p:cNvPr id="5" name="page-number">
            <a:extLst xmlns:a="http://schemas.openxmlformats.org/drawingml/2006/main">
              <a:ext uri="{FF2B5EF4-FFF2-40B4-BE49-F238E27FC236}">
                <a16:creationId xmlns:a16="http://schemas.microsoft.com/office/drawing/2014/main" id="{B08C7A02-F283-4A24-A8AB-94118F2AB01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E718487E-39EB-4D62-BBCE-2658A4E69EFD}"/>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System message</a:t>
            </a:r>
          </a:p>
        </p:txBody>
      </p:sp>
      <p:sp>
        <p:nvSpPr>
          <p:cNvPr id="7" name="text">
            <a:extLst xmlns:a="http://schemas.openxmlformats.org/drawingml/2006/main">
              <a:ext uri="{FF2B5EF4-FFF2-40B4-BE49-F238E27FC236}">
                <a16:creationId xmlns:a16="http://schemas.microsoft.com/office/drawing/2014/main" id="{8382FE04-DAF3-4B2D-9324-FB42751645BB}"/>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Sets the teaching role: patient, concise, and written in plain language.</a:t>
            </a:r>
          </a:p>
        </p:txBody>
      </p:sp>
      <p:sp>
        <p:nvSpPr>
          <p:cNvPr id="8" name="text">
            <a:extLst xmlns:a="http://schemas.openxmlformats.org/drawingml/2006/main">
              <a:ext uri="{FF2B5EF4-FFF2-40B4-BE49-F238E27FC236}">
                <a16:creationId xmlns:a16="http://schemas.microsoft.com/office/drawing/2014/main" id="{F0A93D14-7BD7-496F-99C8-374AC29DFCDE}"/>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User message</a:t>
            </a:r>
          </a:p>
        </p:txBody>
      </p:sp>
      <p:sp>
        <p:nvSpPr>
          <p:cNvPr id="9" name="text">
            <a:extLst xmlns:a="http://schemas.openxmlformats.org/drawingml/2006/main">
              <a:ext uri="{FF2B5EF4-FFF2-40B4-BE49-F238E27FC236}">
                <a16:creationId xmlns:a16="http://schemas.microsoft.com/office/drawing/2014/main" id="{8C55A16F-FC4B-43CE-ADA7-42B2AF894205}"/>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States the task: explain retrieval augmented generation to a Python beginner.</a:t>
            </a:r>
          </a:p>
        </p:txBody>
      </p:sp>
      <p:sp>
        <p:nvSpPr>
          <p:cNvPr id="10" name="text">
            <a:extLst xmlns:a="http://schemas.openxmlformats.org/drawingml/2006/main">
              <a:ext uri="{FF2B5EF4-FFF2-40B4-BE49-F238E27FC236}">
                <a16:creationId xmlns:a16="http://schemas.microsoft.com/office/drawing/2014/main" id="{8376CAC0-E997-4487-BD5E-30E4291404D3}"/>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max_tokens = 160</a:t>
            </a:r>
          </a:p>
        </p:txBody>
      </p:sp>
      <p:sp>
        <p:nvSpPr>
          <p:cNvPr id="11" name="text">
            <a:extLst xmlns:a="http://schemas.openxmlformats.org/drawingml/2006/main">
              <a:ext uri="{FF2B5EF4-FFF2-40B4-BE49-F238E27FC236}">
                <a16:creationId xmlns:a16="http://schemas.microsoft.com/office/drawing/2014/main" id="{2DC7ACFE-0404-4452-B3D1-32D98CC046B3}"/>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Caps generated output tokens. It does not set the input-context length.</a:t>
            </a:r>
          </a:p>
        </p:txBody>
      </p:sp>
      <p:sp>
        <p:nvSpPr>
          <p:cNvPr id="12" name="text">
            <a:extLst xmlns:a="http://schemas.openxmlformats.org/drawingml/2006/main">
              <a:ext uri="{FF2B5EF4-FFF2-40B4-BE49-F238E27FC236}">
                <a16:creationId xmlns:a16="http://schemas.microsoft.com/office/drawing/2014/main" id="{34BEC774-9BE1-42D2-9182-0F33FCD5DD6A}"/>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Inspect the response</a:t>
            </a:r>
          </a:p>
        </p:txBody>
      </p:sp>
      <p:sp>
        <p:nvSpPr>
          <p:cNvPr id="13" name="text">
            <a:extLst xmlns:a="http://schemas.openxmlformats.org/drawingml/2006/main">
              <a:ext uri="{FF2B5EF4-FFF2-40B4-BE49-F238E27FC236}">
                <a16:creationId xmlns:a16="http://schemas.microsoft.com/office/drawing/2014/main" id="{F8C240CF-BFA8-41A8-B1A7-18D62E33DF79}"/>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Read text, input/output token counts, latency, cache status, offline status, and stop reason.</a:t>
            </a:r>
          </a:p>
        </p:txBody>
      </p:sp>
    </p:spTree>
    <p:extLst>
      <p:ext uri="{BB962C8B-B14F-4D97-AF65-F5344CB8AC3E}">
        <p14:creationId xmlns:p14="http://schemas.microsoft.com/office/powerpoint/2010/main" val="2011672743"/>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F9D81DB-192F-4A23-80DC-DECD71C6E8F9}"/>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00</a:t>
            </a:r>
          </a:p>
        </p:txBody>
      </p:sp>
      <p:sp>
        <p:nvSpPr>
          <p:cNvPr id="2" name="slide-title">
            <a:extLst xmlns:a="http://schemas.openxmlformats.org/drawingml/2006/main">
              <a:ext uri="{FF2B5EF4-FFF2-40B4-BE49-F238E27FC236}">
                <a16:creationId xmlns:a16="http://schemas.microsoft.com/office/drawing/2014/main" id="{01F91B43-7E55-4BA5-8589-4121009781E0}"/>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Preview the whole retrieval-to-answer path</a:t>
            </a:r>
          </a:p>
        </p:txBody>
      </p:sp>
      <p:sp>
        <p:nvSpPr>
          <p:cNvPr id="3" name="lead">
            <a:extLst xmlns:a="http://schemas.openxmlformats.org/drawingml/2006/main">
              <a:ext uri="{FF2B5EF4-FFF2-40B4-BE49-F238E27FC236}">
                <a16:creationId xmlns:a16="http://schemas.microsoft.com/office/drawing/2014/main" id="{79A1687D-DD82-46CF-87B9-857C0A9F77A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first full RAG example uses local TF-IDF search, so retrieval needs no embedding-model download.</a:t>
            </a:r>
          </a:p>
        </p:txBody>
      </p:sp>
      <p:sp>
        <p:nvSpPr>
          <p:cNvPr id="4" name="text">
            <a:extLst xmlns:a="http://schemas.openxmlformats.org/drawingml/2006/main">
              <a:ext uri="{FF2B5EF4-FFF2-40B4-BE49-F238E27FC236}">
                <a16:creationId xmlns:a16="http://schemas.microsoft.com/office/drawing/2014/main" id="{F8A06547-77C7-4557-9966-B2C60B915F7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00  /  Your first Claude call</a:t>
            </a:r>
          </a:p>
        </p:txBody>
      </p:sp>
      <p:sp>
        <p:nvSpPr>
          <p:cNvPr id="5" name="page-number">
            <a:extLst xmlns:a="http://schemas.openxmlformats.org/drawingml/2006/main">
              <a:ext uri="{FF2B5EF4-FFF2-40B4-BE49-F238E27FC236}">
                <a16:creationId xmlns:a16="http://schemas.microsoft.com/office/drawing/2014/main" id="{EC8A6B4B-7B91-49DA-BB18-EE5F97500ABC}"/>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graphicFrame>
        <p:nvGraphicFramePr>
          <p:cNvPr id="6" name="">
            <a:extLst xmlns:a="http://schemas.openxmlformats.org/drawingml/2006/main">
              <a:ext uri="{FF2B5EF4-FFF2-40B4-BE49-F238E27FC236}">
                <a16:creationId xmlns:a16="http://schemas.microsoft.com/office/drawing/2014/main" id="{9A0134F5-62D3-4C62-BC71-6D1A979047EE}"/>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Prepare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Load documents and create 90-word chunks with 20-word overlap.</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Retrieve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Build a TF-IDF index and select three hits for the annual paid-leave question.</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Inspect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Read the passages and check whether they actually contain the requested allowance.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Answer and verify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Send evidence to Claude, then compare the answer and citations with the selected sources.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204676209"/>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6681AECD-6D31-4AF3-B029-6E70390E8D1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00</a:t>
            </a:r>
          </a:p>
        </p:txBody>
      </p:sp>
      <p:sp>
        <p:nvSpPr>
          <p:cNvPr id="2" name="slide-title">
            <a:extLst xmlns:a="http://schemas.openxmlformats.org/drawingml/2006/main">
              <a:ext uri="{FF2B5EF4-FFF2-40B4-BE49-F238E27FC236}">
                <a16:creationId xmlns:a16="http://schemas.microsoft.com/office/drawing/2014/main" id="{AC39AC9A-F8E3-4313-BA43-C0F01D7E9FD6}"/>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observe before changing anything</a:t>
            </a:r>
          </a:p>
        </p:txBody>
      </p:sp>
      <p:sp>
        <p:nvSpPr>
          <p:cNvPr id="3" name="lead">
            <a:extLst xmlns:a="http://schemas.openxmlformats.org/drawingml/2006/main">
              <a:ext uri="{FF2B5EF4-FFF2-40B4-BE49-F238E27FC236}">
                <a16:creationId xmlns:a16="http://schemas.microsoft.com/office/drawing/2014/main" id="{F22BA3C9-6C97-4C2A-9A8E-C0ECBBA4115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Run one cell at a time and explain each visible output before moving on.</a:t>
            </a:r>
          </a:p>
        </p:txBody>
      </p:sp>
      <p:sp>
        <p:nvSpPr>
          <p:cNvPr id="4" name="text">
            <a:extLst xmlns:a="http://schemas.openxmlformats.org/drawingml/2006/main">
              <a:ext uri="{FF2B5EF4-FFF2-40B4-BE49-F238E27FC236}">
                <a16:creationId xmlns:a16="http://schemas.microsoft.com/office/drawing/2014/main" id="{0BE6EA1A-D08F-4B8D-923B-12392C2933D5}"/>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00  /  Your first Claude call</a:t>
            </a:r>
          </a:p>
        </p:txBody>
      </p:sp>
      <p:sp>
        <p:nvSpPr>
          <p:cNvPr id="5" name="page-number">
            <a:extLst xmlns:a="http://schemas.openxmlformats.org/drawingml/2006/main">
              <a:ext uri="{FF2B5EF4-FFF2-40B4-BE49-F238E27FC236}">
                <a16:creationId xmlns:a16="http://schemas.microsoft.com/office/drawing/2014/main" id="{67D1B1B9-E44E-4A86-AD38-A143E8F3056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90D4D0B8-2B0D-4F84-A0AD-3CD79E369950}"/>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CFDF22F2-21A9-43D7-9B55-ED8110A62A91}"/>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Start with setup</a:t>
            </a:r>
          </a:p>
        </p:txBody>
      </p:sp>
      <p:sp>
        <p:nvSpPr>
          <p:cNvPr id="8" name="text">
            <a:extLst xmlns:a="http://schemas.openxmlformats.org/drawingml/2006/main">
              <a:ext uri="{FF2B5EF4-FFF2-40B4-BE49-F238E27FC236}">
                <a16:creationId xmlns:a16="http://schemas.microsoft.com/office/drawing/2014/main" id="{F0289D77-297E-4D8E-AA2A-8BD93E90F556}"/>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Sections 1–3: verify the interpreter, execution mode, model name, and key-presence boolean.</a:t>
            </a:r>
          </a:p>
        </p:txBody>
      </p:sp>
      <p:sp>
        <p:nvSpPr>
          <p:cNvPr id="9" name="text">
            <a:extLst xmlns:a="http://schemas.openxmlformats.org/drawingml/2006/main">
              <a:ext uri="{FF2B5EF4-FFF2-40B4-BE49-F238E27FC236}">
                <a16:creationId xmlns:a16="http://schemas.microsoft.com/office/drawing/2014/main" id="{AD1D1A01-6529-4CF0-8978-EE0FDDED74CA}"/>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B2C07420-3B2E-4B98-9189-70569382E365}"/>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Show the source</a:t>
            </a:r>
          </a:p>
        </p:txBody>
      </p:sp>
      <p:sp>
        <p:nvSpPr>
          <p:cNvPr id="11" name="text">
            <a:extLst xmlns:a="http://schemas.openxmlformats.org/drawingml/2006/main">
              <a:ext uri="{FF2B5EF4-FFF2-40B4-BE49-F238E27FC236}">
                <a16:creationId xmlns:a16="http://schemas.microsoft.com/office/drawing/2014/main" id="{715E6047-5DD2-4CDE-A5E3-06DEAB0103A3}"/>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 4: inspect the document inventory and one complete policy.</a:t>
            </a:r>
          </a:p>
        </p:txBody>
      </p:sp>
      <p:sp>
        <p:nvSpPr>
          <p:cNvPr id="12" name="text">
            <a:extLst xmlns:a="http://schemas.openxmlformats.org/drawingml/2006/main">
              <a:ext uri="{FF2B5EF4-FFF2-40B4-BE49-F238E27FC236}">
                <a16:creationId xmlns:a16="http://schemas.microsoft.com/office/drawing/2014/main" id="{9184E1C6-FE51-4A78-9ADD-15E1CBFA11B2}"/>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99F01AF7-27E9-471B-8C25-DB3CB46D977A}"/>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Make one small call</a:t>
            </a:r>
          </a:p>
        </p:txBody>
      </p:sp>
      <p:sp>
        <p:nvSpPr>
          <p:cNvPr id="14" name="text">
            <a:extLst xmlns:a="http://schemas.openxmlformats.org/drawingml/2006/main">
              <a:ext uri="{FF2B5EF4-FFF2-40B4-BE49-F238E27FC236}">
                <a16:creationId xmlns:a16="http://schemas.microsoft.com/office/drawing/2014/main" id="{F57EEC2F-9683-4572-8D6B-70E25FFC3906}"/>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 5: distinguish response text, token usage, latency, and cache/offline flags.</a:t>
            </a:r>
          </a:p>
        </p:txBody>
      </p:sp>
      <p:sp>
        <p:nvSpPr>
          <p:cNvPr id="15" name="text">
            <a:extLst xmlns:a="http://schemas.openxmlformats.org/drawingml/2006/main">
              <a:ext uri="{FF2B5EF4-FFF2-40B4-BE49-F238E27FC236}">
                <a16:creationId xmlns:a16="http://schemas.microsoft.com/office/drawing/2014/main" id="{17033E95-8DCB-45E4-8439-85CBAC0ECF9C}"/>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BCCFBEF4-481D-4125-A3D1-0E4B2DE3E8C0}"/>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Complete the preview</a:t>
            </a:r>
          </a:p>
        </p:txBody>
      </p:sp>
      <p:sp>
        <p:nvSpPr>
          <p:cNvPr id="17" name="text">
            <a:extLst xmlns:a="http://schemas.openxmlformats.org/drawingml/2006/main">
              <a:ext uri="{FF2B5EF4-FFF2-40B4-BE49-F238E27FC236}">
                <a16:creationId xmlns:a16="http://schemas.microsoft.com/office/drawing/2014/main" id="{6B9813C1-FC8F-4360-A7A3-B84F1DFE755F}"/>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 8: inspect three retrieved passages, then check the generated answer against them.</a:t>
            </a:r>
          </a:p>
        </p:txBody>
      </p:sp>
    </p:spTree>
    <p:extLst>
      <p:ext uri="{BB962C8B-B14F-4D97-AF65-F5344CB8AC3E}">
        <p14:creationId xmlns:p14="http://schemas.microsoft.com/office/powerpoint/2010/main" val="1207566063"/>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A8AD9FD0-13A5-4879-969E-E9417F760C6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00</a:t>
            </a:r>
          </a:p>
        </p:txBody>
      </p:sp>
      <p:sp>
        <p:nvSpPr>
          <p:cNvPr id="2" name="slide-title">
            <a:extLst xmlns:a="http://schemas.openxmlformats.org/drawingml/2006/main">
              <a:ext uri="{FF2B5EF4-FFF2-40B4-BE49-F238E27FC236}">
                <a16:creationId xmlns:a16="http://schemas.microsoft.com/office/drawing/2014/main" id="{E9E2452E-2312-4BD5-A3DF-6FC616C966A1}"/>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Change the question and test an evidence gap</a:t>
            </a:r>
          </a:p>
        </p:txBody>
      </p:sp>
      <p:sp>
        <p:nvSpPr>
          <p:cNvPr id="3" name="lead">
            <a:extLst xmlns:a="http://schemas.openxmlformats.org/drawingml/2006/main">
              <a:ext uri="{FF2B5EF4-FFF2-40B4-BE49-F238E27FC236}">
                <a16:creationId xmlns:a16="http://schemas.microsoft.com/office/drawing/2014/main" id="{CC82BBF2-7826-4B7B-B391-F646FB5F7CA3}"/>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Retrieval can return nearby documents even when the requested fact does not exist.</a:t>
            </a:r>
          </a:p>
        </p:txBody>
      </p:sp>
      <p:sp>
        <p:nvSpPr>
          <p:cNvPr id="4" name="text">
            <a:extLst xmlns:a="http://schemas.openxmlformats.org/drawingml/2006/main">
              <a:ext uri="{FF2B5EF4-FFF2-40B4-BE49-F238E27FC236}">
                <a16:creationId xmlns:a16="http://schemas.microsoft.com/office/drawing/2014/main" id="{A7920F25-1BB4-470F-8C48-0F60D03DF7E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00  /  Your first Claude call</a:t>
            </a:r>
          </a:p>
        </p:txBody>
      </p:sp>
      <p:sp>
        <p:nvSpPr>
          <p:cNvPr id="5" name="page-number">
            <a:extLst xmlns:a="http://schemas.openxmlformats.org/drawingml/2006/main">
              <a:ext uri="{FF2B5EF4-FFF2-40B4-BE49-F238E27FC236}">
                <a16:creationId xmlns:a16="http://schemas.microsoft.com/office/drawing/2014/main" id="{6B9318EE-FC2A-4AB6-A094-77067D0A424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169BE862-B4F7-4D8C-9909-24C429DC88F0}"/>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Supported question</a:t>
            </a:r>
          </a:p>
        </p:txBody>
      </p:sp>
      <p:sp>
        <p:nvSpPr>
          <p:cNvPr id="7" name="text">
            <a:extLst xmlns:a="http://schemas.openxmlformats.org/drawingml/2006/main">
              <a:ext uri="{FF2B5EF4-FFF2-40B4-BE49-F238E27FC236}">
                <a16:creationId xmlns:a16="http://schemas.microsoft.com/office/drawing/2014/main" id="{F258D259-62F8-48F1-A9AC-A25EF2FD9958}"/>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Ask how many unused leave days can carry forward and what deadline applies.</a:t>
            </a:r>
          </a:p>
        </p:txBody>
      </p:sp>
      <p:sp>
        <p:nvSpPr>
          <p:cNvPr id="8" name="text">
            <a:extLst xmlns:a="http://schemas.openxmlformats.org/drawingml/2006/main">
              <a:ext uri="{FF2B5EF4-FFF2-40B4-BE49-F238E27FC236}">
                <a16:creationId xmlns:a16="http://schemas.microsoft.com/office/drawing/2014/main" id="{40B76DE8-C5E5-43CA-B720-5A5CF9C9AA63}"/>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evidence</a:t>
            </a:r>
          </a:p>
        </p:txBody>
      </p:sp>
      <p:sp>
        <p:nvSpPr>
          <p:cNvPr id="9" name="text">
            <a:extLst xmlns:a="http://schemas.openxmlformats.org/drawingml/2006/main">
              <a:ext uri="{FF2B5EF4-FFF2-40B4-BE49-F238E27FC236}">
                <a16:creationId xmlns:a16="http://schemas.microsoft.com/office/drawing/2014/main" id="{70B5D202-8A65-431D-BD01-1E6AE339111A}"/>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Up to 5 days, usable through March 31. Locate both facts in the benefits source.</a:t>
            </a:r>
          </a:p>
        </p:txBody>
      </p:sp>
      <p:sp>
        <p:nvSpPr>
          <p:cNvPr id="10" name="text">
            <a:extLst xmlns:a="http://schemas.openxmlformats.org/drawingml/2006/main">
              <a:ext uri="{FF2B5EF4-FFF2-40B4-BE49-F238E27FC236}">
                <a16:creationId xmlns:a16="http://schemas.microsoft.com/office/drawing/2014/main" id="{26F889D7-BEB3-452D-B224-FD14D12B4BD7}"/>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Unsupported question</a:t>
            </a:r>
          </a:p>
        </p:txBody>
      </p:sp>
      <p:sp>
        <p:nvSpPr>
          <p:cNvPr id="11" name="text">
            <a:extLst xmlns:a="http://schemas.openxmlformats.org/drawingml/2006/main">
              <a:ext uri="{FF2B5EF4-FFF2-40B4-BE49-F238E27FC236}">
                <a16:creationId xmlns:a16="http://schemas.microsoft.com/office/drawing/2014/main" id="{3C9CDCBC-9EE7-4300-AE9B-910017ADF72E}"/>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Ask for the CEO's home address. The corpus does not contain that information.</a:t>
            </a:r>
          </a:p>
        </p:txBody>
      </p:sp>
      <p:sp>
        <p:nvSpPr>
          <p:cNvPr id="12" name="text">
            <a:extLst xmlns:a="http://schemas.openxmlformats.org/drawingml/2006/main">
              <a:ext uri="{FF2B5EF4-FFF2-40B4-BE49-F238E27FC236}">
                <a16:creationId xmlns:a16="http://schemas.microsoft.com/office/drawing/2014/main" id="{077ADD9C-B936-4D5E-AB22-EB51AC4D2F4D}"/>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Explain the result</a:t>
            </a:r>
          </a:p>
        </p:txBody>
      </p:sp>
      <p:sp>
        <p:nvSpPr>
          <p:cNvPr id="13" name="text">
            <a:extLst xmlns:a="http://schemas.openxmlformats.org/drawingml/2006/main">
              <a:ext uri="{FF2B5EF4-FFF2-40B4-BE49-F238E27FC236}">
                <a16:creationId xmlns:a16="http://schemas.microsoft.com/office/drawing/2014/main" id="{44494175-AF91-4B39-9AD0-6164C18FE146}"/>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Nearest means similar under the retriever; it does not mean sufficient evidence for an answer.</a:t>
            </a:r>
          </a:p>
        </p:txBody>
      </p:sp>
    </p:spTree>
    <p:extLst>
      <p:ext uri="{BB962C8B-B14F-4D97-AF65-F5344CB8AC3E}">
        <p14:creationId xmlns:p14="http://schemas.microsoft.com/office/powerpoint/2010/main" val="1436907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2026-10-11T09:49:05.5840000Z</dcterms:created>
  <dcterms:modified xsi:type="dcterms:W3CDTF">2026-10-11T09:49:05.5840000Z</dcterms:modified>
</coreProperties>
</file>