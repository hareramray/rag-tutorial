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5aae34ebfd4119" /><Relationship Type="http://schemas.openxmlformats.org/officeDocument/2006/relationships/extended-properties" Target="/docProps/app.xml" Id="Ra8d1d41c93f44130" /><Relationship Type="http://schemas.openxmlformats.org/officeDocument/2006/relationships/officeDocument" Target="/ppt/presentation.xml" Id="Ra06ceb62a83946a2" /></Relationships>
</file>

<file path=ppt/presentation.xml><?xml version="1.0" encoding="utf-8"?>
<p:presentation xmlns:p="http://schemas.openxmlformats.org/presentationml/2006/main">
  <p:sldMasterIdLst>
    <p:sldMasterId xmlns:r="http://schemas.openxmlformats.org/officeDocument/2006/relationships" id="2147483648" r:id="Rd8c38cedfd91485c"/>
  </p:sldMasterIdLst>
  <p:notesMasterIdLst>
    <p:notesMasterId xmlns:r="http://schemas.openxmlformats.org/officeDocument/2006/relationships" r:id="R815815e53b964cc9"/>
  </p:notesMasterIdLst>
  <p:sldIdLst>
    <p:sldId xmlns:r="http://schemas.openxmlformats.org/officeDocument/2006/relationships" id="256" r:id="Rdd5a04627a3047f6"/>
    <p:sldId xmlns:r="http://schemas.openxmlformats.org/officeDocument/2006/relationships" id="257" r:id="R3ae1aa8d58464437"/>
    <p:sldId xmlns:r="http://schemas.openxmlformats.org/officeDocument/2006/relationships" id="258" r:id="R952e6eea24de495d"/>
    <p:sldId xmlns:r="http://schemas.openxmlformats.org/officeDocument/2006/relationships" id="259" r:id="R2f055779acb44647"/>
    <p:sldId xmlns:r="http://schemas.openxmlformats.org/officeDocument/2006/relationships" id="260" r:id="R3b3a31208f29477a"/>
    <p:sldId xmlns:r="http://schemas.openxmlformats.org/officeDocument/2006/relationships" id="261" r:id="R30d111e3c6a04c28"/>
    <p:sldId xmlns:r="http://schemas.openxmlformats.org/officeDocument/2006/relationships" id="262" r:id="R92a0280bb26f40e1"/>
    <p:sldId xmlns:r="http://schemas.openxmlformats.org/officeDocument/2006/relationships" id="263" r:id="R359ca5eb3fef4d9a"/>
    <p:sldId xmlns:r="http://schemas.openxmlformats.org/officeDocument/2006/relationships" id="264" r:id="Ra322fd4d067043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a0e2ab8e5341c0" /><Relationship Type="http://schemas.openxmlformats.org/officeDocument/2006/relationships/slideMaster" Target="/ppt/slideMasters/slideMaster1.xml" Id="Rd8c38cedfd91485c" /><Relationship Type="http://schemas.openxmlformats.org/officeDocument/2006/relationships/notesMaster" Target="/ppt/notesMasters/notesMaster1.xml" Id="R815815e53b964cc9" /><Relationship Type="http://schemas.openxmlformats.org/officeDocument/2006/relationships/presProps" Target="/ppt/presProps.xml" Id="Rc6b7c8488f4c4d17" /><Relationship Type="http://schemas.openxmlformats.org/officeDocument/2006/relationships/tableStyles" Target="/ppt/tableStyles.xml" Id="Rc5192bf4336c4551" /><Relationship Type="http://schemas.openxmlformats.org/officeDocument/2006/relationships/slide" Target="/ppt/slides/slide1.xml" Id="Rdd5a04627a3047f6" /><Relationship Type="http://schemas.openxmlformats.org/officeDocument/2006/relationships/slide" Target="/ppt/slides/slide2.xml" Id="R3ae1aa8d58464437" /><Relationship Type="http://schemas.openxmlformats.org/officeDocument/2006/relationships/slide" Target="/ppt/slides/slide3.xml" Id="R952e6eea24de495d" /><Relationship Type="http://schemas.openxmlformats.org/officeDocument/2006/relationships/slide" Target="/ppt/slides/slide4.xml" Id="R2f055779acb44647" /><Relationship Type="http://schemas.openxmlformats.org/officeDocument/2006/relationships/slide" Target="/ppt/slides/slide5.xml" Id="R3b3a31208f29477a" /><Relationship Type="http://schemas.openxmlformats.org/officeDocument/2006/relationships/slide" Target="/ppt/slides/slide6.xml" Id="R30d111e3c6a04c28" /><Relationship Type="http://schemas.openxmlformats.org/officeDocument/2006/relationships/slide" Target="/ppt/slides/slide7.xml" Id="R92a0280bb26f40e1" /><Relationship Type="http://schemas.openxmlformats.org/officeDocument/2006/relationships/slide" Target="/ppt/slides/slide8.xml" Id="R359ca5eb3fef4d9a" /><Relationship Type="http://schemas.openxmlformats.org/officeDocument/2006/relationships/slide" Target="/ppt/slides/slide9.xml" Id="Ra322fd4d067043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f4e6f67e8040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8ac34340414587" /><Relationship Type="http://schemas.openxmlformats.org/officeDocument/2006/relationships/notesMaster" Target="/ppt/notesMasters/notesMaster1.xml" Id="Rfe002cc76d7240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0ab5e5ebb644bf" /><Relationship Type="http://schemas.openxmlformats.org/officeDocument/2006/relationships/notesMaster" Target="/ppt/notesMasters/notesMaster1.xml" Id="Rf5d75dffa33642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8f26d09f364822" /><Relationship Type="http://schemas.openxmlformats.org/officeDocument/2006/relationships/notesMaster" Target="/ppt/notesMasters/notesMaster1.xml" Id="R67c757b451bf4f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9c26941865421e" /><Relationship Type="http://schemas.openxmlformats.org/officeDocument/2006/relationships/notesMaster" Target="/ppt/notesMasters/notesMaster1.xml" Id="Rfd56807c9e1b43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fa3cc6acf94387" /><Relationship Type="http://schemas.openxmlformats.org/officeDocument/2006/relationships/notesMaster" Target="/ppt/notesMasters/notesMaster1.xml" Id="R66255143c81b49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511177b85f4669" /><Relationship Type="http://schemas.openxmlformats.org/officeDocument/2006/relationships/notesMaster" Target="/ppt/notesMasters/notesMaster1.xml" Id="Rfe4808894a9b49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b0f842cbfb48dc" /><Relationship Type="http://schemas.openxmlformats.org/officeDocument/2006/relationships/notesMaster" Target="/ppt/notesMasters/notesMaster1.xml" Id="R04ba79ee07e242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7672a3a9ce41c2" /><Relationship Type="http://schemas.openxmlformats.org/officeDocument/2006/relationships/notesMaster" Target="/ppt/notesMasters/notesMaster1.xml" Id="R397904a3782c4d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ba2c29d7f44811" /><Relationship Type="http://schemas.openxmlformats.org/officeDocument/2006/relationships/notesMaster" Target="/ppt/notesMasters/notesMaster1.xml" Id="R78bebc6de2d04d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notebooks/03_embeddings_and_semantic_search.ipynb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notebooks/03_embeddings_and_semantic_search.ipynb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section 3 before discussing the mathematics. Both indexes receive the same 90-word chunks with 20-word overlap, which makes the comparison interpretable. Sentence Transformers computes embeddings locally; Claude remains the generator and does not supply these vectors. The first live run downloads the configured model. Read the printed backend label and never describe offline lexical results as learned semantic search. Use the contrast between a paraphrase such as time off and a literal technical term such as Retry-After to motivate testing both methods.</a:t>
            </a:r>
          </a:p>
          <a:p xmlns:a="http://schemas.openxmlformats.org/drawingml/2006/main">
            <a:r>
              <a:t/>
            </a:r>
          </a:p>
          <a:p xmlns:a="http://schemas.openxmlformats.org/drawingml/2006/main">
            <a:r>
              <a:t>NOTEBOOK: notebooks/03_embeddings_and_semantic_search.ipynb</a:t>
            </a:r>
          </a:p>
          <a:p xmlns:a="http://schemas.openxmlformats.org/drawingml/2006/main">
            <a:r>
              <a:t/>
            </a:r>
          </a:p>
          <a:p xmlns:a="http://schemas.openxmlformats.org/drawingml/2006/main">
            <a:r>
              <a:t>SOURCES</a:t>
            </a:r>
          </a:p>
          <a:p xmlns:a="http://schemas.openxmlformats.org/drawingml/2006/main">
            <a:r>
              <a:t>notebooks/03_embeddings_and_semantic_search.ipynb — introduction and sections 3 and 5</a:t>
            </a:r>
          </a:p>
          <a:p xmlns:a="http://schemas.openxmlformats.org/drawingml/2006/main">
            <a:r>
              <a:t>https://www.sbert.net/docs/package_reference/sentence_transformer/model.html</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1 uses two named coordinates only as a teaching analogy. Real embedding dimensions generally do not each correspond to a human concept such as leave or API limits. In sections 3 and 4, show the actual matrix shape and map one row back to its chunk ID. Explain that equal dimensions do not make embeddings from different models compatible; changing the model requires rebuilding the index. Section 8 completes the connection by sending retrieved text to Claude. The vector is a retrieval representation, not independent factual evidence.</a:t>
            </a:r>
          </a:p>
          <a:p xmlns:a="http://schemas.openxmlformats.org/drawingml/2006/main">
            <a:r>
              <a:t/>
            </a:r>
          </a:p>
          <a:p xmlns:a="http://schemas.openxmlformats.org/drawingml/2006/main">
            <a:r>
              <a:t>NOTEBOOK: notebooks/03_embeddings_and_semantic_search.ipynb</a:t>
            </a:r>
          </a:p>
          <a:p xmlns:a="http://schemas.openxmlformats.org/drawingml/2006/main">
            <a:r>
              <a:t/>
            </a:r>
          </a:p>
          <a:p xmlns:a="http://schemas.openxmlformats.org/drawingml/2006/main">
            <a:r>
              <a:t>SOURCES</a:t>
            </a:r>
          </a:p>
          <a:p xmlns:a="http://schemas.openxmlformats.org/drawingml/2006/main">
            <a:r>
              <a:t>notebooks/03_embeddings_and_semantic_search.ipynb — sections 1, 3, 4 and 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sections 1 and 2 and show the toy table and direction plot. The first two vectors have different magnitudes yet point in similar directions, so both are close to the leave query under cosine. Their values are hand-designed examples, not outputs from a semantic model. Explain the normalization step in unit_rows and the assertion that normalized row norms are one. A zero vector has no direction and needs explicit behavior. Later, the reusable search exercise returns no hits for a zero query rather than arbitrary zero-score neighbors.</a:t>
            </a:r>
          </a:p>
          <a:p xmlns:a="http://schemas.openxmlformats.org/drawingml/2006/main">
            <a:r>
              <a:t/>
            </a:r>
          </a:p>
          <a:p xmlns:a="http://schemas.openxmlformats.org/drawingml/2006/main">
            <a:r>
              <a:t>NOTEBOOK: notebooks/03_embeddings_and_semantic_search.ipynb</a:t>
            </a:r>
          </a:p>
          <a:p xmlns:a="http://schemas.openxmlformats.org/drawingml/2006/main">
            <a:r>
              <a:t/>
            </a:r>
          </a:p>
          <a:p xmlns:a="http://schemas.openxmlformats.org/drawingml/2006/main">
            <a:r>
              <a:t>SOURCES</a:t>
            </a:r>
          </a:p>
          <a:p xmlns:a="http://schemas.openxmlformats.org/drawingml/2006/main">
            <a:r>
              <a:t>notebooks/03_embeddings_and_semantic_search.ipynb — sections 1, 2 and 9</a:t>
            </a:r>
          </a:p>
          <a:p xmlns:a="http://schemas.openxmlformats.org/drawingml/2006/main">
            <a:r>
              <a:t>https://numpy.org/doc/stable/reference/generated/numpy.matmul.html</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through section 4 line by line. Start with the question about time off each year and display the query shape and row norms. Matrix multiplication produces a one-dimensional list of scores whose positions match the original chunks. The code uses stable sorting to make equal-score ordering predictable. After choosing the top positions, it reconstructs hit dictionaries with IDs, text, metadata, and score. Ask the audience to identify where text enters the process and where it reappears, reinforcing that the arithmetic only selects candidate evidence.</a:t>
            </a:r>
          </a:p>
          <a:p xmlns:a="http://schemas.openxmlformats.org/drawingml/2006/main">
            <a:r>
              <a:t/>
            </a:r>
          </a:p>
          <a:p xmlns:a="http://schemas.openxmlformats.org/drawingml/2006/main">
            <a:r>
              <a:t>NOTEBOOK: notebooks/03_embeddings_and_semantic_search.ipynb</a:t>
            </a:r>
          </a:p>
          <a:p xmlns:a="http://schemas.openxmlformats.org/drawingml/2006/main">
            <a:r>
              <a:t/>
            </a:r>
          </a:p>
          <a:p xmlns:a="http://schemas.openxmlformats.org/drawingml/2006/main">
            <a:r>
              <a:t>SOURCES</a:t>
            </a:r>
          </a:p>
          <a:p xmlns:a="http://schemas.openxmlformats.org/drawingml/2006/main">
            <a:r>
              <a:t>notebooks/03_embeddings_and_semantic_search.ipynb — section 4</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6 plots the query-by-chunk matrix. Have learners explain each axis before interpreting colors. Multiple high cells may simply be overlapping chunks from the same document, so visual coverage does not necessarily mean diverse evidence. The title prints the active backend and should remain visible when presenting. Then connect the heatmap with section 7's source-level hit metrics. A retrieved chunk can come from the correct source yet omit the supporting passage, which means source-level hit@k can overestimate useful retrieval quality for a detailed question.</a:t>
            </a:r>
          </a:p>
          <a:p xmlns:a="http://schemas.openxmlformats.org/drawingml/2006/main">
            <a:r>
              <a:t/>
            </a:r>
          </a:p>
          <a:p xmlns:a="http://schemas.openxmlformats.org/drawingml/2006/main">
            <a:r>
              <a:t>NOTEBOOK: notebooks/03_embeddings_and_semantic_search.ipynb</a:t>
            </a:r>
          </a:p>
          <a:p xmlns:a="http://schemas.openxmlformats.org/drawingml/2006/main">
            <a:r>
              <a:t/>
            </a:r>
          </a:p>
          <a:p xmlns:a="http://schemas.openxmlformats.org/drawingml/2006/main">
            <a:r>
              <a:t>SOURCES</a:t>
            </a:r>
          </a:p>
          <a:p xmlns:a="http://schemas.openxmlformats.org/drawingml/2006/main">
            <a:r>
              <a:t>notebooks/03_embeddings_and_semantic_search.ipynb — sections 6 and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sections 5 and 7 to distinguish a rank comparison from a raw-number comparison. A larger TF-IDF score than a dense cosine score does not imply that TF-IDF is more certain, because the systems create scores differently. Read the expected-source labels and show one success or miss for each method without generalizing from four examples. Include exact terms as well as paraphrases when discussing evaluation design. Reiterate that offline mode compares lexical baselines only, and that a model migration requires re-embedding rather than merely updating the query encoder.</a:t>
            </a:r>
          </a:p>
          <a:p xmlns:a="http://schemas.openxmlformats.org/drawingml/2006/main">
            <a:r>
              <a:t/>
            </a:r>
          </a:p>
          <a:p xmlns:a="http://schemas.openxmlformats.org/drawingml/2006/main">
            <a:r>
              <a:t>NOTEBOOK: notebooks/03_embeddings_and_semantic_search.ipynb</a:t>
            </a:r>
          </a:p>
          <a:p xmlns:a="http://schemas.openxmlformats.org/drawingml/2006/main">
            <a:r>
              <a:t/>
            </a:r>
          </a:p>
          <a:p xmlns:a="http://schemas.openxmlformats.org/drawingml/2006/main">
            <a:r>
              <a:t>SOURCES</a:t>
            </a:r>
          </a:p>
          <a:p xmlns:a="http://schemas.openxmlformats.org/drawingml/2006/main">
            <a:r>
              <a:t>notebooks/03_embeddings_and_semantic_search.ipynb — sections 4, 5 and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API-limit question is the only Claude call in this notebook. Before running it, display the three selected hits and ask learners to locate the rate, error status, and retry instruction. This makes the generator's evidence explicit and separates retrieval quality from final wording. For a fully offline class, all mathematical and lexical diagnostics still run, but semantic-model behavior and answer generation remain untested. When showing live mode, allow the initial local model download beforehand so the teaching sequence is not dominated by setup time.</a:t>
            </a:r>
          </a:p>
          <a:p xmlns:a="http://schemas.openxmlformats.org/drawingml/2006/main">
            <a:r>
              <a:t/>
            </a:r>
          </a:p>
          <a:p xmlns:a="http://schemas.openxmlformats.org/drawingml/2006/main">
            <a:r>
              <a:t>NOTEBOOK: notebooks/03_embeddings_and_semantic_search.ipynb</a:t>
            </a:r>
          </a:p>
          <a:p xmlns:a="http://schemas.openxmlformats.org/drawingml/2006/main">
            <a:r>
              <a:t/>
            </a:r>
          </a:p>
          <a:p xmlns:a="http://schemas.openxmlformats.org/drawingml/2006/main">
            <a:r>
              <a:t>SOURCES</a:t>
            </a:r>
          </a:p>
          <a:p xmlns:a="http://schemas.openxmlformats.org/drawingml/2006/main">
            <a:r>
              <a:t>notebooks/03_embeddings_and_semantic_search.ipynb — sections 1–8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learners to implement section 9 without calling DenseIndex.search. The goal is to connect the earlier mathematics with a reusable function, not to optimize performance. Compare their result with the wrapper after checking k and zero-vector behavior. The professional-development phrase is a paraphrase probe; inspect whether the source actually includes the learning allowance rather than asserting that semantic search must succeed. Close by asking why changing the embedding model requires re-indexing and why a single successful synonym query does not prove overall retrieval quality.</a:t>
            </a:r>
          </a:p>
          <a:p xmlns:a="http://schemas.openxmlformats.org/drawingml/2006/main">
            <a:r>
              <a:t/>
            </a:r>
          </a:p>
          <a:p xmlns:a="http://schemas.openxmlformats.org/drawingml/2006/main">
            <a:r>
              <a:t>NOTEBOOK: notebooks/03_embeddings_and_semantic_search.ipynb</a:t>
            </a:r>
          </a:p>
          <a:p xmlns:a="http://schemas.openxmlformats.org/drawingml/2006/main">
            <a:r>
              <a:t/>
            </a:r>
          </a:p>
          <a:p xmlns:a="http://schemas.openxmlformats.org/drawingml/2006/main">
            <a:r>
              <a:t>SOURCES</a:t>
            </a:r>
          </a:p>
          <a:p xmlns:a="http://schemas.openxmlformats.org/drawingml/2006/main">
            <a:r>
              <a:t>notebooks/03_embeddings_and_semantic_search.ipynb — section 9; Instructor variations and next step</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000e1d132e4e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c5ac2d1df541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b3957f86d34c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3be1fe0ab44f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ce5a2c4d5443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e305dd171941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EEFA1E-C48E-414D-B556-A1C015A6ED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0C55F8-AE4D-477D-989F-9BC7B3CB942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FB0FC1-44FC-46B1-A866-0080748B49F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D82ECD-7EBD-4680-915A-CA44EA4ED4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A5566D-8E49-4282-961A-F4BFBED551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7DCB9E-6598-4972-B911-224E09782C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CE75F7-8E71-4C32-A3B3-54D7129C8E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C84948-BDC9-42DD-969A-8CCA6352CD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B0A728-19AF-4A13-AB62-4BC2C80737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3052B9-4518-45A0-8D43-BBB056B88D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486d6b194c4e99" /><Relationship Type="http://schemas.openxmlformats.org/officeDocument/2006/relationships/slideLayout" Target="/ppt/slideLayouts/slideLayout1.xml" Id="R44adbe6a2b694483" /><Relationship Type="http://schemas.openxmlformats.org/officeDocument/2006/relationships/slideLayout" Target="/ppt/slideLayouts/slideLayout2.xml" Id="Rf5275cd2684e45ee" /><Relationship Type="http://schemas.openxmlformats.org/officeDocument/2006/relationships/slideLayout" Target="/ppt/slideLayouts/slideLayout3.xml" Id="R5d08a201ff7a4743" /><Relationship Type="http://schemas.openxmlformats.org/officeDocument/2006/relationships/slideLayout" Target="/ppt/slideLayouts/slideLayout4.xml" Id="R1bcf6b3b48494b8f" /><Relationship Type="http://schemas.openxmlformats.org/officeDocument/2006/relationships/slideLayout" Target="/ppt/slideLayouts/slideLayout5.xml" Id="R8356690eb563460a" /><Relationship Type="http://schemas.openxmlformats.org/officeDocument/2006/relationships/slideLayout" Target="/ppt/slideLayouts/slideLayout6.xml" Id="R37adb667bf1d45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adbe6a2b694483"/>
    <p:sldLayoutId xmlns:r="http://schemas.openxmlformats.org/officeDocument/2006/relationships" id="2147483650" r:id="Rf5275cd2684e45ee"/>
    <p:sldLayoutId xmlns:r="http://schemas.openxmlformats.org/officeDocument/2006/relationships" id="2147483651" r:id="R5d08a201ff7a4743"/>
    <p:sldLayoutId xmlns:r="http://schemas.openxmlformats.org/officeDocument/2006/relationships" id="2147483652" r:id="R1bcf6b3b48494b8f"/>
    <p:sldLayoutId xmlns:r="http://schemas.openxmlformats.org/officeDocument/2006/relationships" id="2147483653" r:id="R8356690eb563460a"/>
    <p:sldLayoutId xmlns:r="http://schemas.openxmlformats.org/officeDocument/2006/relationships" id="2147483654" r:id="R37adb667bf1d45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340efe47cf4d57" /><Relationship Type="http://schemas.openxmlformats.org/officeDocument/2006/relationships/image" Target="/ppt/media/image.png" Id="R6868ee41d2454e4d" /><Relationship Type="http://schemas.openxmlformats.org/officeDocument/2006/relationships/notesSlide" Target="/ppt/notesSlides/notesSlide1.xml" Id="R2f9849ba6c3b4a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fdf61397054869" /><Relationship Type="http://schemas.openxmlformats.org/officeDocument/2006/relationships/notesSlide" Target="/ppt/notesSlides/notesSlide2.xml" Id="Rc7d7b9c078f340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3a1de3ae03400b" /><Relationship Type="http://schemas.openxmlformats.org/officeDocument/2006/relationships/notesSlide" Target="/ppt/notesSlides/notesSlide3.xml" Id="R0796b9def84d46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2624130b2c4eeb" /><Relationship Type="http://schemas.openxmlformats.org/officeDocument/2006/relationships/notesSlide" Target="/ppt/notesSlides/notesSlide4.xml" Id="R360da226d8184d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ebfb0e77cc4d24" /><Relationship Type="http://schemas.openxmlformats.org/officeDocument/2006/relationships/notesSlide" Target="/ppt/notesSlides/notesSlide5.xml" Id="Rc39c84ba376a4e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de756e096ad439d" /><Relationship Type="http://schemas.openxmlformats.org/officeDocument/2006/relationships/notesSlide" Target="/ppt/notesSlides/notesSlide6.xml" Id="R02060cdc4f1d4f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ebe55223da4a9f" /><Relationship Type="http://schemas.openxmlformats.org/officeDocument/2006/relationships/notesSlide" Target="/ppt/notesSlides/notesSlide7.xml" Id="Rba8b59e00e7a4f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057bd5e3764df6" /><Relationship Type="http://schemas.openxmlformats.org/officeDocument/2006/relationships/notesSlide" Target="/ppt/notesSlides/notesSlide8.xml" Id="Rfb9614b5ac5c48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94b3fc967e4987" /><Relationship Type="http://schemas.openxmlformats.org/officeDocument/2006/relationships/notesSlide" Target="/ppt/notesSlides/notesSlide9.xml" Id="R22ec4d84a0a2428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437E60D6-1F48-4619-A4A5-BE74708ED244}"/>
              </a:ext>
            </a:extLst>
          </p:cNvPr>
          <p:cNvPicPr>
            <a:picLocks xmlns:a="http://schemas.openxmlformats.org/drawingml/2006/main" noChangeAspect="1"/>
          </p:cNvPicPr>
          <p:nvPr/>
        </p:nvPicPr>
        <p:blipFill>
          <a:blip xmlns:r="http://schemas.openxmlformats.org/officeDocument/2006/relationships" xmlns:a="http://schemas.openxmlformats.org/drawingml/2006/main" r:embed="R6868ee41d2454e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4872CAED-4998-4860-BF27-5276BFF9566B}"/>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03</a:t>
            </a:r>
          </a:p>
        </p:txBody>
      </p:sp>
      <p:sp>
        <p:nvSpPr>
          <p:cNvPr id="3" name="deck-title">
            <a:extLst xmlns:a="http://schemas.openxmlformats.org/drawingml/2006/main">
              <a:ext uri="{FF2B5EF4-FFF2-40B4-BE49-F238E27FC236}">
                <a16:creationId xmlns:a16="http://schemas.microsoft.com/office/drawing/2014/main" id="{E60531E1-3233-4832-875F-D8F33E4F843D}"/>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Embeddings and semantic search</a:t>
            </a:r>
          </a:p>
        </p:txBody>
      </p:sp>
      <p:sp>
        <p:nvSpPr>
          <p:cNvPr id="4" name="text">
            <a:extLst xmlns:a="http://schemas.openxmlformats.org/drawingml/2006/main">
              <a:ext uri="{FF2B5EF4-FFF2-40B4-BE49-F238E27FC236}">
                <a16:creationId xmlns:a16="http://schemas.microsoft.com/office/drawing/2014/main" id="{74A1BD5F-92AC-4016-B838-27E788424FD8}"/>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Vectors · Cosine similarity · Paraphrases · Local retrieval</a:t>
            </a:r>
          </a:p>
        </p:txBody>
      </p:sp>
      <p:sp>
        <p:nvSpPr>
          <p:cNvPr id="5" name="text">
            <a:extLst xmlns:a="http://schemas.openxmlformats.org/drawingml/2006/main">
              <a:ext uri="{FF2B5EF4-FFF2-40B4-BE49-F238E27FC236}">
                <a16:creationId xmlns:a16="http://schemas.microsoft.com/office/drawing/2014/main" id="{2248B9D4-F36B-4D27-BB9E-BD993FDDD36D}"/>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03_embeddings_and_semantic_search.ipynb</a:t>
            </a:r>
          </a:p>
        </p:txBody>
      </p:sp>
    </p:spTree>
    <p:extLst>
      <p:ext uri="{BB962C8B-B14F-4D97-AF65-F5344CB8AC3E}">
        <p14:creationId xmlns:p14="http://schemas.microsoft.com/office/powerpoint/2010/main" val="1904829785"/>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146B236-E289-4A8F-8376-E22FDF13144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03</a:t>
            </a:r>
          </a:p>
        </p:txBody>
      </p:sp>
      <p:sp>
        <p:nvSpPr>
          <p:cNvPr id="2" name="slide-title">
            <a:extLst xmlns:a="http://schemas.openxmlformats.org/drawingml/2006/main">
              <a:ext uri="{FF2B5EF4-FFF2-40B4-BE49-F238E27FC236}">
                <a16:creationId xmlns:a16="http://schemas.microsoft.com/office/drawing/2014/main" id="{3BEEC42A-4C29-4D8F-8F61-8C650AC296A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Search can compare words or learned meaning</a:t>
            </a:r>
          </a:p>
        </p:txBody>
      </p:sp>
      <p:sp>
        <p:nvSpPr>
          <p:cNvPr id="3" name="lead">
            <a:extLst xmlns:a="http://schemas.openxmlformats.org/drawingml/2006/main">
              <a:ext uri="{FF2B5EF4-FFF2-40B4-BE49-F238E27FC236}">
                <a16:creationId xmlns:a16="http://schemas.microsoft.com/office/drawing/2014/main" id="{A3B07B49-C102-4634-A894-D875934B6CB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Compare both methods on identical chunks so differences come from the retrieval method.</a:t>
            </a:r>
          </a:p>
        </p:txBody>
      </p:sp>
      <p:sp>
        <p:nvSpPr>
          <p:cNvPr id="4" name="text">
            <a:extLst xmlns:a="http://schemas.openxmlformats.org/drawingml/2006/main">
              <a:ext uri="{FF2B5EF4-FFF2-40B4-BE49-F238E27FC236}">
                <a16:creationId xmlns:a16="http://schemas.microsoft.com/office/drawing/2014/main" id="{767FB26C-AFEA-4FD3-AEC5-8CCB3C7FCF2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03  /  Embeddings and semantic search</a:t>
            </a:r>
          </a:p>
        </p:txBody>
      </p:sp>
      <p:sp>
        <p:nvSpPr>
          <p:cNvPr id="5" name="page-number">
            <a:extLst xmlns:a="http://schemas.openxmlformats.org/drawingml/2006/main">
              <a:ext uri="{FF2B5EF4-FFF2-40B4-BE49-F238E27FC236}">
                <a16:creationId xmlns:a16="http://schemas.microsoft.com/office/drawing/2014/main" id="{8588EFE1-EBDB-4B3E-BE06-D8C8D2853334}"/>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31C2E0AD-E865-4AB5-B64F-E6F44A559E57}"/>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TF-IDF</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Represents informative corpus words; exact terms such as Retry-After can be useful signals.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Sentence embeddings</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 local pretrained model maps text into vectors that can connect paraphrases.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No automatic winner</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Semantic models can miss numbers, identifiers, or domain details. Inspect real evidence.</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Offline distinction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RAG_OFFLINE=1 uses a labeled lexical fallback; it does not demonstrate semantic improvement.</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621793879"/>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008152F5-C5DC-453A-8437-16046555914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03</a:t>
            </a:r>
          </a:p>
        </p:txBody>
      </p:sp>
      <p:sp>
        <p:nvSpPr>
          <p:cNvPr id="2" name="slide-title">
            <a:extLst xmlns:a="http://schemas.openxmlformats.org/drawingml/2006/main">
              <a:ext uri="{FF2B5EF4-FFF2-40B4-BE49-F238E27FC236}">
                <a16:creationId xmlns:a16="http://schemas.microsoft.com/office/drawing/2014/main" id="{D322C659-4CCA-4866-9B38-F3C418FBD95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An embedding is a vector, not an answer</a:t>
            </a:r>
          </a:p>
        </p:txBody>
      </p:sp>
      <p:sp>
        <p:nvSpPr>
          <p:cNvPr id="3" name="lead">
            <a:extLst xmlns:a="http://schemas.openxmlformats.org/drawingml/2006/main">
              <a:ext uri="{FF2B5EF4-FFF2-40B4-BE49-F238E27FC236}">
                <a16:creationId xmlns:a16="http://schemas.microsoft.com/office/drawing/2014/main" id="{736DFBD5-B147-4F4A-9927-039F0AF6AA71}"/>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Vectors make similarity computable; selected source text still provides the answer's evidence.</a:t>
            </a:r>
          </a:p>
        </p:txBody>
      </p:sp>
      <p:sp>
        <p:nvSpPr>
          <p:cNvPr id="4" name="text">
            <a:extLst xmlns:a="http://schemas.openxmlformats.org/drawingml/2006/main">
              <a:ext uri="{FF2B5EF4-FFF2-40B4-BE49-F238E27FC236}">
                <a16:creationId xmlns:a16="http://schemas.microsoft.com/office/drawing/2014/main" id="{CFCA5CAC-536F-4F5F-8F31-166E0B01FD4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03  /  Embeddings and semantic search</a:t>
            </a:r>
          </a:p>
        </p:txBody>
      </p:sp>
      <p:sp>
        <p:nvSpPr>
          <p:cNvPr id="5" name="page-number">
            <a:extLst xmlns:a="http://schemas.openxmlformats.org/drawingml/2006/main">
              <a:ext uri="{FF2B5EF4-FFF2-40B4-BE49-F238E27FC236}">
                <a16:creationId xmlns:a16="http://schemas.microsoft.com/office/drawing/2014/main" id="{64AA4847-B2C9-4420-A04D-33CB414194B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sp>
        <p:nvSpPr>
          <p:cNvPr id="6" name="text">
            <a:extLst xmlns:a="http://schemas.openxmlformats.org/drawingml/2006/main">
              <a:ext uri="{FF2B5EF4-FFF2-40B4-BE49-F238E27FC236}">
                <a16:creationId xmlns:a16="http://schemas.microsoft.com/office/drawing/2014/main" id="{471E69E8-F51B-41E5-8EB2-DD9D318FD032}"/>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Vector</a:t>
            </a:r>
          </a:p>
        </p:txBody>
      </p:sp>
      <p:sp>
        <p:nvSpPr>
          <p:cNvPr id="7" name="text">
            <a:extLst xmlns:a="http://schemas.openxmlformats.org/drawingml/2006/main">
              <a:ext uri="{FF2B5EF4-FFF2-40B4-BE49-F238E27FC236}">
                <a16:creationId xmlns:a16="http://schemas.microsoft.com/office/drawing/2014/main" id="{0311D813-A42C-43F3-80A2-91718E0E448A}"/>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list of numbers representing text in a model's learned coordinate space.</a:t>
            </a:r>
          </a:p>
        </p:txBody>
      </p:sp>
      <p:sp>
        <p:nvSpPr>
          <p:cNvPr id="8" name="text">
            <a:extLst xmlns:a="http://schemas.openxmlformats.org/drawingml/2006/main">
              <a:ext uri="{FF2B5EF4-FFF2-40B4-BE49-F238E27FC236}">
                <a16:creationId xmlns:a16="http://schemas.microsoft.com/office/drawing/2014/main" id="{F5A48E3E-FAD3-49FB-BB3C-CE1A0FC2806C}"/>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Shared space</a:t>
            </a:r>
          </a:p>
        </p:txBody>
      </p:sp>
      <p:sp>
        <p:nvSpPr>
          <p:cNvPr id="9" name="text">
            <a:extLst xmlns:a="http://schemas.openxmlformats.org/drawingml/2006/main">
              <a:ext uri="{FF2B5EF4-FFF2-40B4-BE49-F238E27FC236}">
                <a16:creationId xmlns:a16="http://schemas.microsoft.com/office/drawing/2014/main" id="{3AB673D6-0E63-4B30-8801-C861520E8AEA}"/>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Encode documents and incoming questions using the same model and preprocessing assumptions.</a:t>
            </a:r>
          </a:p>
        </p:txBody>
      </p:sp>
      <p:sp>
        <p:nvSpPr>
          <p:cNvPr id="10" name="text">
            <a:extLst xmlns:a="http://schemas.openxmlformats.org/drawingml/2006/main">
              <a:ext uri="{FF2B5EF4-FFF2-40B4-BE49-F238E27FC236}">
                <a16:creationId xmlns:a16="http://schemas.microsoft.com/office/drawing/2014/main" id="{CD7FE822-3486-4B56-8C88-23171E19E1BD}"/>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Matrix</a:t>
            </a:r>
          </a:p>
        </p:txBody>
      </p:sp>
      <p:sp>
        <p:nvSpPr>
          <p:cNvPr id="11" name="text">
            <a:extLst xmlns:a="http://schemas.openxmlformats.org/drawingml/2006/main">
              <a:ext uri="{FF2B5EF4-FFF2-40B4-BE49-F238E27FC236}">
                <a16:creationId xmlns:a16="http://schemas.microsoft.com/office/drawing/2014/main" id="{0B6C5F83-2FD6-4A46-A376-B4862414F589}"/>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One row per chunk and one column per vector dimension.</a:t>
            </a:r>
          </a:p>
        </p:txBody>
      </p:sp>
      <p:sp>
        <p:nvSpPr>
          <p:cNvPr id="12" name="text">
            <a:extLst xmlns:a="http://schemas.openxmlformats.org/drawingml/2006/main">
              <a:ext uri="{FF2B5EF4-FFF2-40B4-BE49-F238E27FC236}">
                <a16:creationId xmlns:a16="http://schemas.microsoft.com/office/drawing/2014/main" id="{2123C095-14B7-4478-9266-C7A26ABD7B07}"/>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Generator input</a:t>
            </a:r>
          </a:p>
        </p:txBody>
      </p:sp>
      <p:sp>
        <p:nvSpPr>
          <p:cNvPr id="13" name="text">
            <a:extLst xmlns:a="http://schemas.openxmlformats.org/drawingml/2006/main">
              <a:ext uri="{FF2B5EF4-FFF2-40B4-BE49-F238E27FC236}">
                <a16:creationId xmlns:a16="http://schemas.microsoft.com/office/drawing/2014/main" id="{3EF52DEB-B568-445E-98DB-6865BF63F72D}"/>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Claude receives the retrieved passages, not the raw embedding coordinates.</a:t>
            </a:r>
          </a:p>
        </p:txBody>
      </p:sp>
    </p:spTree>
    <p:extLst>
      <p:ext uri="{BB962C8B-B14F-4D97-AF65-F5344CB8AC3E}">
        <p14:creationId xmlns:p14="http://schemas.microsoft.com/office/powerpoint/2010/main" val="995876319"/>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806922F0-E3F3-42E6-8CEC-C9C1012D8773}"/>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03</a:t>
            </a:r>
          </a:p>
        </p:txBody>
      </p:sp>
      <p:sp>
        <p:nvSpPr>
          <p:cNvPr id="2" name="slide-title">
            <a:extLst xmlns:a="http://schemas.openxmlformats.org/drawingml/2006/main">
              <a:ext uri="{FF2B5EF4-FFF2-40B4-BE49-F238E27FC236}">
                <a16:creationId xmlns:a16="http://schemas.microsoft.com/office/drawing/2014/main" id="{70C59CB9-202C-448D-8900-5B2E9C718F4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Cosine compares direction rather than length</a:t>
            </a:r>
          </a:p>
        </p:txBody>
      </p:sp>
      <p:sp>
        <p:nvSpPr>
          <p:cNvPr id="3" name="lead">
            <a:extLst xmlns:a="http://schemas.openxmlformats.org/drawingml/2006/main">
              <a:ext uri="{FF2B5EF4-FFF2-40B4-BE49-F238E27FC236}">
                <a16:creationId xmlns:a16="http://schemas.microsoft.com/office/drawing/2014/main" id="{FC36C3BC-1245-44E9-8F4E-0B46F0A6D6C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After normalizing both vectors to length one, their dot product equals cosine similarity.</a:t>
            </a:r>
          </a:p>
        </p:txBody>
      </p:sp>
      <p:sp>
        <p:nvSpPr>
          <p:cNvPr id="4" name="text">
            <a:extLst xmlns:a="http://schemas.openxmlformats.org/drawingml/2006/main">
              <a:ext uri="{FF2B5EF4-FFF2-40B4-BE49-F238E27FC236}">
                <a16:creationId xmlns:a16="http://schemas.microsoft.com/office/drawing/2014/main" id="{510E6433-56B1-4C9A-9D22-9C2D2DBA45E6}"/>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03  /  Embeddings and semantic search</a:t>
            </a:r>
          </a:p>
        </p:txBody>
      </p:sp>
      <p:sp>
        <p:nvSpPr>
          <p:cNvPr id="5" name="page-number">
            <a:extLst xmlns:a="http://schemas.openxmlformats.org/drawingml/2006/main">
              <a:ext uri="{FF2B5EF4-FFF2-40B4-BE49-F238E27FC236}">
                <a16:creationId xmlns:a16="http://schemas.microsoft.com/office/drawing/2014/main" id="{2AA77641-C8A1-4048-AB32-4CF17D057667}"/>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17BEE9E1-90C8-4A82-A642-E96C8E17C9D7}"/>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Toy query</a:t>
            </a:r>
          </a:p>
        </p:txBody>
      </p:sp>
      <p:sp>
        <p:nvSpPr>
          <p:cNvPr id="7" name="text">
            <a:extLst xmlns:a="http://schemas.openxmlformats.org/drawingml/2006/main">
              <a:ext uri="{FF2B5EF4-FFF2-40B4-BE49-F238E27FC236}">
                <a16:creationId xmlns:a16="http://schemas.microsoft.com/office/drawing/2014/main" id="{90CEAB7D-DE42-4388-9CC8-DB5645EF0BFD}"/>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[1.0, 0.0] points along the illustrative leave coordinate.</a:t>
            </a:r>
          </a:p>
        </p:txBody>
      </p:sp>
      <p:sp>
        <p:nvSpPr>
          <p:cNvPr id="8" name="text">
            <a:extLst xmlns:a="http://schemas.openxmlformats.org/drawingml/2006/main">
              <a:ext uri="{FF2B5EF4-FFF2-40B4-BE49-F238E27FC236}">
                <a16:creationId xmlns:a16="http://schemas.microsoft.com/office/drawing/2014/main" id="{36FBAC35-13DA-447A-9296-A15F62C9697E}"/>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Related directions</a:t>
            </a:r>
          </a:p>
        </p:txBody>
      </p:sp>
      <p:sp>
        <p:nvSpPr>
          <p:cNvPr id="9" name="text">
            <a:extLst xmlns:a="http://schemas.openxmlformats.org/drawingml/2006/main">
              <a:ext uri="{FF2B5EF4-FFF2-40B4-BE49-F238E27FC236}">
                <a16:creationId xmlns:a16="http://schemas.microsoft.com/office/drawing/2014/main" id="{5F4DC773-135C-4D1F-9F9E-F27826E18AF8}"/>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Annual vacation [3.0, 0.3] and paid time off [2.0, 0.4] both align closely with the query.</a:t>
            </a:r>
          </a:p>
        </p:txBody>
      </p:sp>
      <p:sp>
        <p:nvSpPr>
          <p:cNvPr id="10" name="text">
            <a:extLst xmlns:a="http://schemas.openxmlformats.org/drawingml/2006/main">
              <a:ext uri="{FF2B5EF4-FFF2-40B4-BE49-F238E27FC236}">
                <a16:creationId xmlns:a16="http://schemas.microsoft.com/office/drawing/2014/main" id="{B7B8A8DE-5EA1-41E7-A016-2139C522B522}"/>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Different direction</a:t>
            </a:r>
          </a:p>
        </p:txBody>
      </p:sp>
      <p:sp>
        <p:nvSpPr>
          <p:cNvPr id="11" name="text">
            <a:extLst xmlns:a="http://schemas.openxmlformats.org/drawingml/2006/main">
              <a:ext uri="{FF2B5EF4-FFF2-40B4-BE49-F238E27FC236}">
                <a16:creationId xmlns:a16="http://schemas.microsoft.com/office/drawing/2014/main" id="{7D7E137C-097E-425E-8FB1-49F0B099EE93}"/>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API throughput [0.2, 4.0] mostly points along the other illustrative coordinate.</a:t>
            </a:r>
          </a:p>
        </p:txBody>
      </p:sp>
      <p:sp>
        <p:nvSpPr>
          <p:cNvPr id="12" name="text">
            <a:extLst xmlns:a="http://schemas.openxmlformats.org/drawingml/2006/main">
              <a:ext uri="{FF2B5EF4-FFF2-40B4-BE49-F238E27FC236}">
                <a16:creationId xmlns:a16="http://schemas.microsoft.com/office/drawing/2014/main" id="{0F757D81-AFEE-4CED-A65C-D737DFE5CCE6}"/>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Calculation</a:t>
            </a:r>
          </a:p>
        </p:txBody>
      </p:sp>
      <p:sp>
        <p:nvSpPr>
          <p:cNvPr id="13" name="text">
            <a:extLst xmlns:a="http://schemas.openxmlformats.org/drawingml/2006/main">
              <a:ext uri="{FF2B5EF4-FFF2-40B4-BE49-F238E27FC236}">
                <a16:creationId xmlns:a16="http://schemas.microsoft.com/office/drawing/2014/main" id="{428BB672-002C-4C37-91F6-F5B11B8CBE93}"/>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cosine(q, d) = (q · d) / (length(q) × length(d)). Handle a zero vector explicitly.</a:t>
            </a:r>
          </a:p>
        </p:txBody>
      </p:sp>
    </p:spTree>
    <p:extLst>
      <p:ext uri="{BB962C8B-B14F-4D97-AF65-F5344CB8AC3E}">
        <p14:creationId xmlns:p14="http://schemas.microsoft.com/office/powerpoint/2010/main" val="265728802"/>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5B05708-5D90-4840-BF80-E2853D6CAB11}"/>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03</a:t>
            </a:r>
          </a:p>
        </p:txBody>
      </p:sp>
      <p:sp>
        <p:nvSpPr>
          <p:cNvPr id="2" name="slide-title">
            <a:extLst xmlns:a="http://schemas.openxmlformats.org/drawingml/2006/main">
              <a:ext uri="{FF2B5EF4-FFF2-40B4-BE49-F238E27FC236}">
                <a16:creationId xmlns:a16="http://schemas.microsoft.com/office/drawing/2014/main" id="{837A7835-114E-43E7-AD53-E702A37D642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Implement vector search in four operations</a:t>
            </a:r>
          </a:p>
        </p:txBody>
      </p:sp>
      <p:sp>
        <p:nvSpPr>
          <p:cNvPr id="3" name="lead">
            <a:extLst xmlns:a="http://schemas.openxmlformats.org/drawingml/2006/main">
              <a:ext uri="{FF2B5EF4-FFF2-40B4-BE49-F238E27FC236}">
                <a16:creationId xmlns:a16="http://schemas.microsoft.com/office/drawing/2014/main" id="{6BDFD7BE-6BDB-47E6-A2E3-2791E9B0DEE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notebook computes the same search directly from NumPy arrays so the ranking is inspectable.</a:t>
            </a:r>
          </a:p>
        </p:txBody>
      </p:sp>
      <p:sp>
        <p:nvSpPr>
          <p:cNvPr id="4" name="text">
            <a:extLst xmlns:a="http://schemas.openxmlformats.org/drawingml/2006/main">
              <a:ext uri="{FF2B5EF4-FFF2-40B4-BE49-F238E27FC236}">
                <a16:creationId xmlns:a16="http://schemas.microsoft.com/office/drawing/2014/main" id="{DCEA8935-637B-41B4-9E72-79FE1F21A28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03  /  Embeddings and semantic search</a:t>
            </a:r>
          </a:p>
        </p:txBody>
      </p:sp>
      <p:sp>
        <p:nvSpPr>
          <p:cNvPr id="5" name="page-number">
            <a:extLst xmlns:a="http://schemas.openxmlformats.org/drawingml/2006/main">
              <a:ext uri="{FF2B5EF4-FFF2-40B4-BE49-F238E27FC236}">
                <a16:creationId xmlns:a16="http://schemas.microsoft.com/office/drawing/2014/main" id="{E975EB4D-E22D-4B2F-91D8-204920238FC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graphicFrame>
        <p:nvGraphicFramePr>
          <p:cNvPr id="6" name="">
            <a:extLst xmlns:a="http://schemas.openxmlformats.org/drawingml/2006/main">
              <a:ext uri="{FF2B5EF4-FFF2-40B4-BE49-F238E27FC236}">
                <a16:creationId xmlns:a16="http://schemas.microsoft.com/office/drawing/2014/main" id="{28FED837-0FF7-4B49-9B2F-31719F5F43AF}"/>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Encode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Convert the question to a vector using the same model as the indexed chunks.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Normalize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Normalize the query and each document row to compare their directions.</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Multiply</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Compute one score per chunk with document_matrix @ query_vector.</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Rank and inspect</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Sort scores from highest to lowest, keep top k, and map rows back to source text.</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870970805"/>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999B11EE-11BC-4FEA-8C89-41470D363A3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03</a:t>
            </a:r>
          </a:p>
        </p:txBody>
      </p:sp>
      <p:sp>
        <p:nvSpPr>
          <p:cNvPr id="2" name="slide-title">
            <a:extLst xmlns:a="http://schemas.openxmlformats.org/drawingml/2006/main">
              <a:ext uri="{FF2B5EF4-FFF2-40B4-BE49-F238E27FC236}">
                <a16:creationId xmlns:a16="http://schemas.microsoft.com/office/drawing/2014/main" id="{6FDE4BFA-C335-4529-ABCD-4D4553CD285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Read a similarity matrix without overclaiming</a:t>
            </a:r>
          </a:p>
        </p:txBody>
      </p:sp>
      <p:sp>
        <p:nvSpPr>
          <p:cNvPr id="3" name="lead">
            <a:extLst xmlns:a="http://schemas.openxmlformats.org/drawingml/2006/main">
              <a:ext uri="{FF2B5EF4-FFF2-40B4-BE49-F238E27FC236}">
                <a16:creationId xmlns:a16="http://schemas.microsoft.com/office/drawing/2014/main" id="{996CD310-7E5B-40F2-8C23-809BCDC1808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warm heatmap cell shows similarity under the active backend, not proof that a claim is supported.</a:t>
            </a:r>
          </a:p>
        </p:txBody>
      </p:sp>
      <p:sp>
        <p:nvSpPr>
          <p:cNvPr id="4" name="text">
            <a:extLst xmlns:a="http://schemas.openxmlformats.org/drawingml/2006/main">
              <a:ext uri="{FF2B5EF4-FFF2-40B4-BE49-F238E27FC236}">
                <a16:creationId xmlns:a16="http://schemas.microsoft.com/office/drawing/2014/main" id="{0FD4B743-8AB4-4942-982A-1C227E4B6CC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03  /  Embeddings and semantic search</a:t>
            </a:r>
          </a:p>
        </p:txBody>
      </p:sp>
      <p:sp>
        <p:nvSpPr>
          <p:cNvPr id="5" name="page-number">
            <a:extLst xmlns:a="http://schemas.openxmlformats.org/drawingml/2006/main">
              <a:ext uri="{FF2B5EF4-FFF2-40B4-BE49-F238E27FC236}">
                <a16:creationId xmlns:a16="http://schemas.microsoft.com/office/drawing/2014/main" id="{913BA8D5-ABEF-4980-AC49-C6CCF752D2C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4CB7D381-6903-4D49-89E0-2B064E79F315}"/>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Rows</a:t>
            </a:r>
          </a:p>
        </p:txBody>
      </p:sp>
      <p:sp>
        <p:nvSpPr>
          <p:cNvPr id="7" name="text">
            <a:extLst xmlns:a="http://schemas.openxmlformats.org/drawingml/2006/main">
              <a:ext uri="{FF2B5EF4-FFF2-40B4-BE49-F238E27FC236}">
                <a16:creationId xmlns:a16="http://schemas.microsoft.com/office/drawing/2014/main" id="{5EB1D30B-DFB4-48FF-A320-73218DA74233}"/>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Questions about vacation, working from home, API limits, and refunds.</a:t>
            </a:r>
          </a:p>
        </p:txBody>
      </p:sp>
      <p:sp>
        <p:nvSpPr>
          <p:cNvPr id="8" name="text">
            <a:extLst xmlns:a="http://schemas.openxmlformats.org/drawingml/2006/main">
              <a:ext uri="{FF2B5EF4-FFF2-40B4-BE49-F238E27FC236}">
                <a16:creationId xmlns:a16="http://schemas.microsoft.com/office/drawing/2014/main" id="{5834F8C6-54E7-4357-9429-0FE5C99DE4A9}"/>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Columns</a:t>
            </a:r>
          </a:p>
        </p:txBody>
      </p:sp>
      <p:sp>
        <p:nvSpPr>
          <p:cNvPr id="9" name="text">
            <a:extLst xmlns:a="http://schemas.openxmlformats.org/drawingml/2006/main">
              <a:ext uri="{FF2B5EF4-FFF2-40B4-BE49-F238E27FC236}">
                <a16:creationId xmlns:a16="http://schemas.microsoft.com/office/drawing/2014/main" id="{7AD1ED2B-8918-408D-9A9B-FED1235BD98C}"/>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Individual chunks; several columns can belong to the same source document.</a:t>
            </a:r>
          </a:p>
        </p:txBody>
      </p:sp>
      <p:sp>
        <p:nvSpPr>
          <p:cNvPr id="10" name="text">
            <a:extLst xmlns:a="http://schemas.openxmlformats.org/drawingml/2006/main">
              <a:ext uri="{FF2B5EF4-FFF2-40B4-BE49-F238E27FC236}">
                <a16:creationId xmlns:a16="http://schemas.microsoft.com/office/drawing/2014/main" id="{CEE4AC27-5E10-405F-A55C-60C381651DFC}"/>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Cell value</a:t>
            </a:r>
          </a:p>
        </p:txBody>
      </p:sp>
      <p:sp>
        <p:nvSpPr>
          <p:cNvPr id="11" name="text">
            <a:extLst xmlns:a="http://schemas.openxmlformats.org/drawingml/2006/main">
              <a:ext uri="{FF2B5EF4-FFF2-40B4-BE49-F238E27FC236}">
                <a16:creationId xmlns:a16="http://schemas.microsoft.com/office/drawing/2014/main" id="{AC338957-73F8-40DD-9E76-D09CD03E1666}"/>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Cosine similarity between one query and one chunk under the current embedding backend.</a:t>
            </a:r>
          </a:p>
        </p:txBody>
      </p:sp>
      <p:sp>
        <p:nvSpPr>
          <p:cNvPr id="12" name="text">
            <a:extLst xmlns:a="http://schemas.openxmlformats.org/drawingml/2006/main">
              <a:ext uri="{FF2B5EF4-FFF2-40B4-BE49-F238E27FC236}">
                <a16:creationId xmlns:a16="http://schemas.microsoft.com/office/drawing/2014/main" id="{25E1E873-EE18-4953-8A5D-DB93F3067A42}"/>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Evidence inspection</a:t>
            </a:r>
          </a:p>
        </p:txBody>
      </p:sp>
      <p:sp>
        <p:nvSpPr>
          <p:cNvPr id="13" name="text">
            <a:extLst xmlns:a="http://schemas.openxmlformats.org/drawingml/2006/main">
              <a:ext uri="{FF2B5EF4-FFF2-40B4-BE49-F238E27FC236}">
                <a16:creationId xmlns:a16="http://schemas.microsoft.com/office/drawing/2014/main" id="{76CA4BC8-231B-4956-9813-1576AF5B7475}"/>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Open the passage behind a strong cell and check the requested number, condition, or deadline.</a:t>
            </a:r>
          </a:p>
        </p:txBody>
      </p:sp>
    </p:spTree>
    <p:extLst>
      <p:ext uri="{BB962C8B-B14F-4D97-AF65-F5344CB8AC3E}">
        <p14:creationId xmlns:p14="http://schemas.microsoft.com/office/powerpoint/2010/main" val="1978423850"/>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2689835-980D-4B80-B8EB-FCBB1BF417B6}"/>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03</a:t>
            </a:r>
          </a:p>
        </p:txBody>
      </p:sp>
      <p:sp>
        <p:nvSpPr>
          <p:cNvPr id="2" name="slide-title">
            <a:extLst xmlns:a="http://schemas.openxmlformats.org/drawingml/2006/main">
              <a:ext uri="{FF2B5EF4-FFF2-40B4-BE49-F238E27FC236}">
                <a16:creationId xmlns:a16="http://schemas.microsoft.com/office/drawing/2014/main" id="{BCF107B9-16E2-4112-8448-700CAC26FC30}"/>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Judge rankings with evidence, not score size</a:t>
            </a:r>
          </a:p>
        </p:txBody>
      </p:sp>
      <p:sp>
        <p:nvSpPr>
          <p:cNvPr id="3" name="lead">
            <a:extLst xmlns:a="http://schemas.openxmlformats.org/drawingml/2006/main">
              <a:ext uri="{FF2B5EF4-FFF2-40B4-BE49-F238E27FC236}">
                <a16:creationId xmlns:a16="http://schemas.microsoft.com/office/drawing/2014/main" id="{34FBA327-7343-4E98-B74F-99F6956E7EFC}"/>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Scores from different retrieval systems are not directly comparable confidence values.</a:t>
            </a:r>
          </a:p>
        </p:txBody>
      </p:sp>
      <p:sp>
        <p:nvSpPr>
          <p:cNvPr id="4" name="text">
            <a:extLst xmlns:a="http://schemas.openxmlformats.org/drawingml/2006/main">
              <a:ext uri="{FF2B5EF4-FFF2-40B4-BE49-F238E27FC236}">
                <a16:creationId xmlns:a16="http://schemas.microsoft.com/office/drawing/2014/main" id="{055728FD-C1BE-4A0B-94B1-0A469FD44653}"/>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03  /  Embeddings and semantic search</a:t>
            </a:r>
          </a:p>
        </p:txBody>
      </p:sp>
      <p:sp>
        <p:nvSpPr>
          <p:cNvPr id="5" name="page-number">
            <a:extLst xmlns:a="http://schemas.openxmlformats.org/drawingml/2006/main">
              <a:ext uri="{FF2B5EF4-FFF2-40B4-BE49-F238E27FC236}">
                <a16:creationId xmlns:a16="http://schemas.microsoft.com/office/drawing/2014/main" id="{C0A2FA0F-4805-4D77-B5D6-C9B9DD6C332C}"/>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graphicFrame>
        <p:nvGraphicFramePr>
          <p:cNvPr id="6" name="">
            <a:extLst xmlns:a="http://schemas.openxmlformats.org/drawingml/2006/main">
              <a:ext uri="{FF2B5EF4-FFF2-40B4-BE49-F238E27FC236}">
                <a16:creationId xmlns:a16="http://schemas.microsoft.com/office/drawing/2014/main" id="{F6E4542F-5C4D-4751-8055-9D6AB1D6E3DB}"/>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Same question and chunks</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Hold the corpus and query fixed when comparing TF-IDF with the actual embedding backend.</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Rank and source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Compare which relevant sources appear and where, then inspect the complete passages.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Small labeled set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The four queries demonstrate hit@1 and hit@3; they do not establish a broad benchmark.</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Model changes</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Rebuild document embeddings when changing the model, even if the vector dimension stays the same.</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794207082"/>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C76F2CCF-07FF-4601-AD3C-3FBE88BC9E5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03</a:t>
            </a:r>
          </a:p>
        </p:txBody>
      </p:sp>
      <p:sp>
        <p:nvSpPr>
          <p:cNvPr id="2" name="slide-title">
            <a:extLst xmlns:a="http://schemas.openxmlformats.org/drawingml/2006/main">
              <a:ext uri="{FF2B5EF4-FFF2-40B4-BE49-F238E27FC236}">
                <a16:creationId xmlns:a16="http://schemas.microsoft.com/office/drawing/2014/main" id="{1C845B0F-1E9A-4C79-A428-DEC1C86F462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from geometry to a cited answer</a:t>
            </a:r>
          </a:p>
        </p:txBody>
      </p:sp>
      <p:sp>
        <p:nvSpPr>
          <p:cNvPr id="3" name="lead">
            <a:extLst xmlns:a="http://schemas.openxmlformats.org/drawingml/2006/main">
              <a:ext uri="{FF2B5EF4-FFF2-40B4-BE49-F238E27FC236}">
                <a16:creationId xmlns:a16="http://schemas.microsoft.com/office/drawing/2014/main" id="{DB763C50-B82E-4ACD-8BC1-2FEC2A904C93}"/>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Make the vector calculation visible before using the convenience search method.</a:t>
            </a:r>
          </a:p>
        </p:txBody>
      </p:sp>
      <p:sp>
        <p:nvSpPr>
          <p:cNvPr id="4" name="text">
            <a:extLst xmlns:a="http://schemas.openxmlformats.org/drawingml/2006/main">
              <a:ext uri="{FF2B5EF4-FFF2-40B4-BE49-F238E27FC236}">
                <a16:creationId xmlns:a16="http://schemas.microsoft.com/office/drawing/2014/main" id="{52EB754A-95C5-4DC8-820C-7CAC4109933D}"/>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03  /  Embeddings and semantic search</a:t>
            </a:r>
          </a:p>
        </p:txBody>
      </p:sp>
      <p:sp>
        <p:nvSpPr>
          <p:cNvPr id="5" name="page-number">
            <a:extLst xmlns:a="http://schemas.openxmlformats.org/drawingml/2006/main">
              <a:ext uri="{FF2B5EF4-FFF2-40B4-BE49-F238E27FC236}">
                <a16:creationId xmlns:a16="http://schemas.microsoft.com/office/drawing/2014/main" id="{C49D29E0-A423-4292-B298-ECCDAC3CDACC}"/>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52E45335-557F-4E4E-B7BC-F73D7768B82B}"/>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FF76A844-190D-4D89-96E5-896B00224978}"/>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Geometry</a:t>
            </a:r>
          </a:p>
        </p:txBody>
      </p:sp>
      <p:sp>
        <p:nvSpPr>
          <p:cNvPr id="8" name="text">
            <a:extLst xmlns:a="http://schemas.openxmlformats.org/drawingml/2006/main">
              <a:ext uri="{FF2B5EF4-FFF2-40B4-BE49-F238E27FC236}">
                <a16:creationId xmlns:a16="http://schemas.microsoft.com/office/drawing/2014/main" id="{3A4FF468-9829-43EA-A643-952CA7717D1F}"/>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Sections 1–2: compare the toy vectors, normalized scores, and direction plot.</a:t>
            </a:r>
          </a:p>
        </p:txBody>
      </p:sp>
      <p:sp>
        <p:nvSpPr>
          <p:cNvPr id="9" name="text">
            <a:extLst xmlns:a="http://schemas.openxmlformats.org/drawingml/2006/main">
              <a:ext uri="{FF2B5EF4-FFF2-40B4-BE49-F238E27FC236}">
                <a16:creationId xmlns:a16="http://schemas.microsoft.com/office/drawing/2014/main" id="{79FD5994-66FB-4838-AC0E-4D6180397E54}"/>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6A30A4D0-E40F-4392-8453-AF169854C373}"/>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Real retrieval</a:t>
            </a:r>
          </a:p>
        </p:txBody>
      </p:sp>
      <p:sp>
        <p:nvSpPr>
          <p:cNvPr id="11" name="text">
            <a:extLst xmlns:a="http://schemas.openxmlformats.org/drawingml/2006/main">
              <a:ext uri="{FF2B5EF4-FFF2-40B4-BE49-F238E27FC236}">
                <a16:creationId xmlns:a16="http://schemas.microsoft.com/office/drawing/2014/main" id="{C822B265-41E4-42AD-AB63-061C304423D4}"/>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Sections 3–5: inspect the backend, matrix shape, manual search, and TF-IDF comparison.</a:t>
            </a:r>
          </a:p>
        </p:txBody>
      </p:sp>
      <p:sp>
        <p:nvSpPr>
          <p:cNvPr id="12" name="text">
            <a:extLst xmlns:a="http://schemas.openxmlformats.org/drawingml/2006/main">
              <a:ext uri="{FF2B5EF4-FFF2-40B4-BE49-F238E27FC236}">
                <a16:creationId xmlns:a16="http://schemas.microsoft.com/office/drawing/2014/main" id="{0E15A9EA-C69D-4B82-9DE8-738DDB385237}"/>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E6983B08-2948-4BF3-8C0C-6E2DAA84B6D5}"/>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Diagnostics</a:t>
            </a:r>
          </a:p>
        </p:txBody>
      </p:sp>
      <p:sp>
        <p:nvSpPr>
          <p:cNvPr id="14" name="text">
            <a:extLst xmlns:a="http://schemas.openxmlformats.org/drawingml/2006/main">
              <a:ext uri="{FF2B5EF4-FFF2-40B4-BE49-F238E27FC236}">
                <a16:creationId xmlns:a16="http://schemas.microsoft.com/office/drawing/2014/main" id="{08CF41D9-2EA4-49CF-AB14-4B7A72E1B90C}"/>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Sections 6–7: explain the heatmap and source-level hit@1 / hit@3 results.</a:t>
            </a:r>
          </a:p>
        </p:txBody>
      </p:sp>
      <p:sp>
        <p:nvSpPr>
          <p:cNvPr id="15" name="text">
            <a:extLst xmlns:a="http://schemas.openxmlformats.org/drawingml/2006/main">
              <a:ext uri="{FF2B5EF4-FFF2-40B4-BE49-F238E27FC236}">
                <a16:creationId xmlns:a16="http://schemas.microsoft.com/office/drawing/2014/main" id="{116E6FA9-81DD-4762-91AA-874387956DEA}"/>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73445D12-2247-413E-ABAD-BCE3CFCA73ED}"/>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Claude answer</a:t>
            </a:r>
          </a:p>
        </p:txBody>
      </p:sp>
      <p:sp>
        <p:nvSpPr>
          <p:cNvPr id="17" name="text">
            <a:extLst xmlns:a="http://schemas.openxmlformats.org/drawingml/2006/main">
              <a:ext uri="{FF2B5EF4-FFF2-40B4-BE49-F238E27FC236}">
                <a16:creationId xmlns:a16="http://schemas.microsoft.com/office/drawing/2014/main" id="{F46521BC-25DB-496C-B542-DBD50640494A}"/>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 8: verify Team's 600 requests/minute, HTTP 429, and Retry-After in the retrieved evidence.</a:t>
            </a:r>
          </a:p>
        </p:txBody>
      </p:sp>
    </p:spTree>
    <p:extLst>
      <p:ext uri="{BB962C8B-B14F-4D97-AF65-F5344CB8AC3E}">
        <p14:creationId xmlns:p14="http://schemas.microsoft.com/office/powerpoint/2010/main" val="964241607"/>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D4F06F5C-8DC4-497E-9AE5-803D34BC933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03</a:t>
            </a:r>
          </a:p>
        </p:txBody>
      </p:sp>
      <p:sp>
        <p:nvSpPr>
          <p:cNvPr id="2" name="slide-title">
            <a:extLst xmlns:a="http://schemas.openxmlformats.org/drawingml/2006/main">
              <a:ext uri="{FF2B5EF4-FFF2-40B4-BE49-F238E27FC236}">
                <a16:creationId xmlns:a16="http://schemas.microsoft.com/office/drawing/2014/main" id="{35C0B776-FD03-4410-9AD4-E726D14BC85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Write reusable search and test a paraphrase</a:t>
            </a:r>
          </a:p>
        </p:txBody>
      </p:sp>
      <p:sp>
        <p:nvSpPr>
          <p:cNvPr id="3" name="lead">
            <a:extLst xmlns:a="http://schemas.openxmlformats.org/drawingml/2006/main">
              <a:ext uri="{FF2B5EF4-FFF2-40B4-BE49-F238E27FC236}">
                <a16:creationId xmlns:a16="http://schemas.microsoft.com/office/drawing/2014/main" id="{15F4E573-8A3A-4606-AB21-58AD31FC388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small matrix-search function should handle input limits and preserve a traceable result.</a:t>
            </a:r>
          </a:p>
        </p:txBody>
      </p:sp>
      <p:sp>
        <p:nvSpPr>
          <p:cNvPr id="4" name="text">
            <a:extLst xmlns:a="http://schemas.openxmlformats.org/drawingml/2006/main">
              <a:ext uri="{FF2B5EF4-FFF2-40B4-BE49-F238E27FC236}">
                <a16:creationId xmlns:a16="http://schemas.microsoft.com/office/drawing/2014/main" id="{6C622312-A31E-4A8D-83B5-75BA206300D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03  /  Embeddings and semantic search</a:t>
            </a:r>
          </a:p>
        </p:txBody>
      </p:sp>
      <p:sp>
        <p:nvSpPr>
          <p:cNvPr id="5" name="page-number">
            <a:extLst xmlns:a="http://schemas.openxmlformats.org/drawingml/2006/main">
              <a:ext uri="{FF2B5EF4-FFF2-40B4-BE49-F238E27FC236}">
                <a16:creationId xmlns:a16="http://schemas.microsoft.com/office/drawing/2014/main" id="{1D1A4AA4-C983-4EE7-B927-22B77D0A4F7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0E89530A-AD5C-45D5-ACAF-D32BD8C3DD10}"/>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Implement</a:t>
            </a:r>
          </a:p>
        </p:txBody>
      </p:sp>
      <p:sp>
        <p:nvSpPr>
          <p:cNvPr id="7" name="text">
            <a:extLst xmlns:a="http://schemas.openxmlformats.org/drawingml/2006/main">
              <a:ext uri="{FF2B5EF4-FFF2-40B4-BE49-F238E27FC236}">
                <a16:creationId xmlns:a16="http://schemas.microsoft.com/office/drawing/2014/main" id="{76323300-3014-4352-A7C1-03B822C4E0A2}"/>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Accept a question and k; compute normalized dot products and return chunk ID / score pairs.</a:t>
            </a:r>
          </a:p>
        </p:txBody>
      </p:sp>
      <p:sp>
        <p:nvSpPr>
          <p:cNvPr id="8" name="text">
            <a:extLst xmlns:a="http://schemas.openxmlformats.org/drawingml/2006/main">
              <a:ext uri="{FF2B5EF4-FFF2-40B4-BE49-F238E27FC236}">
                <a16:creationId xmlns:a16="http://schemas.microsoft.com/office/drawing/2014/main" id="{39BB94AE-A2C0-49F4-AB03-8429CE32ED94}"/>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Validate</a:t>
            </a:r>
          </a:p>
        </p:txBody>
      </p:sp>
      <p:sp>
        <p:nvSpPr>
          <p:cNvPr id="9" name="text">
            <a:extLst xmlns:a="http://schemas.openxmlformats.org/drawingml/2006/main">
              <a:ext uri="{FF2B5EF4-FFF2-40B4-BE49-F238E27FC236}">
                <a16:creationId xmlns:a16="http://schemas.microsoft.com/office/drawing/2014/main" id="{2A1DD11B-9B22-47EE-8EB1-927C15EC48E2}"/>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Reject k ≤ 0, clamp k to corpus size, and return no hits for a zero query vector.</a:t>
            </a:r>
          </a:p>
        </p:txBody>
      </p:sp>
      <p:sp>
        <p:nvSpPr>
          <p:cNvPr id="10" name="text">
            <a:extLst xmlns:a="http://schemas.openxmlformats.org/drawingml/2006/main">
              <a:ext uri="{FF2B5EF4-FFF2-40B4-BE49-F238E27FC236}">
                <a16:creationId xmlns:a16="http://schemas.microsoft.com/office/drawing/2014/main" id="{1B5A3690-AA92-42A2-9943-2CB6E476D042}"/>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Try</a:t>
            </a:r>
          </a:p>
        </p:txBody>
      </p:sp>
      <p:sp>
        <p:nvSpPr>
          <p:cNvPr id="11" name="text">
            <a:extLst xmlns:a="http://schemas.openxmlformats.org/drawingml/2006/main">
              <a:ext uri="{FF2B5EF4-FFF2-40B4-BE49-F238E27FC236}">
                <a16:creationId xmlns:a16="http://schemas.microsoft.com/office/drawing/2014/main" id="{BAD00097-7720-4F1B-BEB8-1ACE96A135E8}"/>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Search professional development allowance and inspect whether the learning-budget source appears.</a:t>
            </a:r>
          </a:p>
        </p:txBody>
      </p:sp>
      <p:sp>
        <p:nvSpPr>
          <p:cNvPr id="12" name="text">
            <a:extLst xmlns:a="http://schemas.openxmlformats.org/drawingml/2006/main">
              <a:ext uri="{FF2B5EF4-FFF2-40B4-BE49-F238E27FC236}">
                <a16:creationId xmlns:a16="http://schemas.microsoft.com/office/drawing/2014/main" id="{BB56D1B5-79B6-4173-AB08-E6EEEEAF5EA3}"/>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discussion</a:t>
            </a:r>
          </a:p>
        </p:txBody>
      </p:sp>
      <p:sp>
        <p:nvSpPr>
          <p:cNvPr id="13" name="text">
            <a:extLst xmlns:a="http://schemas.openxmlformats.org/drawingml/2006/main">
              <a:ext uri="{FF2B5EF4-FFF2-40B4-BE49-F238E27FC236}">
                <a16:creationId xmlns:a16="http://schemas.microsoft.com/office/drawing/2014/main" id="{8F5B313E-67FF-4964-B8EE-222586749FA6}"/>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Explain the matrix axes, normalization, retrieved passage support, and limits of one successful synonym example.</a:t>
            </a:r>
          </a:p>
        </p:txBody>
      </p:sp>
    </p:spTree>
    <p:extLst>
      <p:ext uri="{BB962C8B-B14F-4D97-AF65-F5344CB8AC3E}">
        <p14:creationId xmlns:p14="http://schemas.microsoft.com/office/powerpoint/2010/main" val="12725042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2026-10-11T09:49:24.0820000Z</dcterms:created>
  <dcterms:modified xsi:type="dcterms:W3CDTF">2026-10-11T09:49:24.0820000Z</dcterms:modified>
</coreProperties>
</file>