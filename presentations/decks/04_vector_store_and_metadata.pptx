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7865f1dcd347ff" /><Relationship Type="http://schemas.openxmlformats.org/officeDocument/2006/relationships/extended-properties" Target="/docProps/app.xml" Id="R3fa233fa116e475b" /><Relationship Type="http://schemas.openxmlformats.org/officeDocument/2006/relationships/officeDocument" Target="/ppt/presentation.xml" Id="R15e9040abbeb4a08" /></Relationships>
</file>

<file path=ppt/presentation.xml><?xml version="1.0" encoding="utf-8"?>
<p:presentation xmlns:p="http://schemas.openxmlformats.org/presentationml/2006/main">
  <p:sldMasterIdLst>
    <p:sldMasterId xmlns:r="http://schemas.openxmlformats.org/officeDocument/2006/relationships" id="2147483648" r:id="Rd162c785104a4b34"/>
  </p:sldMasterIdLst>
  <p:notesMasterIdLst>
    <p:notesMasterId xmlns:r="http://schemas.openxmlformats.org/officeDocument/2006/relationships" r:id="R8b4223bd4b4440ba"/>
  </p:notesMasterIdLst>
  <p:sldIdLst>
    <p:sldId xmlns:r="http://schemas.openxmlformats.org/officeDocument/2006/relationships" id="256" r:id="Rb1a36317e99a4f5e"/>
    <p:sldId xmlns:r="http://schemas.openxmlformats.org/officeDocument/2006/relationships" id="257" r:id="R517248880ae8417c"/>
    <p:sldId xmlns:r="http://schemas.openxmlformats.org/officeDocument/2006/relationships" id="258" r:id="Ra512252e9f704db6"/>
    <p:sldId xmlns:r="http://schemas.openxmlformats.org/officeDocument/2006/relationships" id="259" r:id="R6433242a76d44ae4"/>
    <p:sldId xmlns:r="http://schemas.openxmlformats.org/officeDocument/2006/relationships" id="260" r:id="R4bf6b24a53494014"/>
    <p:sldId xmlns:r="http://schemas.openxmlformats.org/officeDocument/2006/relationships" id="261" r:id="R55cd4cfbe35b4ad5"/>
    <p:sldId xmlns:r="http://schemas.openxmlformats.org/officeDocument/2006/relationships" id="262" r:id="R5f2ad477c72c4b4f"/>
    <p:sldId xmlns:r="http://schemas.openxmlformats.org/officeDocument/2006/relationships" id="263" r:id="R57c15097bcc44e01"/>
    <p:sldId xmlns:r="http://schemas.openxmlformats.org/officeDocument/2006/relationships" id="264" r:id="R218eee80937345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9abbf5c80e4b61" /><Relationship Type="http://schemas.openxmlformats.org/officeDocument/2006/relationships/slideMaster" Target="/ppt/slideMasters/slideMaster1.xml" Id="Rd162c785104a4b34" /><Relationship Type="http://schemas.openxmlformats.org/officeDocument/2006/relationships/notesMaster" Target="/ppt/notesMasters/notesMaster1.xml" Id="R8b4223bd4b4440ba" /><Relationship Type="http://schemas.openxmlformats.org/officeDocument/2006/relationships/presProps" Target="/ppt/presProps.xml" Id="R9fb7b010bd874c35" /><Relationship Type="http://schemas.openxmlformats.org/officeDocument/2006/relationships/tableStyles" Target="/ppt/tableStyles.xml" Id="R9867ac4dec7642b5" /><Relationship Type="http://schemas.openxmlformats.org/officeDocument/2006/relationships/slide" Target="/ppt/slides/slide1.xml" Id="Rb1a36317e99a4f5e" /><Relationship Type="http://schemas.openxmlformats.org/officeDocument/2006/relationships/slide" Target="/ppt/slides/slide2.xml" Id="R517248880ae8417c" /><Relationship Type="http://schemas.openxmlformats.org/officeDocument/2006/relationships/slide" Target="/ppt/slides/slide3.xml" Id="Ra512252e9f704db6" /><Relationship Type="http://schemas.openxmlformats.org/officeDocument/2006/relationships/slide" Target="/ppt/slides/slide4.xml" Id="R6433242a76d44ae4" /><Relationship Type="http://schemas.openxmlformats.org/officeDocument/2006/relationships/slide" Target="/ppt/slides/slide5.xml" Id="R4bf6b24a53494014" /><Relationship Type="http://schemas.openxmlformats.org/officeDocument/2006/relationships/slide" Target="/ppt/slides/slide6.xml" Id="R55cd4cfbe35b4ad5" /><Relationship Type="http://schemas.openxmlformats.org/officeDocument/2006/relationships/slide" Target="/ppt/slides/slide7.xml" Id="R5f2ad477c72c4b4f" /><Relationship Type="http://schemas.openxmlformats.org/officeDocument/2006/relationships/slide" Target="/ppt/slides/slide8.xml" Id="R57c15097bcc44e01" /><Relationship Type="http://schemas.openxmlformats.org/officeDocument/2006/relationships/slide" Target="/ppt/slides/slide9.xml" Id="R218eee80937345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9a877f4f604c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e604ffc167410e" /><Relationship Type="http://schemas.openxmlformats.org/officeDocument/2006/relationships/notesMaster" Target="/ppt/notesMasters/notesMaster1.xml" Id="Rcd706076df9e48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2d6dbd22b548bd" /><Relationship Type="http://schemas.openxmlformats.org/officeDocument/2006/relationships/notesMaster" Target="/ppt/notesMasters/notesMaster1.xml" Id="R4f85beb8a50649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7ee1fd20c443d8" /><Relationship Type="http://schemas.openxmlformats.org/officeDocument/2006/relationships/notesMaster" Target="/ppt/notesMasters/notesMaster1.xml" Id="Re20b54f9062e4d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e17995c8da4f6e" /><Relationship Type="http://schemas.openxmlformats.org/officeDocument/2006/relationships/notesMaster" Target="/ppt/notesMasters/notesMaster1.xml" Id="Recaae4d7804a40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570e637e9845c6" /><Relationship Type="http://schemas.openxmlformats.org/officeDocument/2006/relationships/notesMaster" Target="/ppt/notesMasters/notesMaster1.xml" Id="R2d6f7c60932244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c5873f43fa4556" /><Relationship Type="http://schemas.openxmlformats.org/officeDocument/2006/relationships/notesMaster" Target="/ppt/notesMasters/notesMaster1.xml" Id="Ra6d48857383346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85d6f1bc5d484e" /><Relationship Type="http://schemas.openxmlformats.org/officeDocument/2006/relationships/notesMaster" Target="/ppt/notesMasters/notesMaster1.xml" Id="R2524eb2533e54f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10e5543ac64ffa" /><Relationship Type="http://schemas.openxmlformats.org/officeDocument/2006/relationships/notesMaster" Target="/ppt/notesMasters/notesMaster1.xml" Id="R1180dcbbcea249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1675f0be814fc1" /><Relationship Type="http://schemas.openxmlformats.org/officeDocument/2006/relationships/notesMaster" Target="/ppt/notesMasters/notesMaster1.xml" Id="R39169dcb1ac546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notebooks/04_vector_store_and_metadata.ipynb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notebooks/04_vector_store_and_metadata.ipynb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section 1 and relate the four stored fields to the in-memory DenseIndex from notebook 03. Persistence means the records remain available to another client or a later notebook session. Metadata selects eligible records but does not replace the factual text. The live lesson uses local embeddings and supplies all vectors to Chroma; there is no hosted embedding API call. Offline mode still uses a real Chroma database, but the stored vectors come from an explicitly labeled lexical backend. This distinction matters when interpreting the demonstration.</a:t>
            </a:r>
          </a:p>
          <a:p xmlns:a="http://schemas.openxmlformats.org/drawingml/2006/main">
            <a:r>
              <a:t/>
            </a:r>
          </a:p>
          <a:p xmlns:a="http://schemas.openxmlformats.org/drawingml/2006/main">
            <a:r>
              <a:t>NOTEBOOK: notebooks/04_vector_store_and_metadata.ipynb</a:t>
            </a:r>
          </a:p>
          <a:p xmlns:a="http://schemas.openxmlformats.org/drawingml/2006/main">
            <a:r>
              <a:t/>
            </a:r>
          </a:p>
          <a:p xmlns:a="http://schemas.openxmlformats.org/drawingml/2006/main">
            <a:r>
              <a:t>SOURCES</a:t>
            </a:r>
          </a:p>
          <a:p xmlns:a="http://schemas.openxmlformats.org/drawingml/2006/main">
            <a:r>
              <a:t>notebooks/04_vector_store_and_metadata.ipynb — introduction and Step 1</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2 builds an identity object and hashes it to create the collection name. Explain the intended behavior: identical reruns reuse the collection, while changed data or encoding assumptions create another collection. This prevents stale chunks and incompatible spaces from mixing in the exercise. Old fingerprinted collections remain on disk, so fingerprinting is not a complete lifecycle-cleanup strategy. Show the collection name and path without exposing environment secrets. Emphasize that the application owns embedding generation here, which makes the model and preprocessing choices explicit.</a:t>
            </a:r>
          </a:p>
          <a:p xmlns:a="http://schemas.openxmlformats.org/drawingml/2006/main">
            <a:r>
              <a:t/>
            </a:r>
          </a:p>
          <a:p xmlns:a="http://schemas.openxmlformats.org/drawingml/2006/main">
            <a:r>
              <a:t>NOTEBOOK: notebooks/04_vector_store_and_metadata.ipynb</a:t>
            </a:r>
          </a:p>
          <a:p xmlns:a="http://schemas.openxmlformats.org/drawingml/2006/main">
            <a:r>
              <a:t/>
            </a:r>
          </a:p>
          <a:p xmlns:a="http://schemas.openxmlformats.org/drawingml/2006/main">
            <a:r>
              <a:t>SOURCES</a:t>
            </a:r>
          </a:p>
          <a:p xmlns:a="http://schemas.openxmlformats.org/drawingml/2006/main">
            <a:r>
              <a:t>notebooks/04_vector_store_and_metadata.ipynb — Step 2</a:t>
            </a:r>
          </a:p>
          <a:p xmlns:a="http://schemas.openxmlformats.org/drawingml/2006/main">
            <a:r>
              <a:t>https://docs.trychroma.com/docs/collections/configure</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Step 3 and ask the audience to predict what should happen to the count after the second upsert. If IDs are stable, the second write replaces the same records instead of creating duplicates. Then construct the second client and show that the collection is available independently of the first client variable. A title is not a robust unique identifier, because separate sources can share a title. The notebook fits the entire tiny corpus into one payload; explicitly distinguish that teaching convenience from the batching and deletion requirements of a larger ingestion system.</a:t>
            </a:r>
          </a:p>
          <a:p xmlns:a="http://schemas.openxmlformats.org/drawingml/2006/main">
            <a:r>
              <a:t/>
            </a:r>
          </a:p>
          <a:p xmlns:a="http://schemas.openxmlformats.org/drawingml/2006/main">
            <a:r>
              <a:t>NOTEBOOK: notebooks/04_vector_store_and_metadata.ipynb</a:t>
            </a:r>
          </a:p>
          <a:p xmlns:a="http://schemas.openxmlformats.org/drawingml/2006/main">
            <a:r>
              <a:t/>
            </a:r>
          </a:p>
          <a:p xmlns:a="http://schemas.openxmlformats.org/drawingml/2006/main">
            <a:r>
              <a:t>SOURCES</a:t>
            </a:r>
          </a:p>
          <a:p xmlns:a="http://schemas.openxmlformats.org/drawingml/2006/main">
            <a:r>
              <a:t>notebooks/04_vector_store_and_metadata.ipynb — Step 3</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Step 4's distance and similarity table to explain score direction. The numerical conversion shown on the slide is a simple illustration of the exact metric used in this collection, not a measured result. Do not generalize the transformation to every distance function. The helper preserves distance while adapting the result to the workshop's common score format. It also handles invalid k, empty eligibility, and zero query vectors. Read the text behind a close match because mathematical proximity still does not establish that the passage answers the question.</a:t>
            </a:r>
          </a:p>
          <a:p xmlns:a="http://schemas.openxmlformats.org/drawingml/2006/main">
            <a:r>
              <a:t/>
            </a:r>
          </a:p>
          <a:p xmlns:a="http://schemas.openxmlformats.org/drawingml/2006/main">
            <a:r>
              <a:t>NOTEBOOK: notebooks/04_vector_store_and_metadata.ipynb</a:t>
            </a:r>
          </a:p>
          <a:p xmlns:a="http://schemas.openxmlformats.org/drawingml/2006/main">
            <a:r>
              <a:t/>
            </a:r>
          </a:p>
          <a:p xmlns:a="http://schemas.openxmlformats.org/drawingml/2006/main">
            <a:r>
              <a:t>SOURCES</a:t>
            </a:r>
          </a:p>
          <a:p xmlns:a="http://schemas.openxmlformats.org/drawingml/2006/main">
            <a:r>
              <a:t>notebooks/04_vector_store_and_metadata.ipynb — Step 4</a:t>
            </a:r>
          </a:p>
          <a:p xmlns:a="http://schemas.openxmlformats.org/drawingml/2006/main">
            <a:r>
              <a:t>https://docs.trychroma.com/docs/querying-collections/query-and-get</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5 derives the HR department value from the actual benefits record, avoiding hard-coded assumptions about the label's spelling. Demonstrate the department filter, combined conditions, and missing-department result. A filter narrows the eligible candidate set before ranking, which preserves the intended top-k meaning within that scope. Clarify that allowing a caller to choose arbitrary access labels is not authorization. Step 6 then generates from the filtered evidence and checks the carry-forward facts. The retrieved text and citation support remain essential even after eligibility has been handled correctly.</a:t>
            </a:r>
          </a:p>
          <a:p xmlns:a="http://schemas.openxmlformats.org/drawingml/2006/main">
            <a:r>
              <a:t/>
            </a:r>
          </a:p>
          <a:p xmlns:a="http://schemas.openxmlformats.org/drawingml/2006/main">
            <a:r>
              <a:t>NOTEBOOK: notebooks/04_vector_store_and_metadata.ipynb</a:t>
            </a:r>
          </a:p>
          <a:p xmlns:a="http://schemas.openxmlformats.org/drawingml/2006/main">
            <a:r>
              <a:t/>
            </a:r>
          </a:p>
          <a:p xmlns:a="http://schemas.openxmlformats.org/drawingml/2006/main">
            <a:r>
              <a:t>SOURCES</a:t>
            </a:r>
          </a:p>
          <a:p xmlns:a="http://schemas.openxmlformats.org/drawingml/2006/main">
            <a:r>
              <a:t>notebooks/04_vector_store_and_metadata.ipynb — Steps 5 and 6</a:t>
            </a:r>
          </a:p>
          <a:p xmlns:a="http://schemas.openxmlformats.org/drawingml/2006/main">
            <a:r>
              <a:t>https://docs.trychroma.com/docs/querying-collections/metadata-filtering</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7 teaches the record lifecycle on one clearly disposable record. The initial text concerns annual leave and the replacement concerns travel expenses, so the vector must change with the text. Explain how a stale vector can retrieve content for the wrong semantic reason even though the visible stored text looks current. The finally block removes the temporary ID if an error occurs, and the count assertion confirms that policy records remain. Avoid broad deletion commands during a demonstration; the notebook intentionally scopes the mutation to one known record.</a:t>
            </a:r>
          </a:p>
          <a:p xmlns:a="http://schemas.openxmlformats.org/drawingml/2006/main">
            <a:r>
              <a:t/>
            </a:r>
          </a:p>
          <a:p xmlns:a="http://schemas.openxmlformats.org/drawingml/2006/main">
            <a:r>
              <a:t>NOTEBOOK: notebooks/04_vector_store_and_metadata.ipynb</a:t>
            </a:r>
          </a:p>
          <a:p xmlns:a="http://schemas.openxmlformats.org/drawingml/2006/main">
            <a:r>
              <a:t/>
            </a:r>
          </a:p>
          <a:p xmlns:a="http://schemas.openxmlformats.org/drawingml/2006/main">
            <a:r>
              <a:t>SOURCES</a:t>
            </a:r>
          </a:p>
          <a:p xmlns:a="http://schemas.openxmlformats.org/drawingml/2006/main">
            <a:r>
              <a:t>notebooks/04_vector_store_and_metadata.ipynb — Step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demo sequence to prove each claim with an observable output. Collection counts prove repeatable storage mechanics, but not search relevance. Filter assertions prove metadata eligibility, but not that a selected passage answers the question. The answer then needs its own factual and citation check. Step 8 asks about paid leave and remote work to reveal how k affects source coverage. Keep the tiny corpus's limitations explicit: its response time cannot establish production scalability, and offline lexical vectors validate the plumbing rather than semantic retrieval quality.</a:t>
            </a:r>
          </a:p>
          <a:p xmlns:a="http://schemas.openxmlformats.org/drawingml/2006/main">
            <a:r>
              <a:t/>
            </a:r>
          </a:p>
          <a:p xmlns:a="http://schemas.openxmlformats.org/drawingml/2006/main">
            <a:r>
              <a:t>NOTEBOOK: notebooks/04_vector_store_and_metadata.ipynb</a:t>
            </a:r>
          </a:p>
          <a:p xmlns:a="http://schemas.openxmlformats.org/drawingml/2006/main">
            <a:r>
              <a:t/>
            </a:r>
          </a:p>
          <a:p xmlns:a="http://schemas.openxmlformats.org/drawingml/2006/main">
            <a:r>
              <a:t>SOURCES</a:t>
            </a:r>
          </a:p>
          <a:p xmlns:a="http://schemas.openxmlformats.org/drawingml/2006/main">
            <a:r>
              <a:t>notebooks/04_vector_store_and_metadata.ipynb — Steps 1–8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Your turn section and sample solution. Learners should derive the filter from the corpus instead of guessing a department string. After the metadata assertion passes, require a separate read of the evidence, because a correct filter can still produce irrelevant nearest neighbors. As a variation, ask a product question under the HR filter and discuss insufficient evidence. Finish by asking why fingerprinting includes both data and embedding configuration, and why equal vector dimensions are insufficient to establish compatibility between two embedding models.</a:t>
            </a:r>
          </a:p>
          <a:p xmlns:a="http://schemas.openxmlformats.org/drawingml/2006/main">
            <a:r>
              <a:t/>
            </a:r>
          </a:p>
          <a:p xmlns:a="http://schemas.openxmlformats.org/drawingml/2006/main">
            <a:r>
              <a:t>NOTEBOOK: notebooks/04_vector_store_and_metadata.ipynb</a:t>
            </a:r>
          </a:p>
          <a:p xmlns:a="http://schemas.openxmlformats.org/drawingml/2006/main">
            <a:r>
              <a:t/>
            </a:r>
          </a:p>
          <a:p xmlns:a="http://schemas.openxmlformats.org/drawingml/2006/main">
            <a:r>
              <a:t>SOURCES</a:t>
            </a:r>
          </a:p>
          <a:p xmlns:a="http://schemas.openxmlformats.org/drawingml/2006/main">
            <a:r>
              <a:t>notebooks/04_vector_store_and_metadata.ipynb — Step 8 and Your turn</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f4d7aa822e40d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9754b2c02c46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64dbf53f804f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02dcf4be0b4a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87ff1fc68647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06ece5d35445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FC2DF4-8193-46D6-810E-7342ACF094F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3FBB03-66FB-4B54-9852-E217897174F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18C3E2-34A2-422D-825F-2D1EBB419A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0992B8-EC48-4C80-B6FA-1A85DC6042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598959-5BF3-475A-B5D3-5FFE2AB5BC0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33A9EF-612D-47EF-8073-A1945CA5ED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D61032-07D2-4B0A-A0C9-231D323051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D2AFF71-0DFE-4F59-A0EE-FA11A005D0C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C9C548-3923-4BFF-9042-3D16D2D09D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7D050E-B07C-4C98-9F76-5800B0C30C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001dca46084364" /><Relationship Type="http://schemas.openxmlformats.org/officeDocument/2006/relationships/slideLayout" Target="/ppt/slideLayouts/slideLayout1.xml" Id="R89821d653a1b4552" /><Relationship Type="http://schemas.openxmlformats.org/officeDocument/2006/relationships/slideLayout" Target="/ppt/slideLayouts/slideLayout2.xml" Id="Rdd1822f9c1c346dc" /><Relationship Type="http://schemas.openxmlformats.org/officeDocument/2006/relationships/slideLayout" Target="/ppt/slideLayouts/slideLayout3.xml" Id="R2d8bb9b4d5bf45a1" /><Relationship Type="http://schemas.openxmlformats.org/officeDocument/2006/relationships/slideLayout" Target="/ppt/slideLayouts/slideLayout4.xml" Id="R0c5b8b18357c43d3" /><Relationship Type="http://schemas.openxmlformats.org/officeDocument/2006/relationships/slideLayout" Target="/ppt/slideLayouts/slideLayout5.xml" Id="R6a801e0ae60947bc" /><Relationship Type="http://schemas.openxmlformats.org/officeDocument/2006/relationships/slideLayout" Target="/ppt/slideLayouts/slideLayout6.xml" Id="Rf61dd5b17b5146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821d653a1b4552"/>
    <p:sldLayoutId xmlns:r="http://schemas.openxmlformats.org/officeDocument/2006/relationships" id="2147483650" r:id="Rdd1822f9c1c346dc"/>
    <p:sldLayoutId xmlns:r="http://schemas.openxmlformats.org/officeDocument/2006/relationships" id="2147483651" r:id="R2d8bb9b4d5bf45a1"/>
    <p:sldLayoutId xmlns:r="http://schemas.openxmlformats.org/officeDocument/2006/relationships" id="2147483652" r:id="R0c5b8b18357c43d3"/>
    <p:sldLayoutId xmlns:r="http://schemas.openxmlformats.org/officeDocument/2006/relationships" id="2147483653" r:id="R6a801e0ae60947bc"/>
    <p:sldLayoutId xmlns:r="http://schemas.openxmlformats.org/officeDocument/2006/relationships" id="2147483654" r:id="Rf61dd5b17b5146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e1292ba0b544da" /><Relationship Type="http://schemas.openxmlformats.org/officeDocument/2006/relationships/image" Target="/ppt/media/image.png" Id="R603a5c6d9c7841f0" /><Relationship Type="http://schemas.openxmlformats.org/officeDocument/2006/relationships/notesSlide" Target="/ppt/notesSlides/notesSlide1.xml" Id="R10148b3a588741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dc0c5140f6c4249" /><Relationship Type="http://schemas.openxmlformats.org/officeDocument/2006/relationships/notesSlide" Target="/ppt/notesSlides/notesSlide2.xml" Id="Re91a90d93cde4d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a8541024a1a4e5b" /><Relationship Type="http://schemas.openxmlformats.org/officeDocument/2006/relationships/notesSlide" Target="/ppt/notesSlides/notesSlide3.xml" Id="Rf1f311f0c39048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b703d1ea974924" /><Relationship Type="http://schemas.openxmlformats.org/officeDocument/2006/relationships/notesSlide" Target="/ppt/notesSlides/notesSlide4.xml" Id="Rc6d43d2bcde245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8492ae5ae44afb" /><Relationship Type="http://schemas.openxmlformats.org/officeDocument/2006/relationships/notesSlide" Target="/ppt/notesSlides/notesSlide5.xml" Id="Rba13e614f8e24d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36ddd2dad44206" /><Relationship Type="http://schemas.openxmlformats.org/officeDocument/2006/relationships/notesSlide" Target="/ppt/notesSlides/notesSlide6.xml" Id="R914b5d90e9e84e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523ebc87364358" /><Relationship Type="http://schemas.openxmlformats.org/officeDocument/2006/relationships/notesSlide" Target="/ppt/notesSlides/notesSlide7.xml" Id="Rd9717d6e83c54a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9551aabd88449c8" /><Relationship Type="http://schemas.openxmlformats.org/officeDocument/2006/relationships/notesSlide" Target="/ppt/notesSlides/notesSlide8.xml" Id="R22fea4d8c9a94d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871391655ba47b5" /><Relationship Type="http://schemas.openxmlformats.org/officeDocument/2006/relationships/notesSlide" Target="/ppt/notesSlides/notesSlide9.xml" Id="R55a915a251bd4f9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4E0138E-F61E-450C-BD45-093D74FFCA29}"/>
              </a:ext>
            </a:extLst>
          </p:cNvPr>
          <p:cNvPicPr>
            <a:picLocks xmlns:a="http://schemas.openxmlformats.org/drawingml/2006/main" noChangeAspect="1"/>
          </p:cNvPicPr>
          <p:nvPr/>
        </p:nvPicPr>
        <p:blipFill>
          <a:blip xmlns:r="http://schemas.openxmlformats.org/officeDocument/2006/relationships" xmlns:a="http://schemas.openxmlformats.org/drawingml/2006/main" r:embed="R603a5c6d9c7841f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CD98F43B-38B7-4A5A-8868-50545F8379FD}"/>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04</a:t>
            </a:r>
          </a:p>
        </p:txBody>
      </p:sp>
      <p:sp>
        <p:nvSpPr>
          <p:cNvPr id="3" name="deck-title">
            <a:extLst xmlns:a="http://schemas.openxmlformats.org/drawingml/2006/main">
              <a:ext uri="{FF2B5EF4-FFF2-40B4-BE49-F238E27FC236}">
                <a16:creationId xmlns:a16="http://schemas.microsoft.com/office/drawing/2014/main" id="{9BA7BEA6-2DA4-4C9C-9501-29554FBF05EB}"/>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Persistent vector stores and metadata</a:t>
            </a:r>
          </a:p>
        </p:txBody>
      </p:sp>
      <p:sp>
        <p:nvSpPr>
          <p:cNvPr id="4" name="text">
            <a:extLst xmlns:a="http://schemas.openxmlformats.org/drawingml/2006/main">
              <a:ext uri="{FF2B5EF4-FFF2-40B4-BE49-F238E27FC236}">
                <a16:creationId xmlns:a16="http://schemas.microsoft.com/office/drawing/2014/main" id="{48402160-AC98-477D-9395-D13A97FE3FAB}"/>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Chroma · Repeatable ingestion · Filters · Record lifecycle</a:t>
            </a:r>
          </a:p>
        </p:txBody>
      </p:sp>
      <p:sp>
        <p:nvSpPr>
          <p:cNvPr id="5" name="text">
            <a:extLst xmlns:a="http://schemas.openxmlformats.org/drawingml/2006/main">
              <a:ext uri="{FF2B5EF4-FFF2-40B4-BE49-F238E27FC236}">
                <a16:creationId xmlns:a16="http://schemas.microsoft.com/office/drawing/2014/main" id="{C77B153E-9BAC-470C-B65C-4FDC1C942D1E}"/>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04_vector_store_and_metadata.ipynb</a:t>
            </a:r>
          </a:p>
        </p:txBody>
      </p:sp>
    </p:spTree>
    <p:extLst>
      <p:ext uri="{BB962C8B-B14F-4D97-AF65-F5344CB8AC3E}">
        <p14:creationId xmlns:p14="http://schemas.microsoft.com/office/powerpoint/2010/main" val="922163592"/>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3860303D-62C6-4C31-8B26-F79B6EE1D6C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04</a:t>
            </a:r>
          </a:p>
        </p:txBody>
      </p:sp>
      <p:sp>
        <p:nvSpPr>
          <p:cNvPr id="2" name="slide-title">
            <a:extLst xmlns:a="http://schemas.openxmlformats.org/drawingml/2006/main">
              <a:ext uri="{FF2B5EF4-FFF2-40B4-BE49-F238E27FC236}">
                <a16:creationId xmlns:a16="http://schemas.microsoft.com/office/drawing/2014/main" id="{F3A73861-9A63-4081-B705-C8017D0B7BE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vector store persists searchable records</a:t>
            </a:r>
          </a:p>
        </p:txBody>
      </p:sp>
      <p:sp>
        <p:nvSpPr>
          <p:cNvPr id="3" name="lead">
            <a:extLst xmlns:a="http://schemas.openxmlformats.org/drawingml/2006/main">
              <a:ext uri="{FF2B5EF4-FFF2-40B4-BE49-F238E27FC236}">
                <a16:creationId xmlns:a16="http://schemas.microsoft.com/office/drawing/2014/main" id="{962CF4FF-31CE-4F77-837A-79C4F872F2CB}"/>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Each stored chunk needs its identity, vector, source text, and metadata together.</a:t>
            </a:r>
          </a:p>
        </p:txBody>
      </p:sp>
      <p:sp>
        <p:nvSpPr>
          <p:cNvPr id="4" name="text">
            <a:extLst xmlns:a="http://schemas.openxmlformats.org/drawingml/2006/main">
              <a:ext uri="{FF2B5EF4-FFF2-40B4-BE49-F238E27FC236}">
                <a16:creationId xmlns:a16="http://schemas.microsoft.com/office/drawing/2014/main" id="{AF2F59CE-39A6-40B3-A1F7-14BD66E9ECD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04  /  Persistent vector stores and metadata</a:t>
            </a:r>
          </a:p>
        </p:txBody>
      </p:sp>
      <p:sp>
        <p:nvSpPr>
          <p:cNvPr id="5" name="page-number">
            <a:extLst xmlns:a="http://schemas.openxmlformats.org/drawingml/2006/main">
              <a:ext uri="{FF2B5EF4-FFF2-40B4-BE49-F238E27FC236}">
                <a16:creationId xmlns:a16="http://schemas.microsoft.com/office/drawing/2014/main" id="{416A286F-8943-4B38-9ACD-77313B325C7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sp>
        <p:nvSpPr>
          <p:cNvPr id="6" name="text">
            <a:extLst xmlns:a="http://schemas.openxmlformats.org/drawingml/2006/main">
              <a:ext uri="{FF2B5EF4-FFF2-40B4-BE49-F238E27FC236}">
                <a16:creationId xmlns:a16="http://schemas.microsoft.com/office/drawing/2014/main" id="{1B56FFFA-F278-4226-946B-C70EFB96405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ID</a:t>
            </a:r>
          </a:p>
        </p:txBody>
      </p:sp>
      <p:sp>
        <p:nvSpPr>
          <p:cNvPr id="7" name="text">
            <a:extLst xmlns:a="http://schemas.openxmlformats.org/drawingml/2006/main">
              <a:ext uri="{FF2B5EF4-FFF2-40B4-BE49-F238E27FC236}">
                <a16:creationId xmlns:a16="http://schemas.microsoft.com/office/drawing/2014/main" id="{D2025512-E2CE-4DA7-AE5B-379F5B0F538A}"/>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Identifies the chunk for repeatable inserts, updates, lookups, and deletion.</a:t>
            </a:r>
          </a:p>
        </p:txBody>
      </p:sp>
      <p:sp>
        <p:nvSpPr>
          <p:cNvPr id="8" name="text">
            <a:extLst xmlns:a="http://schemas.openxmlformats.org/drawingml/2006/main">
              <a:ext uri="{FF2B5EF4-FFF2-40B4-BE49-F238E27FC236}">
                <a16:creationId xmlns:a16="http://schemas.microsoft.com/office/drawing/2014/main" id="{23A38BC2-B4F7-4C5A-B30B-745BC649726D}"/>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Embedding</a:t>
            </a:r>
          </a:p>
        </p:txBody>
      </p:sp>
      <p:sp>
        <p:nvSpPr>
          <p:cNvPr id="9" name="text">
            <a:extLst xmlns:a="http://schemas.openxmlformats.org/drawingml/2006/main">
              <a:ext uri="{FF2B5EF4-FFF2-40B4-BE49-F238E27FC236}">
                <a16:creationId xmlns:a16="http://schemas.microsoft.com/office/drawing/2014/main" id="{DF006EC3-6E5A-4059-882B-CDB6523EFD2D}"/>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Supports nearest-neighbor retrieval using the same encoding model as incoming questions.</a:t>
            </a:r>
          </a:p>
        </p:txBody>
      </p:sp>
      <p:sp>
        <p:nvSpPr>
          <p:cNvPr id="10" name="text">
            <a:extLst xmlns:a="http://schemas.openxmlformats.org/drawingml/2006/main">
              <a:ext uri="{FF2B5EF4-FFF2-40B4-BE49-F238E27FC236}">
                <a16:creationId xmlns:a16="http://schemas.microsoft.com/office/drawing/2014/main" id="{A350811A-55EF-4FF5-9CE6-29506DF21042}"/>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Text</a:t>
            </a:r>
          </a:p>
        </p:txBody>
      </p:sp>
      <p:sp>
        <p:nvSpPr>
          <p:cNvPr id="11" name="text">
            <a:extLst xmlns:a="http://schemas.openxmlformats.org/drawingml/2006/main">
              <a:ext uri="{FF2B5EF4-FFF2-40B4-BE49-F238E27FC236}">
                <a16:creationId xmlns:a16="http://schemas.microsoft.com/office/drawing/2014/main" id="{7AF5EE4D-7C36-462F-967F-9EADDF6183E4}"/>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Provides the actual evidence passed to the generator after retrieval.</a:t>
            </a:r>
          </a:p>
        </p:txBody>
      </p:sp>
      <p:sp>
        <p:nvSpPr>
          <p:cNvPr id="12" name="text">
            <a:extLst xmlns:a="http://schemas.openxmlformats.org/drawingml/2006/main">
              <a:ext uri="{FF2B5EF4-FFF2-40B4-BE49-F238E27FC236}">
                <a16:creationId xmlns:a16="http://schemas.microsoft.com/office/drawing/2014/main" id="{80EAA395-8C62-488A-A8E5-E57A3CE40C20}"/>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Metadata</a:t>
            </a:r>
          </a:p>
        </p:txBody>
      </p:sp>
      <p:sp>
        <p:nvSpPr>
          <p:cNvPr id="13" name="text">
            <a:extLst xmlns:a="http://schemas.openxmlformats.org/drawingml/2006/main">
              <a:ext uri="{FF2B5EF4-FFF2-40B4-BE49-F238E27FC236}">
                <a16:creationId xmlns:a16="http://schemas.microsoft.com/office/drawing/2014/main" id="{3F3F4C69-E96C-419F-8389-04788C7E3020}"/>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Supports eligibility filters and provenance, such as department, visibility, and source ID.</a:t>
            </a:r>
          </a:p>
        </p:txBody>
      </p:sp>
    </p:spTree>
    <p:extLst>
      <p:ext uri="{BB962C8B-B14F-4D97-AF65-F5344CB8AC3E}">
        <p14:creationId xmlns:p14="http://schemas.microsoft.com/office/powerpoint/2010/main" val="1306204513"/>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332B163F-9F7E-49A5-9371-FD3E1507CD0D}"/>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04</a:t>
            </a:r>
          </a:p>
        </p:txBody>
      </p:sp>
      <p:sp>
        <p:nvSpPr>
          <p:cNvPr id="2" name="slide-title">
            <a:extLst xmlns:a="http://schemas.openxmlformats.org/drawingml/2006/main">
              <a:ext uri="{FF2B5EF4-FFF2-40B4-BE49-F238E27FC236}">
                <a16:creationId xmlns:a16="http://schemas.microsoft.com/office/drawing/2014/main" id="{5D215BFC-81A7-4CFC-B1DB-77ABD5ADC5E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Create a collection that matches its contents</a:t>
            </a:r>
          </a:p>
        </p:txBody>
      </p:sp>
      <p:sp>
        <p:nvSpPr>
          <p:cNvPr id="3" name="lead">
            <a:extLst xmlns:a="http://schemas.openxmlformats.org/drawingml/2006/main">
              <a:ext uri="{FF2B5EF4-FFF2-40B4-BE49-F238E27FC236}">
                <a16:creationId xmlns:a16="http://schemas.microsoft.com/office/drawing/2014/main" id="{2F01C0F5-7027-478A-BB13-579E9B9CC021}"/>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reproducible fingerprint prevents incompatible configurations from silently sharing one collection.</a:t>
            </a:r>
          </a:p>
        </p:txBody>
      </p:sp>
      <p:sp>
        <p:nvSpPr>
          <p:cNvPr id="4" name="text">
            <a:extLst xmlns:a="http://schemas.openxmlformats.org/drawingml/2006/main">
              <a:ext uri="{FF2B5EF4-FFF2-40B4-BE49-F238E27FC236}">
                <a16:creationId xmlns:a16="http://schemas.microsoft.com/office/drawing/2014/main" id="{E79DD54E-2349-41BF-BBC2-0EC42983671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04  /  Persistent vector stores and metadata</a:t>
            </a:r>
          </a:p>
        </p:txBody>
      </p:sp>
      <p:sp>
        <p:nvSpPr>
          <p:cNvPr id="5" name="page-number">
            <a:extLst xmlns:a="http://schemas.openxmlformats.org/drawingml/2006/main">
              <a:ext uri="{FF2B5EF4-FFF2-40B4-BE49-F238E27FC236}">
                <a16:creationId xmlns:a16="http://schemas.microsoft.com/office/drawing/2014/main" id="{79BC8035-3B54-4D07-9FF1-645D15A120C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8D11E922-E7EB-4ACB-B0D5-29E8CBFB5DC8}"/>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Describe the identity</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Include corpus text, metadata, chunk boundaries, model, backend, dimensions, and distance metric.</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Hash the identity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Build the collection name from a deterministic fingerprint of those settings and records.</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Persist locally</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Chroma's persistent client writes the collection under .cache/chroma/.</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Supply vectors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Set embedding_function=None and provide the embeddings computed by the workshop's local index.</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639478068"/>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6A0D65B8-3CBE-476C-AF58-CAE40D2792D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04</a:t>
            </a:r>
          </a:p>
        </p:txBody>
      </p:sp>
      <p:sp>
        <p:nvSpPr>
          <p:cNvPr id="2" name="slide-title">
            <a:extLst xmlns:a="http://schemas.openxmlformats.org/drawingml/2006/main">
              <a:ext uri="{FF2B5EF4-FFF2-40B4-BE49-F238E27FC236}">
                <a16:creationId xmlns:a16="http://schemas.microsoft.com/office/drawing/2014/main" id="{E32D0916-8E37-4A84-B68D-A8430A0E88F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Repeated upsert should not duplicate chunks</a:t>
            </a:r>
          </a:p>
        </p:txBody>
      </p:sp>
      <p:sp>
        <p:nvSpPr>
          <p:cNvPr id="3" name="lead">
            <a:extLst xmlns:a="http://schemas.openxmlformats.org/drawingml/2006/main">
              <a:ext uri="{FF2B5EF4-FFF2-40B4-BE49-F238E27FC236}">
                <a16:creationId xmlns:a16="http://schemas.microsoft.com/office/drawing/2014/main" id="{A2EAE098-ED7F-4B0B-8F80-B1986AD1B86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Stable IDs make ingestion repeatable: insert missing records and replace records that already exist.</a:t>
            </a:r>
          </a:p>
        </p:txBody>
      </p:sp>
      <p:sp>
        <p:nvSpPr>
          <p:cNvPr id="4" name="text">
            <a:extLst xmlns:a="http://schemas.openxmlformats.org/drawingml/2006/main">
              <a:ext uri="{FF2B5EF4-FFF2-40B4-BE49-F238E27FC236}">
                <a16:creationId xmlns:a16="http://schemas.microsoft.com/office/drawing/2014/main" id="{CAC60984-56F0-464B-AFD0-0BCADDCBD94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04  /  Persistent vector stores and metadata</a:t>
            </a:r>
          </a:p>
        </p:txBody>
      </p:sp>
      <p:sp>
        <p:nvSpPr>
          <p:cNvPr id="5" name="page-number">
            <a:extLst xmlns:a="http://schemas.openxmlformats.org/drawingml/2006/main">
              <a:ext uri="{FF2B5EF4-FFF2-40B4-BE49-F238E27FC236}">
                <a16:creationId xmlns:a16="http://schemas.microsoft.com/office/drawing/2014/main" id="{065A56D9-7B11-4903-9427-36C85809071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25E9DCEB-ADA4-40FF-9397-9CD410F11D5E}"/>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Prepare aligned fields</a:t>
            </a:r>
          </a:p>
        </p:txBody>
      </p:sp>
      <p:sp>
        <p:nvSpPr>
          <p:cNvPr id="7" name="text">
            <a:extLst xmlns:a="http://schemas.openxmlformats.org/drawingml/2006/main">
              <a:ext uri="{FF2B5EF4-FFF2-40B4-BE49-F238E27FC236}">
                <a16:creationId xmlns:a16="http://schemas.microsoft.com/office/drawing/2014/main" id="{3098EEA3-FA50-49D5-89B5-8977CD74C982}"/>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Send IDs, documents, metadata, and vectors in matching list order.</a:t>
            </a:r>
          </a:p>
        </p:txBody>
      </p:sp>
      <p:sp>
        <p:nvSpPr>
          <p:cNvPr id="8" name="text">
            <a:extLst xmlns:a="http://schemas.openxmlformats.org/drawingml/2006/main">
              <a:ext uri="{FF2B5EF4-FFF2-40B4-BE49-F238E27FC236}">
                <a16:creationId xmlns:a16="http://schemas.microsoft.com/office/drawing/2014/main" id="{590572A4-72BE-4ECD-AC1E-6F74099600DA}"/>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Upsert twice</a:t>
            </a:r>
          </a:p>
        </p:txBody>
      </p:sp>
      <p:sp>
        <p:nvSpPr>
          <p:cNvPr id="9" name="text">
            <a:extLst xmlns:a="http://schemas.openxmlformats.org/drawingml/2006/main">
              <a:ext uri="{FF2B5EF4-FFF2-40B4-BE49-F238E27FC236}">
                <a16:creationId xmlns:a16="http://schemas.microsoft.com/office/drawing/2014/main" id="{D0EB5A2B-183E-4DD5-BBD0-321C0A17985E}"/>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notebook repeats the same payload and asserts that the collection count stays unchanged.</a:t>
            </a:r>
          </a:p>
        </p:txBody>
      </p:sp>
      <p:sp>
        <p:nvSpPr>
          <p:cNvPr id="10" name="text">
            <a:extLst xmlns:a="http://schemas.openxmlformats.org/drawingml/2006/main">
              <a:ext uri="{FF2B5EF4-FFF2-40B4-BE49-F238E27FC236}">
                <a16:creationId xmlns:a16="http://schemas.microsoft.com/office/drawing/2014/main" id="{D13DD1DB-0848-403E-AE41-690C7836F740}"/>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Reopen</a:t>
            </a:r>
          </a:p>
        </p:txBody>
      </p:sp>
      <p:sp>
        <p:nvSpPr>
          <p:cNvPr id="11" name="text">
            <a:extLst xmlns:a="http://schemas.openxmlformats.org/drawingml/2006/main">
              <a:ext uri="{FF2B5EF4-FFF2-40B4-BE49-F238E27FC236}">
                <a16:creationId xmlns:a16="http://schemas.microsoft.com/office/drawing/2014/main" id="{105F9275-5E5D-4483-93C7-063D256683D9}"/>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second persistent client reads the same collection and confirms its stored record count.</a:t>
            </a:r>
          </a:p>
        </p:txBody>
      </p:sp>
      <p:sp>
        <p:nvSpPr>
          <p:cNvPr id="12" name="text">
            <a:extLst xmlns:a="http://schemas.openxmlformats.org/drawingml/2006/main">
              <a:ext uri="{FF2B5EF4-FFF2-40B4-BE49-F238E27FC236}">
                <a16:creationId xmlns:a16="http://schemas.microsoft.com/office/drawing/2014/main" id="{81C96B74-5262-4612-B01F-89C1BE584FDB}"/>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Beyond the small demo</a:t>
            </a:r>
          </a:p>
        </p:txBody>
      </p:sp>
      <p:sp>
        <p:nvSpPr>
          <p:cNvPr id="13" name="text">
            <a:extLst xmlns:a="http://schemas.openxmlformats.org/drawingml/2006/main">
              <a:ext uri="{FF2B5EF4-FFF2-40B4-BE49-F238E27FC236}">
                <a16:creationId xmlns:a16="http://schemas.microsoft.com/office/drawing/2014/main" id="{C79E3CF0-1D96-48D6-8712-2F8ED696C72F}"/>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Large ingestion jobs also need batching, logs, and a policy for source records that disappear.</a:t>
            </a:r>
          </a:p>
        </p:txBody>
      </p:sp>
    </p:spTree>
    <p:extLst>
      <p:ext uri="{BB962C8B-B14F-4D97-AF65-F5344CB8AC3E}">
        <p14:creationId xmlns:p14="http://schemas.microsoft.com/office/powerpoint/2010/main" val="1264648909"/>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4A98490-01BA-44F2-B561-7CE28AB91B04}"/>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04</a:t>
            </a:r>
          </a:p>
        </p:txBody>
      </p:sp>
      <p:sp>
        <p:nvSpPr>
          <p:cNvPr id="2" name="slide-title">
            <a:extLst xmlns:a="http://schemas.openxmlformats.org/drawingml/2006/main">
              <a:ext uri="{FF2B5EF4-FFF2-40B4-BE49-F238E27FC236}">
                <a16:creationId xmlns:a16="http://schemas.microsoft.com/office/drawing/2014/main" id="{A6A34CFD-75DF-4FF7-85C6-99CD174804A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Cosine distance and similarity run opposite ways</a:t>
            </a:r>
          </a:p>
        </p:txBody>
      </p:sp>
      <p:sp>
        <p:nvSpPr>
          <p:cNvPr id="3" name="lead">
            <a:extLst xmlns:a="http://schemas.openxmlformats.org/drawingml/2006/main">
              <a:ext uri="{FF2B5EF4-FFF2-40B4-BE49-F238E27FC236}">
                <a16:creationId xmlns:a16="http://schemas.microsoft.com/office/drawing/2014/main" id="{62A27ED8-AAD4-477B-83B0-EACB89DE3F1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collection uses cosine distance: smaller is closer. The helper also exposes similarity for inspection.</a:t>
            </a:r>
          </a:p>
        </p:txBody>
      </p:sp>
      <p:sp>
        <p:nvSpPr>
          <p:cNvPr id="4" name="text">
            <a:extLst xmlns:a="http://schemas.openxmlformats.org/drawingml/2006/main">
              <a:ext uri="{FF2B5EF4-FFF2-40B4-BE49-F238E27FC236}">
                <a16:creationId xmlns:a16="http://schemas.microsoft.com/office/drawing/2014/main" id="{584CF706-5D40-4478-BFF7-EE9E8A58D68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04  /  Persistent vector stores and metadata</a:t>
            </a:r>
          </a:p>
        </p:txBody>
      </p:sp>
      <p:sp>
        <p:nvSpPr>
          <p:cNvPr id="5" name="page-number">
            <a:extLst xmlns:a="http://schemas.openxmlformats.org/drawingml/2006/main">
              <a:ext uri="{FF2B5EF4-FFF2-40B4-BE49-F238E27FC236}">
                <a16:creationId xmlns:a16="http://schemas.microsoft.com/office/drawing/2014/main" id="{EEF0AC14-DBAE-42F7-B8DB-49CCA0F931FE}"/>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graphicFrame>
        <p:nvGraphicFramePr>
          <p:cNvPr id="6" name="">
            <a:extLst xmlns:a="http://schemas.openxmlformats.org/drawingml/2006/main">
              <a:ext uri="{FF2B5EF4-FFF2-40B4-BE49-F238E27FC236}">
                <a16:creationId xmlns:a16="http://schemas.microsoft.com/office/drawing/2014/main" id="{DE2C5533-8765-4830-AB62-0CB4F45BCB97}"/>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Distance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Chroma returns cosine distance for this collection; lower values rank as closer matches.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Similarity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For this metric, similarity = 1 − distance; higher values rank as closer matches.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Toy conversion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 distance of 0.20 corresponds to similarity 0.80. Neither value is an answer-confidence probability.</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Empty eligibility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If no record passes the filter, chroma_search returns an empty list rather than forcing a hit.</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425653606"/>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B737BC7-2A80-4990-8E9F-DEC16F36CF6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04</a:t>
            </a:r>
          </a:p>
        </p:txBody>
      </p:sp>
      <p:sp>
        <p:nvSpPr>
          <p:cNvPr id="2" name="slide-title">
            <a:extLst xmlns:a="http://schemas.openxmlformats.org/drawingml/2006/main">
              <a:ext uri="{FF2B5EF4-FFF2-40B4-BE49-F238E27FC236}">
                <a16:creationId xmlns:a16="http://schemas.microsoft.com/office/drawing/2014/main" id="{42974B35-3195-4926-94C8-F71CE9D94BB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Choose eligible records before choosing top k</a:t>
            </a:r>
          </a:p>
        </p:txBody>
      </p:sp>
      <p:sp>
        <p:nvSpPr>
          <p:cNvPr id="3" name="lead">
            <a:extLst xmlns:a="http://schemas.openxmlformats.org/drawingml/2006/main">
              <a:ext uri="{FF2B5EF4-FFF2-40B4-BE49-F238E27FC236}">
                <a16:creationId xmlns:a16="http://schemas.microsoft.com/office/drawing/2014/main" id="{8281D020-BCAC-47E4-A47D-BA55FE179FB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Filtering an already-short result list can discard relevant eligible records that ranked below the cutoff.</a:t>
            </a:r>
          </a:p>
        </p:txBody>
      </p:sp>
      <p:sp>
        <p:nvSpPr>
          <p:cNvPr id="4" name="text">
            <a:extLst xmlns:a="http://schemas.openxmlformats.org/drawingml/2006/main">
              <a:ext uri="{FF2B5EF4-FFF2-40B4-BE49-F238E27FC236}">
                <a16:creationId xmlns:a16="http://schemas.microsoft.com/office/drawing/2014/main" id="{CC4603E8-B829-43ED-A582-AA38C9C51AB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04  /  Persistent vector stores and metadata</a:t>
            </a:r>
          </a:p>
        </p:txBody>
      </p:sp>
      <p:sp>
        <p:nvSpPr>
          <p:cNvPr id="5" name="page-number">
            <a:extLst xmlns:a="http://schemas.openxmlformats.org/drawingml/2006/main">
              <a:ext uri="{FF2B5EF4-FFF2-40B4-BE49-F238E27FC236}">
                <a16:creationId xmlns:a16="http://schemas.microsoft.com/office/drawing/2014/main" id="{A9934AFE-4D37-4829-ABA9-02B15605B85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graphicFrame>
        <p:nvGraphicFramePr>
          <p:cNvPr id="6" name="">
            <a:extLst xmlns:a="http://schemas.openxmlformats.org/drawingml/2006/main">
              <a:ext uri="{FF2B5EF4-FFF2-40B4-BE49-F238E27FC236}">
                <a16:creationId xmlns:a16="http://schemas.microsoft.com/office/drawing/2014/main" id="{8FE23452-CEEA-47FC-BD73-19DEE178A045}"/>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Filter during retrieval</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Search within the desired department, then select the best k eligible records.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Filter after retrieval</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Searching mixed departments first may leave too few useful results after filtering.</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Combine conditions</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The notebook uses $and to combine department and visibility constraints.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Trusted scope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Metadata filters illustrate a mechanism; real access rules must come from trusted identity and authorization.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658823520"/>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662A1EDB-6EB0-461C-ACDC-C19688BBF93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04</a:t>
            </a:r>
          </a:p>
        </p:txBody>
      </p:sp>
      <p:sp>
        <p:nvSpPr>
          <p:cNvPr id="2" name="slide-title">
            <a:extLst xmlns:a="http://schemas.openxmlformats.org/drawingml/2006/main">
              <a:ext uri="{FF2B5EF4-FFF2-40B4-BE49-F238E27FC236}">
                <a16:creationId xmlns:a16="http://schemas.microsoft.com/office/drawing/2014/main" id="{8B03FE94-B851-4A2B-B92F-E3336EDDABA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Treat text and its embedding as one version</a:t>
            </a:r>
          </a:p>
        </p:txBody>
      </p:sp>
      <p:sp>
        <p:nvSpPr>
          <p:cNvPr id="3" name="lead">
            <a:extLst xmlns:a="http://schemas.openxmlformats.org/drawingml/2006/main">
              <a:ext uri="{FF2B5EF4-FFF2-40B4-BE49-F238E27FC236}">
                <a16:creationId xmlns:a16="http://schemas.microsoft.com/office/drawing/2014/main" id="{61BA836B-A2E2-4162-BC29-17A43CC2E15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An updated passage needs an updated vector, or retrieval still describes the old text.</a:t>
            </a:r>
          </a:p>
        </p:txBody>
      </p:sp>
      <p:sp>
        <p:nvSpPr>
          <p:cNvPr id="4" name="text">
            <a:extLst xmlns:a="http://schemas.openxmlformats.org/drawingml/2006/main">
              <a:ext uri="{FF2B5EF4-FFF2-40B4-BE49-F238E27FC236}">
                <a16:creationId xmlns:a16="http://schemas.microsoft.com/office/drawing/2014/main" id="{320C7D55-7B91-49AE-9BC8-D2E70E7DBC6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04  /  Persistent vector stores and metadata</a:t>
            </a:r>
          </a:p>
        </p:txBody>
      </p:sp>
      <p:sp>
        <p:nvSpPr>
          <p:cNvPr id="5" name="page-number">
            <a:extLst xmlns:a="http://schemas.openxmlformats.org/drawingml/2006/main">
              <a:ext uri="{FF2B5EF4-FFF2-40B4-BE49-F238E27FC236}">
                <a16:creationId xmlns:a16="http://schemas.microsoft.com/office/drawing/2014/main" id="{E1C684A0-6F2E-49BF-9A54-1836B45A812D}"/>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graphicFrame>
        <p:nvGraphicFramePr>
          <p:cNvPr id="6" name="">
            <a:extLst xmlns:a="http://schemas.openxmlformats.org/drawingml/2006/main">
              <a:ext uri="{FF2B5EF4-FFF2-40B4-BE49-F238E27FC236}">
                <a16:creationId xmlns:a16="http://schemas.microsoft.com/office/drawing/2014/main" id="{D04C7B71-E5B8-4D3F-9CCB-4C68152E9186}"/>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Create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Insert one disposable demo record with a stable ID, text, vector, and metadata.</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Read</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Fetch that ID directly and show the current stored document text.</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Update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Change the policy text and recompute the embedding in the same update.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Delete and check</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Remove only the disposable ID in finally, then assert that the original policy count is restored.</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658659889"/>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838DA014-8BB5-405D-BE33-87548467BFA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04</a:t>
            </a:r>
          </a:p>
        </p:txBody>
      </p:sp>
      <p:sp>
        <p:nvSpPr>
          <p:cNvPr id="2" name="slide-title">
            <a:extLst xmlns:a="http://schemas.openxmlformats.org/drawingml/2006/main">
              <a:ext uri="{FF2B5EF4-FFF2-40B4-BE49-F238E27FC236}">
                <a16:creationId xmlns:a16="http://schemas.microsoft.com/office/drawing/2014/main" id="{F111E9D7-EB4D-4774-B453-54682A1A097B}"/>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prove persistence and filtered search</a:t>
            </a:r>
          </a:p>
        </p:txBody>
      </p:sp>
      <p:sp>
        <p:nvSpPr>
          <p:cNvPr id="3" name="lead">
            <a:extLst xmlns:a="http://schemas.openxmlformats.org/drawingml/2006/main">
              <a:ext uri="{FF2B5EF4-FFF2-40B4-BE49-F238E27FC236}">
                <a16:creationId xmlns:a16="http://schemas.microsoft.com/office/drawing/2014/main" id="{7369D72E-DCFD-47DC-9B12-C96CFAA3FAB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Show the stored record count, eligible metadata, retrieved text, and answer as separate observations.</a:t>
            </a:r>
          </a:p>
        </p:txBody>
      </p:sp>
      <p:sp>
        <p:nvSpPr>
          <p:cNvPr id="4" name="text">
            <a:extLst xmlns:a="http://schemas.openxmlformats.org/drawingml/2006/main">
              <a:ext uri="{FF2B5EF4-FFF2-40B4-BE49-F238E27FC236}">
                <a16:creationId xmlns:a16="http://schemas.microsoft.com/office/drawing/2014/main" id="{4DC1230A-7467-4E43-8BA9-2264E381C305}"/>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04  /  Persistent vector stores and metadata</a:t>
            </a:r>
          </a:p>
        </p:txBody>
      </p:sp>
      <p:sp>
        <p:nvSpPr>
          <p:cNvPr id="5" name="page-number">
            <a:extLst xmlns:a="http://schemas.openxmlformats.org/drawingml/2006/main">
              <a:ext uri="{FF2B5EF4-FFF2-40B4-BE49-F238E27FC236}">
                <a16:creationId xmlns:a16="http://schemas.microsoft.com/office/drawing/2014/main" id="{8B1BC28F-E482-44FA-840A-D707A056AA9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59E39E08-356E-4175-BEDC-292C0A89611D}"/>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3039006A-5901-4AB3-AA2D-C9A543DBFDE5}"/>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Persist and reopen</a:t>
            </a:r>
          </a:p>
        </p:txBody>
      </p:sp>
      <p:sp>
        <p:nvSpPr>
          <p:cNvPr id="8" name="text">
            <a:extLst xmlns:a="http://schemas.openxmlformats.org/drawingml/2006/main">
              <a:ext uri="{FF2B5EF4-FFF2-40B4-BE49-F238E27FC236}">
                <a16:creationId xmlns:a16="http://schemas.microsoft.com/office/drawing/2014/main" id="{47CD4C03-8613-496B-A7D8-49008E370A25}"/>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Steps 1–3: build the fingerprinted collection, upsert twice, and read with another client.</a:t>
            </a:r>
          </a:p>
        </p:txBody>
      </p:sp>
      <p:sp>
        <p:nvSpPr>
          <p:cNvPr id="9" name="text">
            <a:extLst xmlns:a="http://schemas.openxmlformats.org/drawingml/2006/main">
              <a:ext uri="{FF2B5EF4-FFF2-40B4-BE49-F238E27FC236}">
                <a16:creationId xmlns:a16="http://schemas.microsoft.com/office/drawing/2014/main" id="{08E592DD-99A8-4B73-A7E2-D53390ACD483}"/>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B20DDD1D-6CE1-4BAD-BA10-96773C915B3F}"/>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Explain ranking</a:t>
            </a:r>
          </a:p>
        </p:txBody>
      </p:sp>
      <p:sp>
        <p:nvSpPr>
          <p:cNvPr id="11" name="text">
            <a:extLst xmlns:a="http://schemas.openxmlformats.org/drawingml/2006/main">
              <a:ext uri="{FF2B5EF4-FFF2-40B4-BE49-F238E27FC236}">
                <a16:creationId xmlns:a16="http://schemas.microsoft.com/office/drawing/2014/main" id="{CB36E15C-E796-439E-8C00-387D7B8570F6}"/>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Step 4: compare distance and similarity columns and read the closest passages.</a:t>
            </a:r>
          </a:p>
        </p:txBody>
      </p:sp>
      <p:sp>
        <p:nvSpPr>
          <p:cNvPr id="12" name="text">
            <a:extLst xmlns:a="http://schemas.openxmlformats.org/drawingml/2006/main">
              <a:ext uri="{FF2B5EF4-FFF2-40B4-BE49-F238E27FC236}">
                <a16:creationId xmlns:a16="http://schemas.microsoft.com/office/drawing/2014/main" id="{9F7D9DF3-0BDE-49E2-823E-A24EC254C0FD}"/>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0601C69D-E872-4900-B5CA-2422D64B61C7}"/>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Apply scope</a:t>
            </a:r>
          </a:p>
        </p:txBody>
      </p:sp>
      <p:sp>
        <p:nvSpPr>
          <p:cNvPr id="14" name="text">
            <a:extLst xmlns:a="http://schemas.openxmlformats.org/drawingml/2006/main">
              <a:ext uri="{FF2B5EF4-FFF2-40B4-BE49-F238E27FC236}">
                <a16:creationId xmlns:a16="http://schemas.microsoft.com/office/drawing/2014/main" id="{EA626833-7B83-40B6-9AAA-AEAD1E52BD60}"/>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Steps 5–6: retrieve HR evidence and verify the 5-day / March 31 answer.</a:t>
            </a:r>
          </a:p>
        </p:txBody>
      </p:sp>
      <p:sp>
        <p:nvSpPr>
          <p:cNvPr id="15" name="text">
            <a:extLst xmlns:a="http://schemas.openxmlformats.org/drawingml/2006/main">
              <a:ext uri="{FF2B5EF4-FFF2-40B4-BE49-F238E27FC236}">
                <a16:creationId xmlns:a16="http://schemas.microsoft.com/office/drawing/2014/main" id="{06851DEF-7CAB-4C4F-8CD7-AC45C24747E0}"/>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AC9A4DB4-A700-40F1-9D17-D5D20248A193}"/>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Test lifecycle and coverage</a:t>
            </a:r>
          </a:p>
        </p:txBody>
      </p:sp>
      <p:sp>
        <p:nvSpPr>
          <p:cNvPr id="17" name="text">
            <a:extLst xmlns:a="http://schemas.openxmlformats.org/drawingml/2006/main">
              <a:ext uri="{FF2B5EF4-FFF2-40B4-BE49-F238E27FC236}">
                <a16:creationId xmlns:a16="http://schemas.microsoft.com/office/drawing/2014/main" id="{01DAFB51-FDD9-4D57-9C23-4E3455539C01}"/>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Steps 7–8: update a disposable record, then compare k = 1 and k = 4 on a two-part question.</a:t>
            </a:r>
          </a:p>
        </p:txBody>
      </p:sp>
    </p:spTree>
    <p:extLst>
      <p:ext uri="{BB962C8B-B14F-4D97-AF65-F5344CB8AC3E}">
        <p14:creationId xmlns:p14="http://schemas.microsoft.com/office/powerpoint/2010/main" val="696058706"/>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ED98C4ED-A03A-47B8-A91B-B475E612A21C}"/>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04</a:t>
            </a:r>
          </a:p>
        </p:txBody>
      </p:sp>
      <p:sp>
        <p:nvSpPr>
          <p:cNvPr id="2" name="slide-title">
            <a:extLst xmlns:a="http://schemas.openxmlformats.org/drawingml/2006/main">
              <a:ext uri="{FF2B5EF4-FFF2-40B4-BE49-F238E27FC236}">
                <a16:creationId xmlns:a16="http://schemas.microsoft.com/office/drawing/2014/main" id="{9218E666-70F0-437D-A0EF-60CA8F02919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Retrieve a product question within its department</a:t>
            </a:r>
          </a:p>
        </p:txBody>
      </p:sp>
      <p:sp>
        <p:nvSpPr>
          <p:cNvPr id="3" name="lead">
            <a:extLst xmlns:a="http://schemas.openxmlformats.org/drawingml/2006/main">
              <a:ext uri="{FF2B5EF4-FFF2-40B4-BE49-F238E27FC236}">
                <a16:creationId xmlns:a16="http://schemas.microsoft.com/office/drawing/2014/main" id="{3938F287-D898-42F9-AE52-5A368D6F5725}"/>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Keep eligibility checks and evidence checks visible while changing the query's domain.</a:t>
            </a:r>
          </a:p>
        </p:txBody>
      </p:sp>
      <p:sp>
        <p:nvSpPr>
          <p:cNvPr id="4" name="text">
            <a:extLst xmlns:a="http://schemas.openxmlformats.org/drawingml/2006/main">
              <a:ext uri="{FF2B5EF4-FFF2-40B4-BE49-F238E27FC236}">
                <a16:creationId xmlns:a16="http://schemas.microsoft.com/office/drawing/2014/main" id="{1DFC40A6-47F4-4E1E-8C97-215C8C97320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04  /  Persistent vector stores and metadata</a:t>
            </a:r>
          </a:p>
        </p:txBody>
      </p:sp>
      <p:sp>
        <p:nvSpPr>
          <p:cNvPr id="5" name="page-number">
            <a:extLst xmlns:a="http://schemas.openxmlformats.org/drawingml/2006/main">
              <a:ext uri="{FF2B5EF4-FFF2-40B4-BE49-F238E27FC236}">
                <a16:creationId xmlns:a16="http://schemas.microsoft.com/office/drawing/2014/main" id="{419E3645-C71A-4EC2-B385-5B91C2278AB6}"/>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C3D66C01-CFD7-44A6-8774-082415DB101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Derive the filter</a:t>
            </a:r>
          </a:p>
        </p:txBody>
      </p:sp>
      <p:sp>
        <p:nvSpPr>
          <p:cNvPr id="7" name="text">
            <a:extLst xmlns:a="http://schemas.openxmlformats.org/drawingml/2006/main">
              <a:ext uri="{FF2B5EF4-FFF2-40B4-BE49-F238E27FC236}">
                <a16:creationId xmlns:a16="http://schemas.microsoft.com/office/drawing/2014/main" id="{49C6C6CB-AEE2-4696-AAD6-195C909C63DF}"/>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Read product_plans metadata and use its actual department value for a Team-price question.</a:t>
            </a:r>
          </a:p>
        </p:txBody>
      </p:sp>
      <p:sp>
        <p:nvSpPr>
          <p:cNvPr id="8" name="text">
            <a:extLst xmlns:a="http://schemas.openxmlformats.org/drawingml/2006/main">
              <a:ext uri="{FF2B5EF4-FFF2-40B4-BE49-F238E27FC236}">
                <a16:creationId xmlns:a16="http://schemas.microsoft.com/office/drawing/2014/main" id="{49488E45-CB9A-4ECC-A974-7AED4A286B7F}"/>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Assert eligibility</a:t>
            </a:r>
          </a:p>
        </p:txBody>
      </p:sp>
      <p:sp>
        <p:nvSpPr>
          <p:cNvPr id="9" name="text">
            <a:extLst xmlns:a="http://schemas.openxmlformats.org/drawingml/2006/main">
              <a:ext uri="{FF2B5EF4-FFF2-40B4-BE49-F238E27FC236}">
                <a16:creationId xmlns:a16="http://schemas.microsoft.com/office/drawing/2014/main" id="{5B1B3764-83DB-4247-B0D6-1967FE7743A9}"/>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Check that every returned hit satisfies the department filter.</a:t>
            </a:r>
          </a:p>
        </p:txBody>
      </p:sp>
      <p:sp>
        <p:nvSpPr>
          <p:cNvPr id="10" name="text">
            <a:extLst xmlns:a="http://schemas.openxmlformats.org/drawingml/2006/main">
              <a:ext uri="{FF2B5EF4-FFF2-40B4-BE49-F238E27FC236}">
                <a16:creationId xmlns:a16="http://schemas.microsoft.com/office/drawing/2014/main" id="{E4393D0A-822C-426C-96D4-06EC646E463A}"/>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Inspect support</a:t>
            </a:r>
          </a:p>
        </p:txBody>
      </p:sp>
      <p:sp>
        <p:nvSpPr>
          <p:cNvPr id="11" name="text">
            <a:extLst xmlns:a="http://schemas.openxmlformats.org/drawingml/2006/main">
              <a:ext uri="{FF2B5EF4-FFF2-40B4-BE49-F238E27FC236}">
                <a16:creationId xmlns:a16="http://schemas.microsoft.com/office/drawing/2014/main" id="{575EC265-3346-43F2-9363-78B30F089623}"/>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Read the pricing passage and retain the annual-billing and minimum-seat qualifications.</a:t>
            </a:r>
          </a:p>
        </p:txBody>
      </p:sp>
      <p:sp>
        <p:nvSpPr>
          <p:cNvPr id="12" name="text">
            <a:extLst xmlns:a="http://schemas.openxmlformats.org/drawingml/2006/main">
              <a:ext uri="{FF2B5EF4-FFF2-40B4-BE49-F238E27FC236}">
                <a16:creationId xmlns:a16="http://schemas.microsoft.com/office/drawing/2014/main" id="{E59C15FD-0B9E-4904-8B85-5F08F5252A82}"/>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Explain identity changes</a:t>
            </a:r>
          </a:p>
        </p:txBody>
      </p:sp>
      <p:sp>
        <p:nvSpPr>
          <p:cNvPr id="13" name="text">
            <a:extLst xmlns:a="http://schemas.openxmlformats.org/drawingml/2006/main">
              <a:ext uri="{FF2B5EF4-FFF2-40B4-BE49-F238E27FC236}">
                <a16:creationId xmlns:a16="http://schemas.microsoft.com/office/drawing/2014/main" id="{1667BBD5-0CF0-474D-9B62-6268FCC06977}"/>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Describe why changing chunk size, corpus content, backend, or embedding model creates a new collection.</a:t>
            </a:r>
          </a:p>
        </p:txBody>
      </p:sp>
    </p:spTree>
    <p:extLst>
      <p:ext uri="{BB962C8B-B14F-4D97-AF65-F5344CB8AC3E}">
        <p14:creationId xmlns:p14="http://schemas.microsoft.com/office/powerpoint/2010/main" val="4478094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2026-10-11T09:49:30.2430000Z</dcterms:created>
  <dcterms:modified xsi:type="dcterms:W3CDTF">2026-10-11T09:49:30.2430000Z</dcterms:modified>
</coreProperties>
</file>