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b97bd533a0b4b13" /><Relationship Type="http://schemas.openxmlformats.org/officeDocument/2006/relationships/extended-properties" Target="/docProps/app.xml" Id="Rf9137a3d158148e7" /><Relationship Type="http://schemas.openxmlformats.org/officeDocument/2006/relationships/officeDocument" Target="/ppt/presentation.xml" Id="Re65c60c713104587" /></Relationships>
</file>

<file path=ppt/presentation.xml><?xml version="1.0" encoding="utf-8"?>
<p:presentation xmlns:p="http://schemas.openxmlformats.org/presentationml/2006/main">
  <p:sldMasterIdLst>
    <p:sldMasterId xmlns:r="http://schemas.openxmlformats.org/officeDocument/2006/relationships" id="2147483648" r:id="R5a6128a4284c40e2"/>
  </p:sldMasterIdLst>
  <p:notesMasterIdLst>
    <p:notesMasterId xmlns:r="http://schemas.openxmlformats.org/officeDocument/2006/relationships" r:id="R097677717c944333"/>
  </p:notesMasterIdLst>
  <p:sldIdLst>
    <p:sldId xmlns:r="http://schemas.openxmlformats.org/officeDocument/2006/relationships" id="256" r:id="R9fdf00788cce4171"/>
    <p:sldId xmlns:r="http://schemas.openxmlformats.org/officeDocument/2006/relationships" id="257" r:id="R72dd9da117794912"/>
    <p:sldId xmlns:r="http://schemas.openxmlformats.org/officeDocument/2006/relationships" id="258" r:id="R698e49639dd04fc0"/>
    <p:sldId xmlns:r="http://schemas.openxmlformats.org/officeDocument/2006/relationships" id="259" r:id="R2402e18852b24170"/>
    <p:sldId xmlns:r="http://schemas.openxmlformats.org/officeDocument/2006/relationships" id="260" r:id="R850032050e5e4992"/>
    <p:sldId xmlns:r="http://schemas.openxmlformats.org/officeDocument/2006/relationships" id="261" r:id="R85bed24b926d493a"/>
    <p:sldId xmlns:r="http://schemas.openxmlformats.org/officeDocument/2006/relationships" id="262" r:id="Rac1f71463d6341e6"/>
    <p:sldId xmlns:r="http://schemas.openxmlformats.org/officeDocument/2006/relationships" id="263" r:id="Re7c381d8f46c48d7"/>
    <p:sldId xmlns:r="http://schemas.openxmlformats.org/officeDocument/2006/relationships" id="264" r:id="Rd459595f661445a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71a0ad8461f4578" /><Relationship Type="http://schemas.openxmlformats.org/officeDocument/2006/relationships/slideMaster" Target="/ppt/slideMasters/slideMaster1.xml" Id="R5a6128a4284c40e2" /><Relationship Type="http://schemas.openxmlformats.org/officeDocument/2006/relationships/notesMaster" Target="/ppt/notesMasters/notesMaster1.xml" Id="R097677717c944333" /><Relationship Type="http://schemas.openxmlformats.org/officeDocument/2006/relationships/presProps" Target="/ppt/presProps.xml" Id="Rd3c55349408c4348" /><Relationship Type="http://schemas.openxmlformats.org/officeDocument/2006/relationships/tableStyles" Target="/ppt/tableStyles.xml" Id="R630fad2e57ed4386" /><Relationship Type="http://schemas.openxmlformats.org/officeDocument/2006/relationships/slide" Target="/ppt/slides/slide1.xml" Id="R9fdf00788cce4171" /><Relationship Type="http://schemas.openxmlformats.org/officeDocument/2006/relationships/slide" Target="/ppt/slides/slide2.xml" Id="R72dd9da117794912" /><Relationship Type="http://schemas.openxmlformats.org/officeDocument/2006/relationships/slide" Target="/ppt/slides/slide3.xml" Id="R698e49639dd04fc0" /><Relationship Type="http://schemas.openxmlformats.org/officeDocument/2006/relationships/slide" Target="/ppt/slides/slide4.xml" Id="R2402e18852b24170" /><Relationship Type="http://schemas.openxmlformats.org/officeDocument/2006/relationships/slide" Target="/ppt/slides/slide5.xml" Id="R850032050e5e4992" /><Relationship Type="http://schemas.openxmlformats.org/officeDocument/2006/relationships/slide" Target="/ppt/slides/slide6.xml" Id="R85bed24b926d493a" /><Relationship Type="http://schemas.openxmlformats.org/officeDocument/2006/relationships/slide" Target="/ppt/slides/slide7.xml" Id="Rac1f71463d6341e6" /><Relationship Type="http://schemas.openxmlformats.org/officeDocument/2006/relationships/slide" Target="/ppt/slides/slide8.xml" Id="Re7c381d8f46c48d7" /><Relationship Type="http://schemas.openxmlformats.org/officeDocument/2006/relationships/slide" Target="/ppt/slides/slide9.xml" Id="Rd459595f661445a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0a66924b0494a2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76ea30d84654005" /><Relationship Type="http://schemas.openxmlformats.org/officeDocument/2006/relationships/notesMaster" Target="/ppt/notesMasters/notesMaster1.xml" Id="R9d6ee87c0dba4bfe" /></Relationships>
</file>

<file path=ppt/notesSlides/_rels/notesSlide2.xml.rels>&#65279;<?xml version="1.0" encoding="utf-8"?><Relationships xmlns="http://schemas.openxmlformats.org/package/2006/relationships"><Relationship Type="http://schemas.openxmlformats.org/officeDocument/2006/relationships/slide" Target="/ppt/slides/slide2.xml" Id="R6bd419b8488f4f22" /><Relationship Type="http://schemas.openxmlformats.org/officeDocument/2006/relationships/notesMaster" Target="/ppt/notesMasters/notesMaster1.xml" Id="Rb8a4bfbfc0004af7" /></Relationships>
</file>

<file path=ppt/notesSlides/_rels/notesSlide3.xml.rels>&#65279;<?xml version="1.0" encoding="utf-8"?><Relationships xmlns="http://schemas.openxmlformats.org/package/2006/relationships"><Relationship Type="http://schemas.openxmlformats.org/officeDocument/2006/relationships/slide" Target="/ppt/slides/slide3.xml" Id="R8ff1ac5cd1234c33" /><Relationship Type="http://schemas.openxmlformats.org/officeDocument/2006/relationships/notesMaster" Target="/ppt/notesMasters/notesMaster1.xml" Id="R21672973a3774446" /></Relationships>
</file>

<file path=ppt/notesSlides/_rels/notesSlide4.xml.rels>&#65279;<?xml version="1.0" encoding="utf-8"?><Relationships xmlns="http://schemas.openxmlformats.org/package/2006/relationships"><Relationship Type="http://schemas.openxmlformats.org/officeDocument/2006/relationships/slide" Target="/ppt/slides/slide4.xml" Id="R3be7cea57a4d4446" /><Relationship Type="http://schemas.openxmlformats.org/officeDocument/2006/relationships/notesMaster" Target="/ppt/notesMasters/notesMaster1.xml" Id="R11f06af7e5b84ced" /></Relationships>
</file>

<file path=ppt/notesSlides/_rels/notesSlide5.xml.rels>&#65279;<?xml version="1.0" encoding="utf-8"?><Relationships xmlns="http://schemas.openxmlformats.org/package/2006/relationships"><Relationship Type="http://schemas.openxmlformats.org/officeDocument/2006/relationships/slide" Target="/ppt/slides/slide5.xml" Id="Rb795391e46374761" /><Relationship Type="http://schemas.openxmlformats.org/officeDocument/2006/relationships/notesMaster" Target="/ppt/notesMasters/notesMaster1.xml" Id="Rb0ff9666a6d24bea" /></Relationships>
</file>

<file path=ppt/notesSlides/_rels/notesSlide6.xml.rels>&#65279;<?xml version="1.0" encoding="utf-8"?><Relationships xmlns="http://schemas.openxmlformats.org/package/2006/relationships"><Relationship Type="http://schemas.openxmlformats.org/officeDocument/2006/relationships/slide" Target="/ppt/slides/slide6.xml" Id="Rf7e627c9a39f4d58" /><Relationship Type="http://schemas.openxmlformats.org/officeDocument/2006/relationships/notesMaster" Target="/ppt/notesMasters/notesMaster1.xml" Id="R38e5f34005784268" /></Relationships>
</file>

<file path=ppt/notesSlides/_rels/notesSlide7.xml.rels>&#65279;<?xml version="1.0" encoding="utf-8"?><Relationships xmlns="http://schemas.openxmlformats.org/package/2006/relationships"><Relationship Type="http://schemas.openxmlformats.org/officeDocument/2006/relationships/slide" Target="/ppt/slides/slide7.xml" Id="Re0aab004ae544e70" /><Relationship Type="http://schemas.openxmlformats.org/officeDocument/2006/relationships/notesMaster" Target="/ppt/notesMasters/notesMaster1.xml" Id="R76ef891f3b694a71" /></Relationships>
</file>

<file path=ppt/notesSlides/_rels/notesSlide8.xml.rels>&#65279;<?xml version="1.0" encoding="utf-8"?><Relationships xmlns="http://schemas.openxmlformats.org/package/2006/relationships"><Relationship Type="http://schemas.openxmlformats.org/officeDocument/2006/relationships/slide" Target="/ppt/slides/slide8.xml" Id="R847492ea6d3641dd" /><Relationship Type="http://schemas.openxmlformats.org/officeDocument/2006/relationships/notesMaster" Target="/ppt/notesMasters/notesMaster1.xml" Id="Rb84d2cc034ae48c4" /></Relationships>
</file>

<file path=ppt/notesSlides/_rels/notesSlide9.xml.rels>&#65279;<?xml version="1.0" encoding="utf-8"?><Relationships xmlns="http://schemas.openxmlformats.org/package/2006/relationships"><Relationship Type="http://schemas.openxmlformats.org/officeDocument/2006/relationships/slide" Target="/ppt/slides/slide9.xml" Id="R480c5830d8284c2d" /><Relationship Type="http://schemas.openxmlformats.org/officeDocument/2006/relationships/notesMaster" Target="/ppt/notesMasters/notesMaster1.xml" Id="R81b0a8d2b1164e0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notebooks/15_video_rag.ipynb beside this presentation. This deck explains the notebook concepts and supports a live demonstration. Run cells in order from a fresh kernel. Keep retrieved evidence visible before discussing a generated answer. All Northstar Analytics examples are fictional.</a:t>
            </a:r>
          </a:p>
          <a:p xmlns:a="http://schemas.openxmlformats.org/drawingml/2006/main">
            <a:r>
              <a:t/>
            </a:r>
          </a:p>
          <a:p xmlns:a="http://schemas.openxmlformats.org/drawingml/2006/main">
            <a:r>
              <a:t>SOURCE: notebooks/15_video_rag.ipynb</a:t>
            </a:r>
          </a:p>
          <a:p xmlns:a="http://schemas.openxmlformats.org/drawingml/2006/main">
            <a:r>
              <a:t>COVER: AI-generated abstract background, created for this course; decorative, not an architecture diagram.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the source video and compare a visual cut with the narration boundary. The sample is a real synthetic narrated MP4, but its scene labels were authored and quantized to the ten-frame-per-second video. They are not automatically discovered labels. The small difference between speech and slide timing is intentional and becomes important when assigning segments to windows. Explain that a speaker can refer to an earlier image, so temporal alignment is a practical association rather than proof of semantic agreement. The source must still be replayed when claims appear to conflict.</a:t>
            </a:r>
          </a:p>
          <a:p xmlns:a="http://schemas.openxmlformats.org/drawingml/2006/main">
            <a:r>
              <a:t/>
            </a:r>
          </a:p>
          <a:p xmlns:a="http://schemas.openxmlformats.org/drawingml/2006/main">
            <a:r>
              <a:t>NOTEBOOK: notebooks/15_video_rag.ipynb</a:t>
            </a:r>
          </a:p>
          <a:p xmlns:a="http://schemas.openxmlformats.org/drawingml/2006/main">
            <a:r>
              <a:t/>
            </a:r>
          </a:p>
          <a:p xmlns:a="http://schemas.openxmlformats.org/drawingml/2006/main">
            <a:r>
              <a:t>SOURCES</a:t>
            </a:r>
          </a:p>
          <a:p xmlns:a="http://schemas.openxmlformats.org/drawingml/2006/main">
            <a:r>
              <a:t>notebooks/15_video_rag.ipynb — section 1; data/media/video/scenes.json</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sections 2 through 8 as an evidence pipeline. The frame source matters: OpenCV decodes the actual MP4 rather than opening the original slide image files. Regular two-second sampling is inexpensive for this short fixture but can miss brief scenes. Audio extraction and frame decoding do not call a language model. Optional faster-whisper recognition and CLIP retrieval are separate learned steps. The final request contains selected images and text, with a small frame budget. Claude is not given the video file or raw audio in this notebook.</a:t>
            </a:r>
          </a:p>
          <a:p xmlns:a="http://schemas.openxmlformats.org/drawingml/2006/main">
            <a:r>
              <a:t/>
            </a:r>
          </a:p>
          <a:p xmlns:a="http://schemas.openxmlformats.org/drawingml/2006/main">
            <a:r>
              <a:t>NOTEBOOK: notebooks/15_video_rag.ipynb</a:t>
            </a:r>
          </a:p>
          <a:p xmlns:a="http://schemas.openxmlformats.org/drawingml/2006/main">
            <a:r>
              <a:t/>
            </a:r>
          </a:p>
          <a:p xmlns:a="http://schemas.openxmlformats.org/drawingml/2006/main">
            <a:r>
              <a:t>SOURCES</a:t>
            </a:r>
          </a:p>
          <a:p xmlns:a="http://schemas.openxmlformats.org/drawingml/2006/main">
            <a:r>
              <a:t>notebooks/15_video_rag.ipynb — sections 2–8</a:t>
            </a:r>
          </a:p>
          <a:p xmlns:a="http://schemas.openxmlformats.org/drawingml/2006/main">
            <a:r>
              <a:t>https://docs.opencv.org/4.x/dd/d43/tutorial_py_video_display.html</a:t>
            </a:r>
          </a:p>
          <a:p xmlns:a="http://schemas.openxmlformats.org/drawingml/2006/main">
            <a:r>
              <a:t>https://ffmpeg.org/ffmpeg.html</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 through the 0.08-second overlap at the first visual boundary. If a full retention utterance were copied into every overlapping window, the previous billing scene could rank highly for retention despite containing almost none of that speech. The notebook therefore chooses the window with the largest overlap duration for transcript retrieval. It still records overlaps for inspection and preserves the speech segment range. This is a teaching alignment policy, not a claim that every word falls inside the selected visual window. Show why frame assignment and utterance assignment use related but different rules.</a:t>
            </a:r>
          </a:p>
          <a:p xmlns:a="http://schemas.openxmlformats.org/drawingml/2006/main">
            <a:r>
              <a:t/>
            </a:r>
          </a:p>
          <a:p xmlns:a="http://schemas.openxmlformats.org/drawingml/2006/main">
            <a:r>
              <a:t>NOTEBOOK: notebooks/15_video_rag.ipynb</a:t>
            </a:r>
          </a:p>
          <a:p xmlns:a="http://schemas.openxmlformats.org/drawingml/2006/main">
            <a:r>
              <a:t/>
            </a:r>
          </a:p>
          <a:p xmlns:a="http://schemas.openxmlformats.org/drawingml/2006/main">
            <a:r>
              <a:t>SOURCES</a:t>
            </a:r>
          </a:p>
          <a:p xmlns:a="http://schemas.openxmlformats.org/drawingml/2006/main">
            <a:r>
              <a:t>notebooks/15_video_rag.ipynb — section 4; data/media/video/scenes.json</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5 uses a common question for both branches so the rankings are comparable. Explain why independent frame IDs must map to shared window IDs before fusion. A long scene can have many sampled frames; without per-list deduplication, it receives an unfair number of votes. Section 6 makes reciprocal-rank fusion explicit. When CLIP is disabled, describe the result accurately as transcript retrieval with visual evidence lookup. Selecting a midpoint frame is useful, but it is not learned image retrieval. Query wording can also change the simple lexical ranking because this baseline does not stem every word form.</a:t>
            </a:r>
          </a:p>
          <a:p xmlns:a="http://schemas.openxmlformats.org/drawingml/2006/main">
            <a:r>
              <a:t/>
            </a:r>
          </a:p>
          <a:p xmlns:a="http://schemas.openxmlformats.org/drawingml/2006/main">
            <a:r>
              <a:t>NOTEBOOK: notebooks/15_video_rag.ipynb</a:t>
            </a:r>
          </a:p>
          <a:p xmlns:a="http://schemas.openxmlformats.org/drawingml/2006/main">
            <a:r>
              <a:t/>
            </a:r>
          </a:p>
          <a:p xmlns:a="http://schemas.openxmlformats.org/drawingml/2006/main">
            <a:r>
              <a:t>SOURCES</a:t>
            </a:r>
          </a:p>
          <a:p xmlns:a="http://schemas.openxmlformats.org/drawingml/2006/main">
            <a:r>
              <a:t>notebooks/15_video_rag.ipynb — sections 5–6</a:t>
            </a:r>
          </a:p>
          <a:p xmlns:a="http://schemas.openxmlformats.org/drawingml/2006/main">
            <a:r>
              <a:t>https://huggingface.co/docs/transformers/en/model_doc/clip</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generation, inspect the image-to-window mapping in section 8. At most two original decoded frame images enter the answer request, together with timestamped transcript text. This supports visible labels and spoken facts, but a still image cannot establish the direction or duration of an action. The source MP4 is available for human playback if more context is needed. Make the limitation concrete by asking whether two distant stills prove a smooth transition or its speed. For conflicts, the correct behavior is to preserve the disagreement rather than invent a reconciled fact.</a:t>
            </a:r>
          </a:p>
          <a:p xmlns:a="http://schemas.openxmlformats.org/drawingml/2006/main">
            <a:r>
              <a:t/>
            </a:r>
          </a:p>
          <a:p xmlns:a="http://schemas.openxmlformats.org/drawingml/2006/main">
            <a:r>
              <a:t>NOTEBOOK: notebooks/15_video_rag.ipynb</a:t>
            </a:r>
          </a:p>
          <a:p xmlns:a="http://schemas.openxmlformats.org/drawingml/2006/main">
            <a:r>
              <a:t/>
            </a:r>
          </a:p>
          <a:p xmlns:a="http://schemas.openxmlformats.org/drawingml/2006/main">
            <a:r>
              <a:t>SOURCES</a:t>
            </a:r>
          </a:p>
          <a:p xmlns:a="http://schemas.openxmlformats.org/drawingml/2006/main">
            <a:r>
              <a:t>notebooks/15_video_rag.ipynb — sections 7–8 and 11</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whole-video example to show why merely containing the answer is not enough for precise retrieval. The source duration is 38.6 seconds and the retention slide window is 12.8 seconds, so retrieving the complete clip earns only about one third temporal IoU against that interval. This calculation is illustrative and derives from the authored fixture boundaries, not a broad retrieval benchmark. Section 9 keeps localization evaluation separate from the generated answer. A real evaluation should label several relevant intervals and compare methods under the same returned-duration budget.</a:t>
            </a:r>
          </a:p>
          <a:p xmlns:a="http://schemas.openxmlformats.org/drawingml/2006/main">
            <a:r>
              <a:t/>
            </a:r>
          </a:p>
          <a:p xmlns:a="http://schemas.openxmlformats.org/drawingml/2006/main">
            <a:r>
              <a:t>NOTEBOOK: notebooks/15_video_rag.ipynb</a:t>
            </a:r>
          </a:p>
          <a:p xmlns:a="http://schemas.openxmlformats.org/drawingml/2006/main">
            <a:r>
              <a:t/>
            </a:r>
          </a:p>
          <a:p xmlns:a="http://schemas.openxmlformats.org/drawingml/2006/main">
            <a:r>
              <a:t>SOURCES</a:t>
            </a:r>
          </a:p>
          <a:p xmlns:a="http://schemas.openxmlformats.org/drawingml/2006/main">
            <a:r>
              <a:t>notebooks/15_video_rag.ipynb — section 9; data/media/video/scenes.json</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Prepare FFmpeg and any optional local model downloads before the workshop. Default Run All uses authored transcript retrieval and time-based frame selection, then makes one Claude request with at most two images. Enable ASR or CLIP only when demonstrating those actual learned paths. The browser player uses a start/end media fragment; support can vary, so the notebook also prints exact intervals for manual checking. Pause after alignment to inspect the small cross-boundary overlap. Then ask learners to predict the relevant window before seeing the ranking or generated answer.</a:t>
            </a:r>
          </a:p>
          <a:p xmlns:a="http://schemas.openxmlformats.org/drawingml/2006/main">
            <a:r>
              <a:t/>
            </a:r>
          </a:p>
          <a:p xmlns:a="http://schemas.openxmlformats.org/drawingml/2006/main">
            <a:r>
              <a:t>NOTEBOOK: notebooks/15_video_rag.ipynb</a:t>
            </a:r>
          </a:p>
          <a:p xmlns:a="http://schemas.openxmlformats.org/drawingml/2006/main">
            <a:r>
              <a:t/>
            </a:r>
          </a:p>
          <a:p xmlns:a="http://schemas.openxmlformats.org/drawingml/2006/main">
            <a:r>
              <a:t>SOURCES</a:t>
            </a:r>
          </a:p>
          <a:p xmlns:a="http://schemas.openxmlformats.org/drawingml/2006/main">
            <a:r>
              <a:t>notebooks/15_video_rag.ipynb — setup and sections 1–9</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section 10 to connect chunking concepts from text RAG with temporal segmentation. Five-second windows are easy to create but need not follow semantic scene changes. The expected discussion should identify both extra context and split evidence at boundaries, along with the possibility of missing a short visual scene when sampling is sparse. Keep the question set and model fixed while comparing window or sampling policies. For new videos, regenerate transcripts and windows from those files rather than reusing this fixture manifest. Long recordings also need explicit decode, frame, and context budgets.</a:t>
            </a:r>
          </a:p>
          <a:p xmlns:a="http://schemas.openxmlformats.org/drawingml/2006/main">
            <a:r>
              <a:t/>
            </a:r>
          </a:p>
          <a:p xmlns:a="http://schemas.openxmlformats.org/drawingml/2006/main">
            <a:r>
              <a:t>NOTEBOOK: notebooks/15_video_rag.ipynb</a:t>
            </a:r>
          </a:p>
          <a:p xmlns:a="http://schemas.openxmlformats.org/drawingml/2006/main">
            <a:r>
              <a:t/>
            </a:r>
          </a:p>
          <a:p xmlns:a="http://schemas.openxmlformats.org/drawingml/2006/main">
            <a:r>
              <a:t>SOURCES</a:t>
            </a:r>
          </a:p>
          <a:p xmlns:a="http://schemas.openxmlformats.org/drawingml/2006/main">
            <a:r>
              <a:t>notebooks/15_video_rag.ipynb — sections 10–11</a:t>
            </a:r>
          </a:p>
          <a:p xmlns:a="http://schemas.openxmlformats.org/drawingml/2006/main">
            <a:r>
              <a:t>https://github.com/SYSTRAN/faster-whisper</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7f26e918cdb4a3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6853fb28e2346d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faf7eaea088499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41b64e03c304e7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8e71eff3f9b4c8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23962cf42b4459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0F873BF-2608-42A0-A7A7-BAEC9B2D2B3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2EC4632-69FF-4579-989E-0E3A839D94C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8AC9A08-692D-433E-8611-8A2B31ABFC2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518B75E-DEB8-484D-B760-B93F6C167D9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DBD63FA-EF5B-4D07-9F8E-50AD5A06482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2C61D76-8D2A-40F3-960D-BA2DB381F6B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3F627C2-73A7-4C17-855D-ECA5AF74615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B1F326D-4D02-432A-B854-9219F8A224F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5FD5F0A-9BE2-424E-875E-8CDC41635E4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FD09067-27D5-427A-892A-3BB6142E4C5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a1ee01826e64e5a" /><Relationship Type="http://schemas.openxmlformats.org/officeDocument/2006/relationships/slideLayout" Target="/ppt/slideLayouts/slideLayout1.xml" Id="Rfee110bd3886409f" /><Relationship Type="http://schemas.openxmlformats.org/officeDocument/2006/relationships/slideLayout" Target="/ppt/slideLayouts/slideLayout2.xml" Id="R139492d356cf4ce9" /><Relationship Type="http://schemas.openxmlformats.org/officeDocument/2006/relationships/slideLayout" Target="/ppt/slideLayouts/slideLayout3.xml" Id="R2db825e7e3f741fd" /><Relationship Type="http://schemas.openxmlformats.org/officeDocument/2006/relationships/slideLayout" Target="/ppt/slideLayouts/slideLayout4.xml" Id="R77d693cfdcb546fb" /><Relationship Type="http://schemas.openxmlformats.org/officeDocument/2006/relationships/slideLayout" Target="/ppt/slideLayouts/slideLayout5.xml" Id="R3b66454504234c2a" /><Relationship Type="http://schemas.openxmlformats.org/officeDocument/2006/relationships/slideLayout" Target="/ppt/slideLayouts/slideLayout6.xml" Id="R601c29cd1e6740c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ee110bd3886409f"/>
    <p:sldLayoutId xmlns:r="http://schemas.openxmlformats.org/officeDocument/2006/relationships" id="2147483650" r:id="R139492d356cf4ce9"/>
    <p:sldLayoutId xmlns:r="http://schemas.openxmlformats.org/officeDocument/2006/relationships" id="2147483651" r:id="R2db825e7e3f741fd"/>
    <p:sldLayoutId xmlns:r="http://schemas.openxmlformats.org/officeDocument/2006/relationships" id="2147483652" r:id="R77d693cfdcb546fb"/>
    <p:sldLayoutId xmlns:r="http://schemas.openxmlformats.org/officeDocument/2006/relationships" id="2147483653" r:id="R3b66454504234c2a"/>
    <p:sldLayoutId xmlns:r="http://schemas.openxmlformats.org/officeDocument/2006/relationships" id="2147483654" r:id="R601c29cd1e6740c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c5d42075324425a" /><Relationship Type="http://schemas.openxmlformats.org/officeDocument/2006/relationships/image" Target="/ppt/media/image.png" Id="R9efe6ca9eb7f4dd8" /><Relationship Type="http://schemas.openxmlformats.org/officeDocument/2006/relationships/notesSlide" Target="/ppt/notesSlides/notesSlide1.xml" Id="Rdf3732f32ce24f9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2bedb57d9c04a5c" /><Relationship Type="http://schemas.openxmlformats.org/officeDocument/2006/relationships/notesSlide" Target="/ppt/notesSlides/notesSlide2.xml" Id="Rf2b72013ac3c467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bec539e278c476a" /><Relationship Type="http://schemas.openxmlformats.org/officeDocument/2006/relationships/notesSlide" Target="/ppt/notesSlides/notesSlide3.xml" Id="R8c30b8c3567e42d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a615fd764224155" /><Relationship Type="http://schemas.openxmlformats.org/officeDocument/2006/relationships/notesSlide" Target="/ppt/notesSlides/notesSlide4.xml" Id="R5fb64750482f4d8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fc5edb7d705471b" /><Relationship Type="http://schemas.openxmlformats.org/officeDocument/2006/relationships/notesSlide" Target="/ppt/notesSlides/notesSlide5.xml" Id="Rea1dc5bbb07a438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24b9389305d48fa" /><Relationship Type="http://schemas.openxmlformats.org/officeDocument/2006/relationships/notesSlide" Target="/ppt/notesSlides/notesSlide6.xml" Id="Rbe96a3b9b4bf445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3945ac380d3428d" /><Relationship Type="http://schemas.openxmlformats.org/officeDocument/2006/relationships/notesSlide" Target="/ppt/notesSlides/notesSlide7.xml" Id="Re83487098f5b4d1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6f0880986a5437f" /><Relationship Type="http://schemas.openxmlformats.org/officeDocument/2006/relationships/notesSlide" Target="/ppt/notesSlides/notesSlide8.xml" Id="Ra9c5f7988f3d4e7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37eaae2321f4617" /><Relationship Type="http://schemas.openxmlformats.org/officeDocument/2006/relationships/notesSlide" Target="/ppt/notesSlides/notesSlide9.xml" Id="R8459c000674f4404"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CC9F0A5A-D279-4454-8540-A9191C0B5EFB}"/>
              </a:ext>
            </a:extLst>
          </p:cNvPr>
          <p:cNvPicPr>
            <a:picLocks xmlns:a="http://schemas.openxmlformats.org/drawingml/2006/main" noChangeAspect="1"/>
          </p:cNvPicPr>
          <p:nvPr/>
        </p:nvPicPr>
        <p:blipFill>
          <a:blip xmlns:r="http://schemas.openxmlformats.org/officeDocument/2006/relationships" xmlns:a="http://schemas.openxmlformats.org/drawingml/2006/main" r:embed="R9efe6ca9eb7f4dd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xt">
            <a:extLst xmlns:a="http://schemas.openxmlformats.org/drawingml/2006/main">
              <a:ext uri="{FF2B5EF4-FFF2-40B4-BE49-F238E27FC236}">
                <a16:creationId xmlns:a16="http://schemas.microsoft.com/office/drawing/2014/main" id="{00EBF295-4735-4FA6-A662-4AB319E3090C}"/>
              </a:ext>
            </a:extLst>
          </p:cNvPr>
          <p:cNvSpPr>
            <a:spLocks xmlns:a="http://schemas.openxmlformats.org/drawingml/2006/main" noGrp="1"/>
          </p:cNvSpPr>
          <p:nvPr/>
        </p:nvSpPr>
        <p:spPr>
          <a:xfrm xmlns:a="http://schemas.openxmlformats.org/drawingml/2006/main">
            <a:off x="609600" y="609600"/>
            <a:ext cx="781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70D2CD"/>
                </a:solidFill>
                <a:latin typeface="Calibri"/>
                <a:ea typeface="Calibri"/>
                <a:cs typeface="Calibri"/>
              </a:defRPr>
            </a:defPPr>
          </a:lstStyle>
          <a:p xmlns:a="http://schemas.openxmlformats.org/drawingml/2006/main">
            <a:pPr>
              <a:defRPr sz="1575" b="1">
                <a:solidFill>
                  <a:srgbClr val="70D2CD"/>
                </a:solidFill>
                <a:latin typeface="Calibri"/>
                <a:ea typeface="Calibri"/>
                <a:cs typeface="Calibri"/>
              </a:defRPr>
            </a:pPr>
            <a:r>
              <a:rPr sz="1575" b="1">
                <a:solidFill>
                  <a:srgbClr val="70D2CD"/>
                </a:solidFill>
                <a:latin typeface="Calibri"/>
                <a:ea typeface="Calibri"/>
                <a:cs typeface="Calibri"/>
              </a:rPr>
              <a:t>RAG WORKSHOP  /  NOTEBOOK 15</a:t>
            </a:r>
          </a:p>
        </p:txBody>
      </p:sp>
      <p:sp>
        <p:nvSpPr>
          <p:cNvPr id="3" name="deck-title">
            <a:extLst xmlns:a="http://schemas.openxmlformats.org/drawingml/2006/main">
              <a:ext uri="{FF2B5EF4-FFF2-40B4-BE49-F238E27FC236}">
                <a16:creationId xmlns:a16="http://schemas.microsoft.com/office/drawing/2014/main" id="{50A2C3EA-A739-4ACF-AAD9-F2FE0EB10D3B}"/>
              </a:ext>
            </a:extLst>
          </p:cNvPr>
          <p:cNvSpPr>
            <a:spLocks xmlns:a="http://schemas.openxmlformats.org/drawingml/2006/main" noGrp="1"/>
          </p:cNvSpPr>
          <p:nvPr/>
        </p:nvSpPr>
        <p:spPr>
          <a:xfrm xmlns:a="http://schemas.openxmlformats.org/drawingml/2006/main">
            <a:off x="609600" y="2124075"/>
            <a:ext cx="809625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FFFFFF"/>
                </a:solidFill>
                <a:latin typeface="Calibri"/>
                <a:ea typeface="Calibri"/>
                <a:cs typeface="Calibri"/>
              </a:defRPr>
            </a:defPPr>
          </a:lstStyle>
          <a:p xmlns:a="http://schemas.openxmlformats.org/drawingml/2006/main">
            <a:pPr>
              <a:defRPr sz="4800" b="1">
                <a:solidFill>
                  <a:srgbClr val="FFFFFF"/>
                </a:solidFill>
                <a:latin typeface="Calibri"/>
                <a:ea typeface="Calibri"/>
                <a:cs typeface="Calibri"/>
              </a:defRPr>
            </a:pPr>
            <a:r>
              <a:rPr sz="4800" b="1">
                <a:solidFill>
                  <a:srgbClr val="FFFFFF"/>
                </a:solidFill>
                <a:latin typeface="Calibri"/>
                <a:ea typeface="Calibri"/>
                <a:cs typeface="Calibri"/>
              </a:rPr>
              <a:t>Video RAG</a:t>
            </a:r>
          </a:p>
        </p:txBody>
      </p:sp>
      <p:sp>
        <p:nvSpPr>
          <p:cNvPr id="4" name="text">
            <a:extLst xmlns:a="http://schemas.openxmlformats.org/drawingml/2006/main">
              <a:ext uri="{FF2B5EF4-FFF2-40B4-BE49-F238E27FC236}">
                <a16:creationId xmlns:a16="http://schemas.microsoft.com/office/drawing/2014/main" id="{63B5D5D0-5612-4387-898A-0DD2E606CEEF}"/>
              </a:ext>
            </a:extLst>
          </p:cNvPr>
          <p:cNvSpPr>
            <a:spLocks xmlns:a="http://schemas.openxmlformats.org/drawingml/2006/main" noGrp="1"/>
          </p:cNvSpPr>
          <p:nvPr/>
        </p:nvSpPr>
        <p:spPr>
          <a:xfrm xmlns:a="http://schemas.openxmlformats.org/drawingml/2006/main">
            <a:off x="609600" y="4171950"/>
            <a:ext cx="7334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CADBE3"/>
                </a:solidFill>
                <a:latin typeface="Calibri"/>
                <a:ea typeface="Calibri"/>
                <a:cs typeface="Calibri"/>
              </a:defRPr>
            </a:defPPr>
          </a:lstStyle>
          <a:p xmlns:a="http://schemas.openxmlformats.org/drawingml/2006/main">
            <a:pPr>
              <a:defRPr sz="2250" b="0">
                <a:solidFill>
                  <a:srgbClr val="CADBE3"/>
                </a:solidFill>
                <a:latin typeface="Calibri"/>
                <a:ea typeface="Calibri"/>
                <a:cs typeface="Calibri"/>
              </a:defRPr>
            </a:pPr>
            <a:r>
              <a:rPr sz="2250" b="0">
                <a:solidFill>
                  <a:srgbClr val="CADBE3"/>
                </a:solidFill>
                <a:latin typeface="Calibri"/>
                <a:ea typeface="Calibri"/>
                <a:cs typeface="Calibri"/>
              </a:rPr>
              <a:t>Align speech and sampled frames, then retrieve evidence on one timeline.</a:t>
            </a:r>
          </a:p>
        </p:txBody>
      </p:sp>
      <p:sp>
        <p:nvSpPr>
          <p:cNvPr id="5" name="text">
            <a:extLst xmlns:a="http://schemas.openxmlformats.org/drawingml/2006/main">
              <a:ext uri="{FF2B5EF4-FFF2-40B4-BE49-F238E27FC236}">
                <a16:creationId xmlns:a16="http://schemas.microsoft.com/office/drawing/2014/main" id="{CE9E9ADE-9BC4-4FFE-8B5B-49C72FA5D82E}"/>
              </a:ext>
            </a:extLst>
          </p:cNvPr>
          <p:cNvSpPr>
            <a:spLocks xmlns:a="http://schemas.openxmlformats.org/drawingml/2006/main" noGrp="1"/>
          </p:cNvSpPr>
          <p:nvPr/>
        </p:nvSpPr>
        <p:spPr>
          <a:xfrm xmlns:a="http://schemas.openxmlformats.org/drawingml/2006/main">
            <a:off x="609600" y="618172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AEC3D0"/>
                </a:solidFill>
                <a:latin typeface="Calibri"/>
                <a:ea typeface="Calibri"/>
                <a:cs typeface="Calibri"/>
              </a:defRPr>
            </a:defPPr>
          </a:lstStyle>
          <a:p xmlns:a="http://schemas.openxmlformats.org/drawingml/2006/main">
            <a:pPr>
              <a:defRPr sz="1575" b="0">
                <a:solidFill>
                  <a:srgbClr val="AEC3D0"/>
                </a:solidFill>
                <a:latin typeface="Calibri"/>
                <a:ea typeface="Calibri"/>
                <a:cs typeface="Calibri"/>
              </a:defRPr>
            </a:pPr>
            <a:r>
              <a:rPr sz="1575" b="0">
                <a:solidFill>
                  <a:srgbClr val="AEC3D0"/>
                </a:solidFill>
                <a:latin typeface="Calibri"/>
                <a:ea typeface="Calibri"/>
                <a:cs typeface="Calibri"/>
              </a:rPr>
              <a:t>15_video_rag.ipynb</a:t>
            </a:r>
          </a:p>
        </p:txBody>
      </p:sp>
    </p:spTree>
    <p:extLst>
      <p:ext uri="{BB962C8B-B14F-4D97-AF65-F5344CB8AC3E}">
        <p14:creationId xmlns:p14="http://schemas.microsoft.com/office/powerpoint/2010/main" val="1260408954"/>
      </p:ext>
    </p:extLst>
  </p:cSld>
</p:sld>
</file>

<file path=ppt/slides/slide2.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77EE72E0-FFEE-4C32-AACE-80780DAA68AA}"/>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CONCEPT  /  NOTEBOOK 15</a:t>
            </a:r>
          </a:p>
        </p:txBody>
      </p:sp>
      <p:sp>
        <p:nvSpPr>
          <p:cNvPr id="2" name="slide-title">
            <a:extLst xmlns:a="http://schemas.openxmlformats.org/drawingml/2006/main">
              <a:ext uri="{FF2B5EF4-FFF2-40B4-BE49-F238E27FC236}">
                <a16:creationId xmlns:a16="http://schemas.microsoft.com/office/drawing/2014/main" id="{17BF9DCC-8909-4CBF-BF42-6716B6035B0E}"/>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A video has visual and spoken timelines</a:t>
            </a:r>
          </a:p>
        </p:txBody>
      </p:sp>
      <p:sp>
        <p:nvSpPr>
          <p:cNvPr id="3" name="lead">
            <a:extLst xmlns:a="http://schemas.openxmlformats.org/drawingml/2006/main">
              <a:ext uri="{FF2B5EF4-FFF2-40B4-BE49-F238E27FC236}">
                <a16:creationId xmlns:a16="http://schemas.microsoft.com/office/drawing/2014/main" id="{ADD8F325-E723-4204-AA2E-5A05327238E7}"/>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Visible scenes and narration can change at different moments.</a:t>
            </a:r>
          </a:p>
        </p:txBody>
      </p:sp>
      <p:sp>
        <p:nvSpPr>
          <p:cNvPr id="4" name="text">
            <a:extLst xmlns:a="http://schemas.openxmlformats.org/drawingml/2006/main">
              <a:ext uri="{FF2B5EF4-FFF2-40B4-BE49-F238E27FC236}">
                <a16:creationId xmlns:a16="http://schemas.microsoft.com/office/drawing/2014/main" id="{874B6860-ECDF-4DA8-B78E-7DFF61F71A3A}"/>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15  /  Video RAG</a:t>
            </a:r>
          </a:p>
        </p:txBody>
      </p:sp>
      <p:sp>
        <p:nvSpPr>
          <p:cNvPr id="5" name="page-number">
            <a:extLst xmlns:a="http://schemas.openxmlformats.org/drawingml/2006/main">
              <a:ext uri="{FF2B5EF4-FFF2-40B4-BE49-F238E27FC236}">
                <a16:creationId xmlns:a16="http://schemas.microsoft.com/office/drawing/2014/main" id="{BB50D641-40E4-46EC-AD06-83C7B6775B89}"/>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02</a:t>
            </a:r>
          </a:p>
        </p:txBody>
      </p:sp>
      <p:sp>
        <p:nvSpPr>
          <p:cNvPr id="6" name="text">
            <a:extLst xmlns:a="http://schemas.openxmlformats.org/drawingml/2006/main">
              <a:ext uri="{FF2B5EF4-FFF2-40B4-BE49-F238E27FC236}">
                <a16:creationId xmlns:a16="http://schemas.microsoft.com/office/drawing/2014/main" id="{CEAF2BE6-5BC4-411D-A764-6B530027F011}"/>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Visual window</a:t>
            </a:r>
          </a:p>
        </p:txBody>
      </p:sp>
      <p:sp>
        <p:nvSpPr>
          <p:cNvPr id="7" name="text">
            <a:extLst xmlns:a="http://schemas.openxmlformats.org/drawingml/2006/main">
              <a:ext uri="{FF2B5EF4-FFF2-40B4-BE49-F238E27FC236}">
                <a16:creationId xmlns:a16="http://schemas.microsoft.com/office/drawing/2014/main" id="{CDD94043-EA1C-481A-B851-4126962F97DA}"/>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The retention slide is visible from 11.9 to 24.7 seconds in this fixture.</a:t>
            </a:r>
          </a:p>
        </p:txBody>
      </p:sp>
      <p:sp>
        <p:nvSpPr>
          <p:cNvPr id="8" name="text">
            <a:extLst xmlns:a="http://schemas.openxmlformats.org/drawingml/2006/main">
              <a:ext uri="{FF2B5EF4-FFF2-40B4-BE49-F238E27FC236}">
                <a16:creationId xmlns:a16="http://schemas.microsoft.com/office/drawing/2014/main" id="{31D150E0-9851-4701-BC20-0E62AD77E255}"/>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Speech interval</a:t>
            </a:r>
          </a:p>
        </p:txBody>
      </p:sp>
      <p:sp>
        <p:nvSpPr>
          <p:cNvPr id="9" name="text">
            <a:extLst xmlns:a="http://schemas.openxmlformats.org/drawingml/2006/main">
              <a:ext uri="{FF2B5EF4-FFF2-40B4-BE49-F238E27FC236}">
                <a16:creationId xmlns:a16="http://schemas.microsoft.com/office/drawing/2014/main" id="{FC1301D3-0FB6-498B-82DE-84DDFA2DBDDF}"/>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Its narration spans approximately 11.82 to 24.22 seconds.</a:t>
            </a:r>
          </a:p>
        </p:txBody>
      </p:sp>
      <p:sp>
        <p:nvSpPr>
          <p:cNvPr id="10" name="text">
            <a:extLst xmlns:a="http://schemas.openxmlformats.org/drawingml/2006/main">
              <a:ext uri="{FF2B5EF4-FFF2-40B4-BE49-F238E27FC236}">
                <a16:creationId xmlns:a16="http://schemas.microsoft.com/office/drawing/2014/main" id="{1BFC304A-EBFE-4202-83EA-7CAE6FA83DCC}"/>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Provenance</a:t>
            </a:r>
          </a:p>
        </p:txBody>
      </p:sp>
      <p:sp>
        <p:nvSpPr>
          <p:cNvPr id="11" name="text">
            <a:extLst xmlns:a="http://schemas.openxmlformats.org/drawingml/2006/main">
              <a:ext uri="{FF2B5EF4-FFF2-40B4-BE49-F238E27FC236}">
                <a16:creationId xmlns:a16="http://schemas.microsoft.com/office/drawing/2014/main" id="{B45DCF2A-D16D-41B0-8A84-09AD73E463AE}"/>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The scene manifest is authored during asset creation; it is not a scene detector result.</a:t>
            </a:r>
          </a:p>
        </p:txBody>
      </p:sp>
      <p:sp>
        <p:nvSpPr>
          <p:cNvPr id="12" name="text">
            <a:extLst xmlns:a="http://schemas.openxmlformats.org/drawingml/2006/main">
              <a:ext uri="{FF2B5EF4-FFF2-40B4-BE49-F238E27FC236}">
                <a16:creationId xmlns:a16="http://schemas.microsoft.com/office/drawing/2014/main" id="{3F18EE14-B0DB-4A1E-ABB0-906382A143B8}"/>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Evidence limit</a:t>
            </a:r>
          </a:p>
        </p:txBody>
      </p:sp>
      <p:sp>
        <p:nvSpPr>
          <p:cNvPr id="13" name="text">
            <a:extLst xmlns:a="http://schemas.openxmlformats.org/drawingml/2006/main">
              <a:ext uri="{FF2B5EF4-FFF2-40B4-BE49-F238E27FC236}">
                <a16:creationId xmlns:a16="http://schemas.microsoft.com/office/drawing/2014/main" id="{5BBE3135-04DB-4C3A-8154-B35905A8B616}"/>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Temporal overlap alone does not prove that a spoken statement describes a visible object.</a:t>
            </a:r>
          </a:p>
        </p:txBody>
      </p:sp>
    </p:spTree>
    <p:extLst>
      <p:ext uri="{BB962C8B-B14F-4D97-AF65-F5344CB8AC3E}">
        <p14:creationId xmlns:p14="http://schemas.microsoft.com/office/powerpoint/2010/main" val="527205242"/>
      </p:ext>
    </p:extLst>
  </p:cSld>
</p:sld>
</file>

<file path=ppt/slides/slide3.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6DBD80F8-C1FE-46E2-9947-20CC674E3D77}"/>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WORKFLOW  /  NOTEBOOK 15</a:t>
            </a:r>
          </a:p>
        </p:txBody>
      </p:sp>
      <p:sp>
        <p:nvSpPr>
          <p:cNvPr id="2" name="slide-title">
            <a:extLst xmlns:a="http://schemas.openxmlformats.org/drawingml/2006/main">
              <a:ext uri="{FF2B5EF4-FFF2-40B4-BE49-F238E27FC236}">
                <a16:creationId xmlns:a16="http://schemas.microsoft.com/office/drawing/2014/main" id="{3DF87E24-1B57-4F1A-8534-0F9C9D5B2C66}"/>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Decode, align, retrieve, and ground</a:t>
            </a:r>
          </a:p>
        </p:txBody>
      </p:sp>
      <p:sp>
        <p:nvSpPr>
          <p:cNvPr id="3" name="lead">
            <a:extLst xmlns:a="http://schemas.openxmlformats.org/drawingml/2006/main">
              <a:ext uri="{FF2B5EF4-FFF2-40B4-BE49-F238E27FC236}">
                <a16:creationId xmlns:a16="http://schemas.microsoft.com/office/drawing/2014/main" id="{497B0B42-DA9D-4044-B694-44C1833CBECE}"/>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The default pipeline processes real media while keeping learned branches optional.</a:t>
            </a:r>
          </a:p>
        </p:txBody>
      </p:sp>
      <p:sp>
        <p:nvSpPr>
          <p:cNvPr id="4" name="text">
            <a:extLst xmlns:a="http://schemas.openxmlformats.org/drawingml/2006/main">
              <a:ext uri="{FF2B5EF4-FFF2-40B4-BE49-F238E27FC236}">
                <a16:creationId xmlns:a16="http://schemas.microsoft.com/office/drawing/2014/main" id="{3652613D-EA92-4FF9-B6A7-93E77E8D6F1C}"/>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15  /  Video RAG</a:t>
            </a:r>
          </a:p>
        </p:txBody>
      </p:sp>
      <p:sp>
        <p:nvSpPr>
          <p:cNvPr id="5" name="page-number">
            <a:extLst xmlns:a="http://schemas.openxmlformats.org/drawingml/2006/main">
              <a:ext uri="{FF2B5EF4-FFF2-40B4-BE49-F238E27FC236}">
                <a16:creationId xmlns:a16="http://schemas.microsoft.com/office/drawing/2014/main" id="{96A8C405-AC59-479A-B85C-35F3F50D358A}"/>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03</a:t>
            </a:r>
          </a:p>
        </p:txBody>
      </p:sp>
      <p:graphicFrame>
        <p:nvGraphicFramePr>
          <p:cNvPr id="6" name="">
            <a:extLst xmlns:a="http://schemas.openxmlformats.org/drawingml/2006/main">
              <a:ext uri="{FF2B5EF4-FFF2-40B4-BE49-F238E27FC236}">
                <a16:creationId xmlns:a16="http://schemas.microsoft.com/office/drawing/2014/main" id="{560CE2B8-1F38-4CBA-9199-4D06E6521B05}"/>
              </a:ext>
            </a:extLst>
          </p:cNvPr>
          <p:cNvGraphicFramePr/>
          <p:nvPr/>
        </p:nvGraphicFramePr>
        <p:xfrm>
          <a:off xmlns:a="http://schemas.openxmlformats.org/drawingml/2006/main" x="609600" y="2505075"/>
          <a:ext xmlns:a="http://schemas.openxmlformats.org/drawingml/2006/main" cx="10972800" cy="3714750"/>
        </p:xfrm>
        <a:graphic xmlns:a="http://schemas.openxmlformats.org/drawingml/2006/main">
          <a:graphicData uri="http://schemas.openxmlformats.org/drawingml/2006/table">
            <a:tbl>
              <a:tblPr/>
              <a:tblGrid>
                <a:gridCol w="952500"/>
                <a:gridCol w="2800350"/>
                <a:gridCol w="7219950"/>
              </a:tblGrid>
              <a:tr h="466725">
                <a:tc>
                  <a:txBody>
                    <a:bodyPr wrap="square" lIns="133350" tIns="95250" rIns="133350" bIns="95250">
                      <a:noAutofit/>
                    </a:bodyPr>
                    <a:lstStyle/>
                    <a:p>
                      <a:r>
                        <a:rPr sz="1800" b="1">
                          <a:solidFill>
                            <a:srgbClr val="FFFFFF"/>
                          </a:solidFill>
                          <a:latin typeface="Calibri"/>
                          <a:ea typeface="Calibri"/>
                          <a:cs typeface="Calibri"/>
                        </a:rPr>
                        <a:t>Step</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Operation</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What to inspect</a:t>
                      </a:r>
                    </a:p>
                  </a:txBody>
                  <a:tcPr marL="91440" marR="91440" marT="45720" marB="45720">
                    <a:solidFill>
                      <a:srgbClr val="102F3E"/>
                    </a:solidFill>
                  </a:tcPr>
                </a:tc>
              </a:tr>
              <a:tr h="812006">
                <a:tc>
                  <a:txBody>
                    <a:bodyPr wrap="square" lIns="133350" tIns="95250" rIns="133350" bIns="95250">
                      <a:noAutofit/>
                    </a:bodyPr>
                    <a:lstStyle/>
                    <a:p>
                      <a:r>
                        <a:rPr sz="1875" b="0">
                          <a:solidFill>
                            <a:srgbClr val="102F3E"/>
                          </a:solidFill>
                          <a:latin typeface="Calibri"/>
                          <a:ea typeface="Calibri"/>
                          <a:cs typeface="Calibri"/>
                        </a:rPr>
                        <a:t>01</a:t>
                      </a:r>
                    </a:p>
                  </a:txBody>
                  <a:tcPr marL="91440" marR="91440" marT="45720" marB="45720">
                    <a:solidFill>
                      <a:srgbClr val="FFFFFF"/>
                    </a:solidFill>
                  </a:tcPr>
                </a:tc>
                <a:tc>
                  <a:txBody>
                    <a:bodyPr wrap="square" lIns="133350" tIns="95250" rIns="133350" bIns="95250">
                      <a:noAutofit/>
                    </a:bodyPr>
                    <a:lstStyle/>
                    <a:p>
                      <a:r>
                        <a:rPr sz="1875" b="1">
                          <a:solidFill>
                            <a:srgbClr val="102F3E"/>
                          </a:solidFill>
                          <a:latin typeface="Calibri"/>
                          <a:ea typeface="Calibri"/>
                          <a:cs typeface="Calibri"/>
                        </a:rPr>
                        <a:t>Decode</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FFmpeg extracts the MP4 audio track; OpenCV samples actual frames every two seconds.</a:t>
                      </a:r>
                    </a:p>
                  </a:txBody>
                  <a:tcPr marL="91440" marR="91440" marT="45720" marB="45720">
                    <a:solidFill>
                      <a:srgbClr val="FFFFFF"/>
                    </a:solidFill>
                  </a:tcPr>
                </a:tc>
              </a:tr>
              <a:tr h="812006">
                <a:tc>
                  <a:txBody>
                    <a:bodyPr wrap="square" lIns="133350" tIns="95250" rIns="133350" bIns="95250">
                      <a:noAutofit/>
                    </a:bodyPr>
                    <a:lstStyle/>
                    <a:p>
                      <a:r>
                        <a:rPr sz="1875" b="0">
                          <a:solidFill>
                            <a:srgbClr val="102F3E"/>
                          </a:solidFill>
                          <a:latin typeface="Calibri"/>
                          <a:ea typeface="Calibri"/>
                          <a:cs typeface="Calibri"/>
                        </a:rPr>
                        <a:t>02</a:t>
                      </a:r>
                    </a:p>
                  </a:txBody>
                  <a:tcPr marL="91440" marR="91440" marT="45720" marB="45720">
                    <a:solidFill>
                      <a:srgbClr val="EDF2F1"/>
                    </a:solidFill>
                  </a:tcPr>
                </a:tc>
                <a:tc>
                  <a:txBody>
                    <a:bodyPr wrap="square" lIns="133350" tIns="95250" rIns="133350" bIns="95250">
                      <a:noAutofit/>
                    </a:bodyPr>
                    <a:lstStyle/>
                    <a:p>
                      <a:r>
                        <a:rPr sz="1875" b="1">
                          <a:solidFill>
                            <a:srgbClr val="102F3E"/>
                          </a:solidFill>
                          <a:latin typeface="Calibri"/>
                          <a:ea typeface="Calibri"/>
                          <a:cs typeface="Calibri"/>
                        </a:rPr>
                        <a:t>Align</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Attach transcript segments and sampled frames to shared temporal window IDs.</a:t>
                      </a:r>
                    </a:p>
                  </a:txBody>
                  <a:tcPr marL="91440" marR="91440" marT="45720" marB="45720">
                    <a:solidFill>
                      <a:srgbClr val="EDF2F1"/>
                    </a:solidFill>
                  </a:tcPr>
                </a:tc>
              </a:tr>
              <a:tr h="812006">
                <a:tc>
                  <a:txBody>
                    <a:bodyPr wrap="square" lIns="133350" tIns="95250" rIns="133350" bIns="95250">
                      <a:noAutofit/>
                    </a:bodyPr>
                    <a:lstStyle/>
                    <a:p>
                      <a:r>
                        <a:rPr sz="1875" b="0">
                          <a:solidFill>
                            <a:srgbClr val="102F3E"/>
                          </a:solidFill>
                          <a:latin typeface="Calibri"/>
                          <a:ea typeface="Calibri"/>
                          <a:cs typeface="Calibri"/>
                        </a:rPr>
                        <a:t>03</a:t>
                      </a:r>
                    </a:p>
                  </a:txBody>
                  <a:tcPr marL="91440" marR="91440" marT="45720" marB="45720">
                    <a:solidFill>
                      <a:srgbClr val="FFFFFF"/>
                    </a:solidFill>
                  </a:tcPr>
                </a:tc>
                <a:tc>
                  <a:txBody>
                    <a:bodyPr wrap="square" lIns="133350" tIns="95250" rIns="133350" bIns="95250">
                      <a:noAutofit/>
                    </a:bodyPr>
                    <a:lstStyle/>
                    <a:p>
                      <a:r>
                        <a:rPr sz="1875" b="1">
                          <a:solidFill>
                            <a:srgbClr val="102F3E"/>
                          </a:solidFill>
                          <a:latin typeface="Calibri"/>
                          <a:ea typeface="Calibri"/>
                          <a:cs typeface="Calibri"/>
                        </a:rPr>
                        <a:t>Retrieve</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Rank speech text; optionally rank frame pixels with CLIP, then fuse window ranks.</a:t>
                      </a:r>
                    </a:p>
                  </a:txBody>
                  <a:tcPr marL="91440" marR="91440" marT="45720" marB="45720">
                    <a:solidFill>
                      <a:srgbClr val="FFFFFF"/>
                    </a:solidFill>
                  </a:tcPr>
                </a:tc>
              </a:tr>
              <a:tr h="812006">
                <a:tc>
                  <a:txBody>
                    <a:bodyPr wrap="square" lIns="133350" tIns="95250" rIns="133350" bIns="95250">
                      <a:noAutofit/>
                    </a:bodyPr>
                    <a:lstStyle/>
                    <a:p>
                      <a:r>
                        <a:rPr sz="1875" b="0">
                          <a:solidFill>
                            <a:srgbClr val="102F3E"/>
                          </a:solidFill>
                          <a:latin typeface="Calibri"/>
                          <a:ea typeface="Calibri"/>
                          <a:cs typeface="Calibri"/>
                        </a:rPr>
                        <a:t>04</a:t>
                      </a:r>
                    </a:p>
                  </a:txBody>
                  <a:tcPr marL="91440" marR="91440" marT="45720" marB="45720">
                    <a:solidFill>
                      <a:srgbClr val="EDF2F1"/>
                    </a:solidFill>
                  </a:tcPr>
                </a:tc>
                <a:tc>
                  <a:txBody>
                    <a:bodyPr wrap="square" lIns="133350" tIns="95250" rIns="133350" bIns="95250">
                      <a:noAutofit/>
                    </a:bodyPr>
                    <a:lstStyle/>
                    <a:p>
                      <a:r>
                        <a:rPr sz="1875" b="1">
                          <a:solidFill>
                            <a:srgbClr val="102F3E"/>
                          </a:solidFill>
                          <a:latin typeface="Calibri"/>
                          <a:ea typeface="Calibri"/>
                          <a:cs typeface="Calibri"/>
                        </a:rPr>
                        <a:t>Answer</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Replay the chosen time range and send selected frames plus timestamped text to Claude.</a:t>
                      </a:r>
                    </a:p>
                  </a:txBody>
                  <a:tcPr marL="91440" marR="91440" marT="45720" marB="45720">
                    <a:solidFill>
                      <a:srgbClr val="EDF2F1"/>
                    </a:solidFill>
                  </a:tcPr>
                </a:tc>
              </a:tr>
            </a:tbl>
          </a:graphicData>
        </a:graphic>
      </p:graphicFrame>
    </p:spTree>
    <p:extLst>
      <p:ext uri="{BB962C8B-B14F-4D97-AF65-F5344CB8AC3E}">
        <p14:creationId xmlns:p14="http://schemas.microsoft.com/office/powerpoint/2010/main" val="1748313464"/>
      </p:ext>
    </p:extLst>
  </p:cSld>
</p:sld>
</file>

<file path=ppt/slides/slide4.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9ACB20E2-13FE-4097-93B3-A41F3585DC5C}"/>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EXAMPLE  /  NOTEBOOK 15</a:t>
            </a:r>
          </a:p>
        </p:txBody>
      </p:sp>
      <p:sp>
        <p:nvSpPr>
          <p:cNvPr id="2" name="slide-title">
            <a:extLst xmlns:a="http://schemas.openxmlformats.org/drawingml/2006/main">
              <a:ext uri="{FF2B5EF4-FFF2-40B4-BE49-F238E27FC236}">
                <a16:creationId xmlns:a16="http://schemas.microsoft.com/office/drawing/2014/main" id="{00840052-73AD-4C8F-8433-8D2852EC8AFB}"/>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Handle a boundary-crossing utterance</a:t>
            </a:r>
          </a:p>
        </p:txBody>
      </p:sp>
      <p:sp>
        <p:nvSpPr>
          <p:cNvPr id="3" name="lead">
            <a:extLst xmlns:a="http://schemas.openxmlformats.org/drawingml/2006/main">
              <a:ext uri="{FF2B5EF4-FFF2-40B4-BE49-F238E27FC236}">
                <a16:creationId xmlns:a16="http://schemas.microsoft.com/office/drawing/2014/main" id="{217434B0-2102-4805-8E33-A856861FB603}"/>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Shared window IDs make fusion possible, but alignment rules must prevent duplicate evidence.</a:t>
            </a:r>
          </a:p>
        </p:txBody>
      </p:sp>
      <p:sp>
        <p:nvSpPr>
          <p:cNvPr id="4" name="text">
            <a:extLst xmlns:a="http://schemas.openxmlformats.org/drawingml/2006/main">
              <a:ext uri="{FF2B5EF4-FFF2-40B4-BE49-F238E27FC236}">
                <a16:creationId xmlns:a16="http://schemas.microsoft.com/office/drawing/2014/main" id="{10EEEB9F-F4D8-48DC-892D-59B7475C4B99}"/>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15  /  Video RAG</a:t>
            </a:r>
          </a:p>
        </p:txBody>
      </p:sp>
      <p:sp>
        <p:nvSpPr>
          <p:cNvPr id="5" name="page-number">
            <a:extLst xmlns:a="http://schemas.openxmlformats.org/drawingml/2006/main">
              <a:ext uri="{FF2B5EF4-FFF2-40B4-BE49-F238E27FC236}">
                <a16:creationId xmlns:a16="http://schemas.microsoft.com/office/drawing/2014/main" id="{6A80A379-06E0-4FCD-AC9D-942E1AE520DD}"/>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04</a:t>
            </a:r>
          </a:p>
        </p:txBody>
      </p:sp>
      <p:sp>
        <p:nvSpPr>
          <p:cNvPr id="6" name="text">
            <a:extLst xmlns:a="http://schemas.openxmlformats.org/drawingml/2006/main">
              <a:ext uri="{FF2B5EF4-FFF2-40B4-BE49-F238E27FC236}">
                <a16:creationId xmlns:a16="http://schemas.microsoft.com/office/drawing/2014/main" id="{BB9A0FDF-EFB3-494C-80A6-C70F575DB61C}"/>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Half-open windows</a:t>
            </a:r>
          </a:p>
        </p:txBody>
      </p:sp>
      <p:sp>
        <p:nvSpPr>
          <p:cNvPr id="7" name="text">
            <a:extLst xmlns:a="http://schemas.openxmlformats.org/drawingml/2006/main">
              <a:ext uri="{FF2B5EF4-FFF2-40B4-BE49-F238E27FC236}">
                <a16:creationId xmlns:a16="http://schemas.microsoft.com/office/drawing/2014/main" id="{B38D4F0C-CFDB-43A1-9D92-D44EF6471AA1}"/>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A frame belongs when start &lt;= time &lt; end; a frame at end belongs to the next window.</a:t>
            </a:r>
          </a:p>
        </p:txBody>
      </p:sp>
      <p:sp>
        <p:nvSpPr>
          <p:cNvPr id="8" name="text">
            <a:extLst xmlns:a="http://schemas.openxmlformats.org/drawingml/2006/main">
              <a:ext uri="{FF2B5EF4-FFF2-40B4-BE49-F238E27FC236}">
                <a16:creationId xmlns:a16="http://schemas.microsoft.com/office/drawing/2014/main" id="{EF14CA3E-90F2-402E-A774-57A20BA868AB}"/>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Small overlap</a:t>
            </a:r>
          </a:p>
        </p:txBody>
      </p:sp>
      <p:sp>
        <p:nvSpPr>
          <p:cNvPr id="9" name="text">
            <a:extLst xmlns:a="http://schemas.openxmlformats.org/drawingml/2006/main">
              <a:ext uri="{FF2B5EF4-FFF2-40B4-BE49-F238E27FC236}">
                <a16:creationId xmlns:a16="http://schemas.microsoft.com/office/drawing/2014/main" id="{05E8C161-CAFB-4E84-BF15-A2C049E263D3}"/>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Retention speech begins at 11.82 seconds, only 0.08 seconds before the 11.9-second visual cut.</a:t>
            </a:r>
          </a:p>
        </p:txBody>
      </p:sp>
      <p:sp>
        <p:nvSpPr>
          <p:cNvPr id="10" name="text">
            <a:extLst xmlns:a="http://schemas.openxmlformats.org/drawingml/2006/main">
              <a:ext uri="{FF2B5EF4-FFF2-40B4-BE49-F238E27FC236}">
                <a16:creationId xmlns:a16="http://schemas.microsoft.com/office/drawing/2014/main" id="{54ABAD1C-491A-46DC-80AA-A49BE3ED05ED}"/>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Assignment rule</a:t>
            </a:r>
          </a:p>
        </p:txBody>
      </p:sp>
      <p:sp>
        <p:nvSpPr>
          <p:cNvPr id="11" name="text">
            <a:extLst xmlns:a="http://schemas.openxmlformats.org/drawingml/2006/main">
              <a:ext uri="{FF2B5EF4-FFF2-40B4-BE49-F238E27FC236}">
                <a16:creationId xmlns:a16="http://schemas.microsoft.com/office/drawing/2014/main" id="{65EFC215-A661-4F2D-AC28-58A90F1A5ABE}"/>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For retrieval, assign a crossing utterance to the window with greatest overlap duration.</a:t>
            </a:r>
          </a:p>
        </p:txBody>
      </p:sp>
      <p:sp>
        <p:nvSpPr>
          <p:cNvPr id="12" name="text">
            <a:extLst xmlns:a="http://schemas.openxmlformats.org/drawingml/2006/main">
              <a:ext uri="{FF2B5EF4-FFF2-40B4-BE49-F238E27FC236}">
                <a16:creationId xmlns:a16="http://schemas.microsoft.com/office/drawing/2014/main" id="{3AFFC00E-219E-4212-B99D-E7C3864F79D6}"/>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Keep provenance</a:t>
            </a:r>
          </a:p>
        </p:txBody>
      </p:sp>
      <p:sp>
        <p:nvSpPr>
          <p:cNvPr id="13" name="text">
            <a:extLst xmlns:a="http://schemas.openxmlformats.org/drawingml/2006/main">
              <a:ext uri="{FF2B5EF4-FFF2-40B4-BE49-F238E27FC236}">
                <a16:creationId xmlns:a16="http://schemas.microsoft.com/office/drawing/2014/main" id="{018461E0-5C3F-414A-A54D-21C354E9F346}"/>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Retain all overlaps for inspection and keep the utterance's own timestamps.</a:t>
            </a:r>
          </a:p>
        </p:txBody>
      </p:sp>
    </p:spTree>
    <p:extLst>
      <p:ext uri="{BB962C8B-B14F-4D97-AF65-F5344CB8AC3E}">
        <p14:creationId xmlns:p14="http://schemas.microsoft.com/office/powerpoint/2010/main" val="1174164068"/>
      </p:ext>
    </p:extLst>
  </p:cSld>
</p:sld>
</file>

<file path=ppt/slides/slide5.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3D13AD35-F313-4428-B380-D9860EF4F0DF}"/>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COMPARISON  /  NOTEBOOK 15</a:t>
            </a:r>
          </a:p>
        </p:txBody>
      </p:sp>
      <p:sp>
        <p:nvSpPr>
          <p:cNvPr id="2" name="slide-title">
            <a:extLst xmlns:a="http://schemas.openxmlformats.org/drawingml/2006/main">
              <a:ext uri="{FF2B5EF4-FFF2-40B4-BE49-F238E27FC236}">
                <a16:creationId xmlns:a16="http://schemas.microsoft.com/office/drawing/2014/main" id="{386450DD-F507-4164-A1E3-B6D872935F82}"/>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Compare speech retrieval with frame retrieval</a:t>
            </a:r>
          </a:p>
        </p:txBody>
      </p:sp>
      <p:sp>
        <p:nvSpPr>
          <p:cNvPr id="3" name="lead">
            <a:extLst xmlns:a="http://schemas.openxmlformats.org/drawingml/2006/main">
              <a:ext uri="{FF2B5EF4-FFF2-40B4-BE49-F238E27FC236}">
                <a16:creationId xmlns:a16="http://schemas.microsoft.com/office/drawing/2014/main" id="{50FACA74-6C7A-4A89-ACD1-20BFCBAEE450}"/>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Ask the same question before comparing or fusing the two rankings.</a:t>
            </a:r>
          </a:p>
        </p:txBody>
      </p:sp>
      <p:sp>
        <p:nvSpPr>
          <p:cNvPr id="4" name="text">
            <a:extLst xmlns:a="http://schemas.openxmlformats.org/drawingml/2006/main">
              <a:ext uri="{FF2B5EF4-FFF2-40B4-BE49-F238E27FC236}">
                <a16:creationId xmlns:a16="http://schemas.microsoft.com/office/drawing/2014/main" id="{FAB3E11C-A6DB-488A-8241-63888867948E}"/>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15  /  Video RAG</a:t>
            </a:r>
          </a:p>
        </p:txBody>
      </p:sp>
      <p:sp>
        <p:nvSpPr>
          <p:cNvPr id="5" name="page-number">
            <a:extLst xmlns:a="http://schemas.openxmlformats.org/drawingml/2006/main">
              <a:ext uri="{FF2B5EF4-FFF2-40B4-BE49-F238E27FC236}">
                <a16:creationId xmlns:a16="http://schemas.microsoft.com/office/drawing/2014/main" id="{9688E67B-F5A6-4225-97CA-BBAE16E6ECCD}"/>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05</a:t>
            </a:r>
          </a:p>
        </p:txBody>
      </p:sp>
      <p:graphicFrame>
        <p:nvGraphicFramePr>
          <p:cNvPr id="6" name="">
            <a:extLst xmlns:a="http://schemas.openxmlformats.org/drawingml/2006/main">
              <a:ext uri="{FF2B5EF4-FFF2-40B4-BE49-F238E27FC236}">
                <a16:creationId xmlns:a16="http://schemas.microsoft.com/office/drawing/2014/main" id="{58C115F2-A760-409C-8BEB-D2529DA39BDE}"/>
              </a:ext>
            </a:extLst>
          </p:cNvPr>
          <p:cNvGraphicFramePr/>
          <p:nvPr/>
        </p:nvGraphicFramePr>
        <p:xfrm>
          <a:off xmlns:a="http://schemas.openxmlformats.org/drawingml/2006/main" x="609600" y="2505075"/>
          <a:ext xmlns:a="http://schemas.openxmlformats.org/drawingml/2006/main" cx="10972800" cy="3714750"/>
        </p:xfrm>
        <a:graphic xmlns:a="http://schemas.openxmlformats.org/drawingml/2006/main">
          <a:graphicData uri="http://schemas.openxmlformats.org/drawingml/2006/table">
            <a:tbl>
              <a:tblPr/>
              <a:tblGrid>
                <a:gridCol w="3333750"/>
                <a:gridCol w="7639050"/>
              </a:tblGrid>
              <a:tr h="466725">
                <a:tc>
                  <a:txBody>
                    <a:bodyPr wrap="square" lIns="133350" tIns="95250" rIns="133350" bIns="95250">
                      <a:noAutofit/>
                    </a:bodyPr>
                    <a:lstStyle/>
                    <a:p>
                      <a:r>
                        <a:rPr sz="1800" b="1">
                          <a:solidFill>
                            <a:srgbClr val="FFFFFF"/>
                          </a:solidFill>
                          <a:latin typeface="Calibri"/>
                          <a:ea typeface="Calibri"/>
                          <a:cs typeface="Calibri"/>
                        </a:rPr>
                        <a:t>Concept</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Meaning in this lesson</a:t>
                      </a:r>
                    </a:p>
                  </a:txBody>
                  <a:tcPr marL="91440" marR="91440" marT="45720" marB="45720">
                    <a:solidFill>
                      <a:srgbClr val="102F3E"/>
                    </a:solidFill>
                  </a:tcPr>
                </a:tc>
              </a:tr>
              <a:tr h="812006">
                <a:tc>
                  <a:txBody>
                    <a:bodyPr wrap="square" lIns="133350" tIns="95250" rIns="133350" bIns="95250">
                      <a:noAutofit/>
                    </a:bodyPr>
                    <a:lstStyle/>
                    <a:p>
                      <a:r>
                        <a:rPr sz="1875" b="1">
                          <a:solidFill>
                            <a:srgbClr val="102F3E"/>
                          </a:solidFill>
                          <a:latin typeface="Calibri"/>
                          <a:ea typeface="Calibri"/>
                          <a:cs typeface="Calibri"/>
                        </a:rPr>
                        <a:t>Transcript branch</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Searches only spoken words; authored scene labels are excluded from retrieval text.</a:t>
                      </a:r>
                    </a:p>
                  </a:txBody>
                  <a:tcPr marL="91440" marR="91440" marT="45720" marB="45720">
                    <a:solidFill>
                      <a:srgbClr val="FFFFFF"/>
                    </a:solidFill>
                  </a:tcPr>
                </a:tc>
              </a:tr>
              <a:tr h="812006">
                <a:tc>
                  <a:txBody>
                    <a:bodyPr wrap="square" lIns="133350" tIns="95250" rIns="133350" bIns="95250">
                      <a:noAutofit/>
                    </a:bodyPr>
                    <a:lstStyle/>
                    <a:p>
                      <a:r>
                        <a:rPr sz="1875" b="1">
                          <a:solidFill>
                            <a:srgbClr val="102F3E"/>
                          </a:solidFill>
                          <a:latin typeface="Calibri"/>
                          <a:ea typeface="Calibri"/>
                          <a:cs typeface="Calibri"/>
                        </a:rPr>
                        <a:t>Frame branch</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CLIP compares the query with actual decoded frame pixels when RUN_CLIP=True.</a:t>
                      </a:r>
                    </a:p>
                  </a:txBody>
                  <a:tcPr marL="91440" marR="91440" marT="45720" marB="45720">
                    <a:solidFill>
                      <a:srgbClr val="EDF2F1"/>
                    </a:solidFill>
                  </a:tcPr>
                </a:tc>
              </a:tr>
              <a:tr h="812006">
                <a:tc>
                  <a:txBody>
                    <a:bodyPr wrap="square" lIns="133350" tIns="95250" rIns="133350" bIns="95250">
                      <a:noAutofit/>
                    </a:bodyPr>
                    <a:lstStyle/>
                    <a:p>
                      <a:r>
                        <a:rPr sz="1875" b="1">
                          <a:solidFill>
                            <a:srgbClr val="102F3E"/>
                          </a:solidFill>
                          <a:latin typeface="Calibri"/>
                          <a:ea typeface="Calibri"/>
                          <a:cs typeface="Calibri"/>
                        </a:rPr>
                        <a:t>Fusion</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Deduplicate window IDs within each list, then add 1 / (60 + rank).</a:t>
                      </a:r>
                    </a:p>
                  </a:txBody>
                  <a:tcPr marL="91440" marR="91440" marT="45720" marB="45720">
                    <a:solidFill>
                      <a:srgbClr val="FFFFFF"/>
                    </a:solidFill>
                  </a:tcPr>
                </a:tc>
              </a:tr>
              <a:tr h="812006">
                <a:tc>
                  <a:txBody>
                    <a:bodyPr wrap="square" lIns="133350" tIns="95250" rIns="133350" bIns="95250">
                      <a:noAutofit/>
                    </a:bodyPr>
                    <a:lstStyle/>
                    <a:p>
                      <a:r>
                        <a:rPr sz="1875" b="1">
                          <a:solidFill>
                            <a:srgbClr val="102F3E"/>
                          </a:solidFill>
                          <a:latin typeface="Calibri"/>
                          <a:ea typeface="Calibri"/>
                          <a:cs typeface="Calibri"/>
                        </a:rPr>
                        <a:t>Disabled branch</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Without CLIP, the ranking is transcript-only followed by frame selection by time.</a:t>
                      </a:r>
                    </a:p>
                  </a:txBody>
                  <a:tcPr marL="91440" marR="91440" marT="45720" marB="45720">
                    <a:solidFill>
                      <a:srgbClr val="EDF2F1"/>
                    </a:solidFill>
                  </a:tcPr>
                </a:tc>
              </a:tr>
            </a:tbl>
          </a:graphicData>
        </a:graphic>
      </p:graphicFrame>
    </p:spTree>
    <p:extLst>
      <p:ext uri="{BB962C8B-B14F-4D97-AF65-F5344CB8AC3E}">
        <p14:creationId xmlns:p14="http://schemas.microsoft.com/office/powerpoint/2010/main" val="890913329"/>
      </p:ext>
    </p:extLst>
  </p:cSld>
</p:sld>
</file>

<file path=ppt/slides/slide6.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1A5164B7-D035-4680-B2FE-0492BA06D690}"/>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CONCEPT  /  NOTEBOOK 15</a:t>
            </a:r>
          </a:p>
        </p:txBody>
      </p:sp>
      <p:sp>
        <p:nvSpPr>
          <p:cNvPr id="2" name="slide-title">
            <a:extLst xmlns:a="http://schemas.openxmlformats.org/drawingml/2006/main">
              <a:ext uri="{FF2B5EF4-FFF2-40B4-BE49-F238E27FC236}">
                <a16:creationId xmlns:a16="http://schemas.microsoft.com/office/drawing/2014/main" id="{B4E84839-3433-48F8-A16A-B3620CB9DC41}"/>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Selected still frames cannot establish motion</a:t>
            </a:r>
          </a:p>
        </p:txBody>
      </p:sp>
      <p:sp>
        <p:nvSpPr>
          <p:cNvPr id="3" name="lead">
            <a:extLst xmlns:a="http://schemas.openxmlformats.org/drawingml/2006/main">
              <a:ext uri="{FF2B5EF4-FFF2-40B4-BE49-F238E27FC236}">
                <a16:creationId xmlns:a16="http://schemas.microsoft.com/office/drawing/2014/main" id="{9024B715-7397-4B92-814D-44ADE03E30FF}"/>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The answer must reflect what the supplied frames and text actually show.</a:t>
            </a:r>
          </a:p>
        </p:txBody>
      </p:sp>
      <p:sp>
        <p:nvSpPr>
          <p:cNvPr id="4" name="text">
            <a:extLst xmlns:a="http://schemas.openxmlformats.org/drawingml/2006/main">
              <a:ext uri="{FF2B5EF4-FFF2-40B4-BE49-F238E27FC236}">
                <a16:creationId xmlns:a16="http://schemas.microsoft.com/office/drawing/2014/main" id="{0065EF0F-50B6-4010-B6C5-335ECEF2A630}"/>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15  /  Video RAG</a:t>
            </a:r>
          </a:p>
        </p:txBody>
      </p:sp>
      <p:sp>
        <p:nvSpPr>
          <p:cNvPr id="5" name="page-number">
            <a:extLst xmlns:a="http://schemas.openxmlformats.org/drawingml/2006/main">
              <a:ext uri="{FF2B5EF4-FFF2-40B4-BE49-F238E27FC236}">
                <a16:creationId xmlns:a16="http://schemas.microsoft.com/office/drawing/2014/main" id="{A705547A-B015-4746-9C1D-AB76F019A9C5}"/>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06</a:t>
            </a:r>
          </a:p>
        </p:txBody>
      </p:sp>
      <p:sp>
        <p:nvSpPr>
          <p:cNvPr id="6" name="text">
            <a:extLst xmlns:a="http://schemas.openxmlformats.org/drawingml/2006/main">
              <a:ext uri="{FF2B5EF4-FFF2-40B4-BE49-F238E27FC236}">
                <a16:creationId xmlns:a16="http://schemas.microsoft.com/office/drawing/2014/main" id="{0FC49AC3-73F5-47B8-9CF7-D1C7541F6EE6}"/>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Image selection</a:t>
            </a:r>
          </a:p>
        </p:txBody>
      </p:sp>
      <p:sp>
        <p:nvSpPr>
          <p:cNvPr id="7" name="text">
            <a:extLst xmlns:a="http://schemas.openxmlformats.org/drawingml/2006/main">
              <a:ext uri="{FF2B5EF4-FFF2-40B4-BE49-F238E27FC236}">
                <a16:creationId xmlns:a16="http://schemas.microsoft.com/office/drawing/2014/main" id="{1FCAEDBD-E7D1-4A5F-957C-C4BFBC9E8042}"/>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Use the best CLIP frame per chosen window, or the sampled frame nearest its midpoint.</a:t>
            </a:r>
          </a:p>
        </p:txBody>
      </p:sp>
      <p:sp>
        <p:nvSpPr>
          <p:cNvPr id="8" name="text">
            <a:extLst xmlns:a="http://schemas.openxmlformats.org/drawingml/2006/main">
              <a:ext uri="{FF2B5EF4-FFF2-40B4-BE49-F238E27FC236}">
                <a16:creationId xmlns:a16="http://schemas.microsoft.com/office/drawing/2014/main" id="{406BC94E-DBDA-46A8-94AE-D39F655D30CB}"/>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Traceability</a:t>
            </a:r>
          </a:p>
        </p:txBody>
      </p:sp>
      <p:sp>
        <p:nvSpPr>
          <p:cNvPr id="9" name="text">
            <a:extLst xmlns:a="http://schemas.openxmlformats.org/drawingml/2006/main">
              <a:ext uri="{FF2B5EF4-FFF2-40B4-BE49-F238E27FC236}">
                <a16:creationId xmlns:a16="http://schemas.microsoft.com/office/drawing/2014/main" id="{D05C93E2-B05D-488A-AB75-404F77F4A6B9}"/>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Map image order to the window ID and the exact sampled-frame timestamp.</a:t>
            </a:r>
          </a:p>
        </p:txBody>
      </p:sp>
      <p:sp>
        <p:nvSpPr>
          <p:cNvPr id="10" name="text">
            <a:extLst xmlns:a="http://schemas.openxmlformats.org/drawingml/2006/main">
              <a:ext uri="{FF2B5EF4-FFF2-40B4-BE49-F238E27FC236}">
                <a16:creationId xmlns:a16="http://schemas.microsoft.com/office/drawing/2014/main" id="{337FB4B3-1B19-4DD2-A599-99A5741A78FE}"/>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Conflict handling</a:t>
            </a:r>
          </a:p>
        </p:txBody>
      </p:sp>
      <p:sp>
        <p:nvSpPr>
          <p:cNvPr id="11" name="text">
            <a:extLst xmlns:a="http://schemas.openxmlformats.org/drawingml/2006/main">
              <a:ext uri="{FF2B5EF4-FFF2-40B4-BE49-F238E27FC236}">
                <a16:creationId xmlns:a16="http://schemas.microsoft.com/office/drawing/2014/main" id="{E7234E04-C034-4168-A8F7-2228E340FE1B}"/>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Report disagreements between spoken and visible values instead of silently choosing one.</a:t>
            </a:r>
          </a:p>
        </p:txBody>
      </p:sp>
      <p:sp>
        <p:nvSpPr>
          <p:cNvPr id="12" name="text">
            <a:extLst xmlns:a="http://schemas.openxmlformats.org/drawingml/2006/main">
              <a:ext uri="{FF2B5EF4-FFF2-40B4-BE49-F238E27FC236}">
                <a16:creationId xmlns:a16="http://schemas.microsoft.com/office/drawing/2014/main" id="{2F31819B-4351-4FE9-A1BB-9BE90D394A52}"/>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Scope</a:t>
            </a:r>
          </a:p>
        </p:txBody>
      </p:sp>
      <p:sp>
        <p:nvSpPr>
          <p:cNvPr id="13" name="text">
            <a:extLst xmlns:a="http://schemas.openxmlformats.org/drawingml/2006/main">
              <a:ext uri="{FF2B5EF4-FFF2-40B4-BE49-F238E27FC236}">
                <a16:creationId xmlns:a16="http://schemas.microsoft.com/office/drawing/2014/main" id="{D90CC13A-65DE-4A69-956B-0B8FCC1CA6E1}"/>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This lesson does not implement native video embeddings, action recognition, or speaker diarization.</a:t>
            </a:r>
          </a:p>
        </p:txBody>
      </p:sp>
    </p:spTree>
    <p:extLst>
      <p:ext uri="{BB962C8B-B14F-4D97-AF65-F5344CB8AC3E}">
        <p14:creationId xmlns:p14="http://schemas.microsoft.com/office/powerpoint/2010/main" val="354518731"/>
      </p:ext>
    </p:extLst>
  </p:cSld>
</p:sld>
</file>

<file path=ppt/slides/slide7.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EA798431-446D-4039-9725-D1FDD6842360}"/>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EXAMPLE  /  NOTEBOOK 15</a:t>
            </a:r>
          </a:p>
        </p:txBody>
      </p:sp>
      <p:sp>
        <p:nvSpPr>
          <p:cNvPr id="2" name="slide-title">
            <a:extLst xmlns:a="http://schemas.openxmlformats.org/drawingml/2006/main">
              <a:ext uri="{FF2B5EF4-FFF2-40B4-BE49-F238E27FC236}">
                <a16:creationId xmlns:a16="http://schemas.microsoft.com/office/drawing/2014/main" id="{5DCBD2FA-E3A6-441D-B9C0-2DC2368BF551}"/>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Evaluate where the answer was found</a:t>
            </a:r>
          </a:p>
        </p:txBody>
      </p:sp>
      <p:sp>
        <p:nvSpPr>
          <p:cNvPr id="3" name="lead">
            <a:extLst xmlns:a="http://schemas.openxmlformats.org/drawingml/2006/main">
              <a:ext uri="{FF2B5EF4-FFF2-40B4-BE49-F238E27FC236}">
                <a16:creationId xmlns:a16="http://schemas.microsoft.com/office/drawing/2014/main" id="{C9BF2F45-3910-4EBF-8F80-5245B6FF10FA}"/>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Temporal intersection-over-union rewards accurate localization.</a:t>
            </a:r>
          </a:p>
        </p:txBody>
      </p:sp>
      <p:sp>
        <p:nvSpPr>
          <p:cNvPr id="4" name="text">
            <a:extLst xmlns:a="http://schemas.openxmlformats.org/drawingml/2006/main">
              <a:ext uri="{FF2B5EF4-FFF2-40B4-BE49-F238E27FC236}">
                <a16:creationId xmlns:a16="http://schemas.microsoft.com/office/drawing/2014/main" id="{D47BD14F-F61C-405A-B793-DA9B7618082B}"/>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15  /  Video RAG</a:t>
            </a:r>
          </a:p>
        </p:txBody>
      </p:sp>
      <p:sp>
        <p:nvSpPr>
          <p:cNvPr id="5" name="page-number">
            <a:extLst xmlns:a="http://schemas.openxmlformats.org/drawingml/2006/main">
              <a:ext uri="{FF2B5EF4-FFF2-40B4-BE49-F238E27FC236}">
                <a16:creationId xmlns:a16="http://schemas.microsoft.com/office/drawing/2014/main" id="{167C1373-BB55-4526-8A22-30CDDE7C998B}"/>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07</a:t>
            </a:r>
          </a:p>
        </p:txBody>
      </p:sp>
      <p:sp>
        <p:nvSpPr>
          <p:cNvPr id="6" name="text">
            <a:extLst xmlns:a="http://schemas.openxmlformats.org/drawingml/2006/main">
              <a:ext uri="{FF2B5EF4-FFF2-40B4-BE49-F238E27FC236}">
                <a16:creationId xmlns:a16="http://schemas.microsoft.com/office/drawing/2014/main" id="{DF912169-2D4F-4CB9-A129-CAEF4E12798C}"/>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Definition</a:t>
            </a:r>
          </a:p>
        </p:txBody>
      </p:sp>
      <p:sp>
        <p:nvSpPr>
          <p:cNvPr id="7" name="text">
            <a:extLst xmlns:a="http://schemas.openxmlformats.org/drawingml/2006/main">
              <a:ext uri="{FF2B5EF4-FFF2-40B4-BE49-F238E27FC236}">
                <a16:creationId xmlns:a16="http://schemas.microsoft.com/office/drawing/2014/main" id="{1B047F59-1AFC-47CA-9C54-0C5C1B2371EA}"/>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Temporal IoU = overlap duration / union duration.</a:t>
            </a:r>
          </a:p>
        </p:txBody>
      </p:sp>
      <p:sp>
        <p:nvSpPr>
          <p:cNvPr id="8" name="text">
            <a:extLst xmlns:a="http://schemas.openxmlformats.org/drawingml/2006/main">
              <a:ext uri="{FF2B5EF4-FFF2-40B4-BE49-F238E27FC236}">
                <a16:creationId xmlns:a16="http://schemas.microsoft.com/office/drawing/2014/main" id="{F9F38CED-2383-4F46-831E-87F34A86A7C8}"/>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Reference interval</a:t>
            </a:r>
          </a:p>
        </p:txBody>
      </p:sp>
      <p:sp>
        <p:nvSpPr>
          <p:cNvPr id="9" name="text">
            <a:extLst xmlns:a="http://schemas.openxmlformats.org/drawingml/2006/main">
              <a:ext uri="{FF2B5EF4-FFF2-40B4-BE49-F238E27FC236}">
                <a16:creationId xmlns:a16="http://schemas.microsoft.com/office/drawing/2014/main" id="{6E33C6E8-6405-4C73-9D73-CE8220710D02}"/>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The authored retention window is [11.9, 24.7), a duration of 12.8 seconds.</a:t>
            </a:r>
          </a:p>
        </p:txBody>
      </p:sp>
      <p:sp>
        <p:nvSpPr>
          <p:cNvPr id="10" name="text">
            <a:extLst xmlns:a="http://schemas.openxmlformats.org/drawingml/2006/main">
              <a:ext uri="{FF2B5EF4-FFF2-40B4-BE49-F238E27FC236}">
                <a16:creationId xmlns:a16="http://schemas.microsoft.com/office/drawing/2014/main" id="{88945FC5-1797-46BC-9F9A-BFF040FC9BB5}"/>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Whole-video retrieval</a:t>
            </a:r>
          </a:p>
        </p:txBody>
      </p:sp>
      <p:sp>
        <p:nvSpPr>
          <p:cNvPr id="11" name="text">
            <a:extLst xmlns:a="http://schemas.openxmlformats.org/drawingml/2006/main">
              <a:ext uri="{FF2B5EF4-FFF2-40B4-BE49-F238E27FC236}">
                <a16:creationId xmlns:a16="http://schemas.microsoft.com/office/drawing/2014/main" id="{E8F964B7-2E67-4CAE-8744-B4D3C0A7C36F}"/>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Returning [0, 38.6) gives IoU = 12.8 / 38.6, approximately 0.33.</a:t>
            </a:r>
          </a:p>
        </p:txBody>
      </p:sp>
      <p:sp>
        <p:nvSpPr>
          <p:cNvPr id="12" name="text">
            <a:extLst xmlns:a="http://schemas.openxmlformats.org/drawingml/2006/main">
              <a:ext uri="{FF2B5EF4-FFF2-40B4-BE49-F238E27FC236}">
                <a16:creationId xmlns:a16="http://schemas.microsoft.com/office/drawing/2014/main" id="{4F09AC9F-E9DA-41F8-8DC9-AE2CF25106EB}"/>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Separate label</a:t>
            </a:r>
          </a:p>
        </p:txBody>
      </p:sp>
      <p:sp>
        <p:nvSpPr>
          <p:cNvPr id="13" name="text">
            <a:extLst xmlns:a="http://schemas.openxmlformats.org/drawingml/2006/main">
              <a:ext uri="{FF2B5EF4-FFF2-40B4-BE49-F238E27FC236}">
                <a16:creationId xmlns:a16="http://schemas.microsoft.com/office/drawing/2014/main" id="{81FF4F55-4B1C-4EE6-9501-40D185608A70}"/>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The relevant interval is a human fixture label; change it when you change the question.</a:t>
            </a:r>
          </a:p>
        </p:txBody>
      </p:sp>
    </p:spTree>
    <p:extLst>
      <p:ext uri="{BB962C8B-B14F-4D97-AF65-F5344CB8AC3E}">
        <p14:creationId xmlns:p14="http://schemas.microsoft.com/office/powerpoint/2010/main" val="1893151136"/>
      </p:ext>
    </p:extLst>
  </p:cSld>
</p:sld>
</file>

<file path=ppt/slides/slide8.xml><?xml version="1.0" encoding="utf-8"?>
<p:sld xmlns:p="http://schemas.openxmlformats.org/presentationml/2006/main">
  <p:cSld>
    <p:bg>
      <p:bgPr>
        <a:solidFill xmlns:a="http://schemas.openxmlformats.org/drawingml/2006/main">
          <a:srgbClr val="0A1929"/>
        </a:solidFill>
      </p:bgPr>
    </p:bg>
    <p:spTree>
      <p:nvGrpSpPr>
        <p:cNvPr id="1" name=""/>
        <p:cNvGrpSpPr/>
        <p:nvPr/>
      </p:nvGrpSpPr>
      <p:grpSpPr>
        <a:xfrm xmlns:a="http://schemas.openxmlformats.org/drawingml/2006/main"/>
      </p:grpSpPr>
      <p:sp>
        <p:nvSpPr>
          <p:cNvPr id="18" name="section-label">
            <a:extLst xmlns:a="http://schemas.openxmlformats.org/drawingml/2006/main">
              <a:ext uri="{FF2B5EF4-FFF2-40B4-BE49-F238E27FC236}">
                <a16:creationId xmlns:a16="http://schemas.microsoft.com/office/drawing/2014/main" id="{0E1ED9DF-C4BE-4AD4-BB6B-39BC971EDA15}"/>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68D0CB"/>
                </a:solidFill>
                <a:latin typeface="Calibri"/>
                <a:ea typeface="Calibri"/>
                <a:cs typeface="Calibri"/>
              </a:defRPr>
            </a:defPPr>
          </a:lstStyle>
          <a:p xmlns:a="http://schemas.openxmlformats.org/drawingml/2006/main">
            <a:pPr>
              <a:defRPr sz="1275" b="1">
                <a:solidFill>
                  <a:srgbClr val="68D0CB"/>
                </a:solidFill>
                <a:latin typeface="Calibri"/>
                <a:ea typeface="Calibri"/>
                <a:cs typeface="Calibri"/>
              </a:defRPr>
            </a:pPr>
            <a:r>
              <a:rPr sz="1275" b="1">
                <a:solidFill>
                  <a:srgbClr val="68D0CB"/>
                </a:solidFill>
                <a:latin typeface="Calibri"/>
                <a:ea typeface="Calibri"/>
                <a:cs typeface="Calibri"/>
              </a:rPr>
              <a:t>DEMO  /  NOTEBOOK 15</a:t>
            </a:r>
          </a:p>
        </p:txBody>
      </p:sp>
      <p:sp>
        <p:nvSpPr>
          <p:cNvPr id="2" name="slide-title">
            <a:extLst xmlns:a="http://schemas.openxmlformats.org/drawingml/2006/main">
              <a:ext uri="{FF2B5EF4-FFF2-40B4-BE49-F238E27FC236}">
                <a16:creationId xmlns:a16="http://schemas.microsoft.com/office/drawing/2014/main" id="{6116D0DD-8606-41D3-8AFC-AC2ECE51F31F}"/>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FFFFF"/>
                </a:solidFill>
                <a:latin typeface="Calibri"/>
                <a:ea typeface="Calibri"/>
                <a:cs typeface="Calibri"/>
              </a:defRPr>
            </a:defPPr>
          </a:lstStyle>
          <a:p xmlns:a="http://schemas.openxmlformats.org/drawingml/2006/main">
            <a:pPr>
              <a:defRPr sz="3450" b="1">
                <a:solidFill>
                  <a:srgbClr val="FFFFFF"/>
                </a:solidFill>
                <a:latin typeface="Calibri"/>
                <a:ea typeface="Calibri"/>
                <a:cs typeface="Calibri"/>
              </a:defRPr>
            </a:pPr>
            <a:r>
              <a:rPr sz="3450" b="1">
                <a:solidFill>
                  <a:srgbClr val="FFFFFF"/>
                </a:solidFill>
                <a:latin typeface="Calibri"/>
                <a:ea typeface="Calibri"/>
                <a:cs typeface="Calibri"/>
              </a:rPr>
              <a:t>Live demo: retrieve and replay a window</a:t>
            </a:r>
          </a:p>
        </p:txBody>
      </p:sp>
      <p:sp>
        <p:nvSpPr>
          <p:cNvPr id="3" name="lead">
            <a:extLst xmlns:a="http://schemas.openxmlformats.org/drawingml/2006/main">
              <a:ext uri="{FF2B5EF4-FFF2-40B4-BE49-F238E27FC236}">
                <a16:creationId xmlns:a16="http://schemas.microsoft.com/office/drawing/2014/main" id="{0F7C3B26-C2B8-4CA0-8250-E2E8FCDDC617}"/>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D6E2E8"/>
                </a:solidFill>
                <a:latin typeface="Calibri"/>
                <a:ea typeface="Calibri"/>
                <a:cs typeface="Calibri"/>
              </a:defRPr>
            </a:defPPr>
          </a:lstStyle>
          <a:p xmlns:a="http://schemas.openxmlformats.org/drawingml/2006/main">
            <a:pPr>
              <a:defRPr sz="2100" b="0">
                <a:solidFill>
                  <a:srgbClr val="D6E2E8"/>
                </a:solidFill>
                <a:latin typeface="Calibri"/>
                <a:ea typeface="Calibri"/>
                <a:cs typeface="Calibri"/>
              </a:defRPr>
            </a:pPr>
            <a:r>
              <a:rPr sz="2100" b="0">
                <a:solidFill>
                  <a:srgbClr val="D6E2E8"/>
                </a:solidFill>
                <a:latin typeface="Calibri"/>
                <a:ea typeface="Calibri"/>
                <a:cs typeface="Calibri"/>
              </a:rPr>
              <a:t>Open notebook 15 and inspect both frame times and speech times.</a:t>
            </a:r>
          </a:p>
        </p:txBody>
      </p:sp>
      <p:sp>
        <p:nvSpPr>
          <p:cNvPr id="4" name="text">
            <a:extLst xmlns:a="http://schemas.openxmlformats.org/drawingml/2006/main">
              <a:ext uri="{FF2B5EF4-FFF2-40B4-BE49-F238E27FC236}">
                <a16:creationId xmlns:a16="http://schemas.microsoft.com/office/drawing/2014/main" id="{250446A0-1F0A-4BAB-956D-5AF3AF0F88E0}"/>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A6B8C5"/>
                </a:solidFill>
                <a:latin typeface="Calibri"/>
                <a:ea typeface="Calibri"/>
                <a:cs typeface="Calibri"/>
              </a:defRPr>
            </a:defPPr>
          </a:lstStyle>
          <a:p xmlns:a="http://schemas.openxmlformats.org/drawingml/2006/main">
            <a:pPr>
              <a:defRPr sz="1200" b="0">
                <a:solidFill>
                  <a:srgbClr val="A6B8C5"/>
                </a:solidFill>
                <a:latin typeface="Calibri"/>
                <a:ea typeface="Calibri"/>
                <a:cs typeface="Calibri"/>
              </a:defRPr>
            </a:pPr>
            <a:r>
              <a:rPr sz="1200" b="0">
                <a:solidFill>
                  <a:srgbClr val="A6B8C5"/>
                </a:solidFill>
                <a:latin typeface="Calibri"/>
                <a:ea typeface="Calibri"/>
                <a:cs typeface="Calibri"/>
              </a:rPr>
              <a:t>RAG WORKSHOP  /  15  /  Video RAG</a:t>
            </a:r>
          </a:p>
        </p:txBody>
      </p:sp>
      <p:sp>
        <p:nvSpPr>
          <p:cNvPr id="5" name="page-number">
            <a:extLst xmlns:a="http://schemas.openxmlformats.org/drawingml/2006/main">
              <a:ext uri="{FF2B5EF4-FFF2-40B4-BE49-F238E27FC236}">
                <a16:creationId xmlns:a16="http://schemas.microsoft.com/office/drawing/2014/main" id="{769BF050-D105-454E-A190-D3E306A92EA3}"/>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6B8C5"/>
                </a:solidFill>
                <a:latin typeface="Calibri"/>
                <a:ea typeface="Calibri"/>
                <a:cs typeface="Calibri"/>
              </a:defRPr>
            </a:defPPr>
          </a:lstStyle>
          <a:p xmlns:a="http://schemas.openxmlformats.org/drawingml/2006/main">
            <a:pPr>
              <a:defRPr sz="1350" b="0">
                <a:solidFill>
                  <a:srgbClr val="A6B8C5"/>
                </a:solidFill>
                <a:latin typeface="Calibri"/>
                <a:ea typeface="Calibri"/>
                <a:cs typeface="Calibri"/>
              </a:defRPr>
            </a:pPr>
            <a:r>
              <a:rPr sz="1350" b="0">
                <a:solidFill>
                  <a:srgbClr val="A6B8C5"/>
                </a:solidFill>
                <a:latin typeface="Calibri"/>
                <a:ea typeface="Calibri"/>
                <a:cs typeface="Calibri"/>
              </a:rPr>
              <a:t>08</a:t>
            </a:r>
          </a:p>
        </p:txBody>
      </p:sp>
      <p:sp>
        <p:nvSpPr>
          <p:cNvPr id="6" name="text">
            <a:extLst xmlns:a="http://schemas.openxmlformats.org/drawingml/2006/main">
              <a:ext uri="{FF2B5EF4-FFF2-40B4-BE49-F238E27FC236}">
                <a16:creationId xmlns:a16="http://schemas.microsoft.com/office/drawing/2014/main" id="{599B54B0-1BF7-41BD-B4AB-36518403B2BB}"/>
              </a:ext>
            </a:extLst>
          </p:cNvPr>
          <p:cNvSpPr>
            <a:spLocks xmlns:a="http://schemas.openxmlformats.org/drawingml/2006/main" noGrp="1"/>
          </p:cNvSpPr>
          <p:nvPr/>
        </p:nvSpPr>
        <p:spPr>
          <a:xfrm xmlns:a="http://schemas.openxmlformats.org/drawingml/2006/main">
            <a:off x="609600" y="255270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01</a:t>
            </a:r>
          </a:p>
        </p:txBody>
      </p:sp>
      <p:sp>
        <p:nvSpPr>
          <p:cNvPr id="7" name="text">
            <a:extLst xmlns:a="http://schemas.openxmlformats.org/drawingml/2006/main">
              <a:ext uri="{FF2B5EF4-FFF2-40B4-BE49-F238E27FC236}">
                <a16:creationId xmlns:a16="http://schemas.microsoft.com/office/drawing/2014/main" id="{1FEEF450-8A5A-420B-A285-C24C298F6F28}"/>
              </a:ext>
            </a:extLst>
          </p:cNvPr>
          <p:cNvSpPr>
            <a:spLocks xmlns:a="http://schemas.openxmlformats.org/drawingml/2006/main" noGrp="1"/>
          </p:cNvSpPr>
          <p:nvPr/>
        </p:nvSpPr>
        <p:spPr>
          <a:xfrm xmlns:a="http://schemas.openxmlformats.org/drawingml/2006/main">
            <a:off x="1495425" y="2552700"/>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Decode · sections 1–3</a:t>
            </a:r>
          </a:p>
        </p:txBody>
      </p:sp>
      <p:sp>
        <p:nvSpPr>
          <p:cNvPr id="8" name="text">
            <a:extLst xmlns:a="http://schemas.openxmlformats.org/drawingml/2006/main">
              <a:ext uri="{FF2B5EF4-FFF2-40B4-BE49-F238E27FC236}">
                <a16:creationId xmlns:a16="http://schemas.microsoft.com/office/drawing/2014/main" id="{2CADC58D-C2DA-4A6C-8AAC-C10857EB4ECD}"/>
              </a:ext>
            </a:extLst>
          </p:cNvPr>
          <p:cNvSpPr>
            <a:spLocks xmlns:a="http://schemas.openxmlformats.org/drawingml/2006/main" noGrp="1"/>
          </p:cNvSpPr>
          <p:nvPr/>
        </p:nvSpPr>
        <p:spPr>
          <a:xfrm xmlns:a="http://schemas.openxmlformats.org/drawingml/2006/main">
            <a:off x="4429125" y="2552700"/>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Watch the MP4, extract audio, sample frames, and identify authored versus ASR text.</a:t>
            </a:r>
          </a:p>
        </p:txBody>
      </p:sp>
      <p:sp>
        <p:nvSpPr>
          <p:cNvPr id="9" name="text">
            <a:extLst xmlns:a="http://schemas.openxmlformats.org/drawingml/2006/main">
              <a:ext uri="{FF2B5EF4-FFF2-40B4-BE49-F238E27FC236}">
                <a16:creationId xmlns:a16="http://schemas.microsoft.com/office/drawing/2014/main" id="{6DB21D23-91C2-42F3-AB21-A23D44A9B7CB}"/>
              </a:ext>
            </a:extLst>
          </p:cNvPr>
          <p:cNvSpPr>
            <a:spLocks xmlns:a="http://schemas.openxmlformats.org/drawingml/2006/main" noGrp="1"/>
          </p:cNvSpPr>
          <p:nvPr/>
        </p:nvSpPr>
        <p:spPr>
          <a:xfrm xmlns:a="http://schemas.openxmlformats.org/drawingml/2006/main">
            <a:off x="609600" y="3481388"/>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02</a:t>
            </a:r>
          </a:p>
        </p:txBody>
      </p:sp>
      <p:sp>
        <p:nvSpPr>
          <p:cNvPr id="10" name="text">
            <a:extLst xmlns:a="http://schemas.openxmlformats.org/drawingml/2006/main">
              <a:ext uri="{FF2B5EF4-FFF2-40B4-BE49-F238E27FC236}">
                <a16:creationId xmlns:a16="http://schemas.microsoft.com/office/drawing/2014/main" id="{282616DE-02DC-430A-9C2A-D4D2B063222E}"/>
              </a:ext>
            </a:extLst>
          </p:cNvPr>
          <p:cNvSpPr>
            <a:spLocks xmlns:a="http://schemas.openxmlformats.org/drawingml/2006/main" noGrp="1"/>
          </p:cNvSpPr>
          <p:nvPr/>
        </p:nvSpPr>
        <p:spPr>
          <a:xfrm xmlns:a="http://schemas.openxmlformats.org/drawingml/2006/main">
            <a:off x="1495425" y="3481388"/>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Align · sections 4–6</a:t>
            </a:r>
          </a:p>
        </p:txBody>
      </p:sp>
      <p:sp>
        <p:nvSpPr>
          <p:cNvPr id="11" name="text">
            <a:extLst xmlns:a="http://schemas.openxmlformats.org/drawingml/2006/main">
              <a:ext uri="{FF2B5EF4-FFF2-40B4-BE49-F238E27FC236}">
                <a16:creationId xmlns:a16="http://schemas.microsoft.com/office/drawing/2014/main" id="{9F593D3B-7439-4AE6-8E7E-B3D3CDDE4E9A}"/>
              </a:ext>
            </a:extLst>
          </p:cNvPr>
          <p:cNvSpPr>
            <a:spLocks xmlns:a="http://schemas.openxmlformats.org/drawingml/2006/main" noGrp="1"/>
          </p:cNvSpPr>
          <p:nvPr/>
        </p:nvSpPr>
        <p:spPr>
          <a:xfrm xmlns:a="http://schemas.openxmlformats.org/drawingml/2006/main">
            <a:off x="4429125" y="3481388"/>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Inspect overlap assignments and compare transcript, optional CLIP, and fused ranks.</a:t>
            </a:r>
          </a:p>
        </p:txBody>
      </p:sp>
      <p:sp>
        <p:nvSpPr>
          <p:cNvPr id="12" name="text">
            <a:extLst xmlns:a="http://schemas.openxmlformats.org/drawingml/2006/main">
              <a:ext uri="{FF2B5EF4-FFF2-40B4-BE49-F238E27FC236}">
                <a16:creationId xmlns:a16="http://schemas.microsoft.com/office/drawing/2014/main" id="{85EC29D5-83C2-4AAD-9CDD-9EBD1C9A8873}"/>
              </a:ext>
            </a:extLst>
          </p:cNvPr>
          <p:cNvSpPr>
            <a:spLocks xmlns:a="http://schemas.openxmlformats.org/drawingml/2006/main" noGrp="1"/>
          </p:cNvSpPr>
          <p:nvPr/>
        </p:nvSpPr>
        <p:spPr>
          <a:xfrm xmlns:a="http://schemas.openxmlformats.org/drawingml/2006/main">
            <a:off x="609600" y="4410075"/>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03</a:t>
            </a:r>
          </a:p>
        </p:txBody>
      </p:sp>
      <p:sp>
        <p:nvSpPr>
          <p:cNvPr id="13" name="text">
            <a:extLst xmlns:a="http://schemas.openxmlformats.org/drawingml/2006/main">
              <a:ext uri="{FF2B5EF4-FFF2-40B4-BE49-F238E27FC236}">
                <a16:creationId xmlns:a16="http://schemas.microsoft.com/office/drawing/2014/main" id="{FC17BB27-B90D-48AA-9E53-A1592A1511C5}"/>
              </a:ext>
            </a:extLst>
          </p:cNvPr>
          <p:cNvSpPr>
            <a:spLocks xmlns:a="http://schemas.openxmlformats.org/drawingml/2006/main" noGrp="1"/>
          </p:cNvSpPr>
          <p:nvPr/>
        </p:nvSpPr>
        <p:spPr>
          <a:xfrm xmlns:a="http://schemas.openxmlformats.org/drawingml/2006/main">
            <a:off x="1495425" y="4410075"/>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Ground · sections 7–8</a:t>
            </a:r>
          </a:p>
        </p:txBody>
      </p:sp>
      <p:sp>
        <p:nvSpPr>
          <p:cNvPr id="14" name="text">
            <a:extLst xmlns:a="http://schemas.openxmlformats.org/drawingml/2006/main">
              <a:ext uri="{FF2B5EF4-FFF2-40B4-BE49-F238E27FC236}">
                <a16:creationId xmlns:a16="http://schemas.microsoft.com/office/drawing/2014/main" id="{6589BD89-718F-457C-B92B-75AEF6312FFA}"/>
              </a:ext>
            </a:extLst>
          </p:cNvPr>
          <p:cNvSpPr>
            <a:spLocks xmlns:a="http://schemas.openxmlformats.org/drawingml/2006/main" noGrp="1"/>
          </p:cNvSpPr>
          <p:nvPr/>
        </p:nvSpPr>
        <p:spPr>
          <a:xfrm xmlns:a="http://schemas.openxmlformats.org/drawingml/2006/main">
            <a:off x="4429125" y="4410075"/>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Replay the selected range and inspect the exact images sent to Claude.</a:t>
            </a:r>
          </a:p>
        </p:txBody>
      </p:sp>
      <p:sp>
        <p:nvSpPr>
          <p:cNvPr id="15" name="text">
            <a:extLst xmlns:a="http://schemas.openxmlformats.org/drawingml/2006/main">
              <a:ext uri="{FF2B5EF4-FFF2-40B4-BE49-F238E27FC236}">
                <a16:creationId xmlns:a16="http://schemas.microsoft.com/office/drawing/2014/main" id="{E15BB1A8-2DDF-4094-874C-D2B1025AC9A9}"/>
              </a:ext>
            </a:extLst>
          </p:cNvPr>
          <p:cNvSpPr>
            <a:spLocks xmlns:a="http://schemas.openxmlformats.org/drawingml/2006/main" noGrp="1"/>
          </p:cNvSpPr>
          <p:nvPr/>
        </p:nvSpPr>
        <p:spPr>
          <a:xfrm xmlns:a="http://schemas.openxmlformats.org/drawingml/2006/main">
            <a:off x="609600" y="5338763"/>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04</a:t>
            </a:r>
          </a:p>
        </p:txBody>
      </p:sp>
      <p:sp>
        <p:nvSpPr>
          <p:cNvPr id="16" name="text">
            <a:extLst xmlns:a="http://schemas.openxmlformats.org/drawingml/2006/main">
              <a:ext uri="{FF2B5EF4-FFF2-40B4-BE49-F238E27FC236}">
                <a16:creationId xmlns:a16="http://schemas.microsoft.com/office/drawing/2014/main" id="{2BF5C4E1-A876-4EB7-B1B4-7E10EB79F537}"/>
              </a:ext>
            </a:extLst>
          </p:cNvPr>
          <p:cNvSpPr>
            <a:spLocks xmlns:a="http://schemas.openxmlformats.org/drawingml/2006/main" noGrp="1"/>
          </p:cNvSpPr>
          <p:nvPr/>
        </p:nvSpPr>
        <p:spPr>
          <a:xfrm xmlns:a="http://schemas.openxmlformats.org/drawingml/2006/main">
            <a:off x="1495425" y="5338763"/>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Measure · section 9</a:t>
            </a:r>
          </a:p>
        </p:txBody>
      </p:sp>
      <p:sp>
        <p:nvSpPr>
          <p:cNvPr id="17" name="text">
            <a:extLst xmlns:a="http://schemas.openxmlformats.org/drawingml/2006/main">
              <a:ext uri="{FF2B5EF4-FFF2-40B4-BE49-F238E27FC236}">
                <a16:creationId xmlns:a16="http://schemas.microsoft.com/office/drawing/2014/main" id="{2C9FDB9F-33AA-4AB2-932D-4F971D96E577}"/>
              </a:ext>
            </a:extLst>
          </p:cNvPr>
          <p:cNvSpPr>
            <a:spLocks xmlns:a="http://schemas.openxmlformats.org/drawingml/2006/main" noGrp="1"/>
          </p:cNvSpPr>
          <p:nvPr/>
        </p:nvSpPr>
        <p:spPr>
          <a:xfrm xmlns:a="http://schemas.openxmlformats.org/drawingml/2006/main">
            <a:off x="4429125" y="5338763"/>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Compute temporal IoU and verify unique frame assignment at boundaries.</a:t>
            </a:r>
          </a:p>
        </p:txBody>
      </p:sp>
    </p:spTree>
    <p:extLst>
      <p:ext uri="{BB962C8B-B14F-4D97-AF65-F5344CB8AC3E}">
        <p14:creationId xmlns:p14="http://schemas.microsoft.com/office/powerpoint/2010/main" val="1283001170"/>
      </p:ext>
    </p:extLst>
  </p:cSld>
</p:sld>
</file>

<file path=ppt/slides/slide9.xml><?xml version="1.0" encoding="utf-8"?>
<p:sld xmlns:p="http://schemas.openxmlformats.org/presentationml/2006/main">
  <p:cSld>
    <p:bg>
      <p:bgPr>
        <a:solidFill xmlns:a="http://schemas.openxmlformats.org/drawingml/2006/main">
          <a:srgbClr val="EAF2F1"/>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837391EA-4A90-4D63-A7CD-3F205C5965D8}"/>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EXERCISE  /  NOTEBOOK 15</a:t>
            </a:r>
          </a:p>
        </p:txBody>
      </p:sp>
      <p:sp>
        <p:nvSpPr>
          <p:cNvPr id="2" name="slide-title">
            <a:extLst xmlns:a="http://schemas.openxmlformats.org/drawingml/2006/main">
              <a:ext uri="{FF2B5EF4-FFF2-40B4-BE49-F238E27FC236}">
                <a16:creationId xmlns:a16="http://schemas.microsoft.com/office/drawing/2014/main" id="{6287B506-3125-442C-BB26-5A0D2BF2A7ED}"/>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Replace scene windows with five-second windows</a:t>
            </a:r>
          </a:p>
        </p:txBody>
      </p:sp>
      <p:sp>
        <p:nvSpPr>
          <p:cNvPr id="3" name="lead">
            <a:extLst xmlns:a="http://schemas.openxmlformats.org/drawingml/2006/main">
              <a:ext uri="{FF2B5EF4-FFF2-40B4-BE49-F238E27FC236}">
                <a16:creationId xmlns:a16="http://schemas.microsoft.com/office/drawing/2014/main" id="{D4BCA429-3DC9-4F7A-AEB9-A95B66B0720A}"/>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Compare evidence precision under a different temporal segmentation policy.</a:t>
            </a:r>
          </a:p>
        </p:txBody>
      </p:sp>
      <p:sp>
        <p:nvSpPr>
          <p:cNvPr id="4" name="text">
            <a:extLst xmlns:a="http://schemas.openxmlformats.org/drawingml/2006/main">
              <a:ext uri="{FF2B5EF4-FFF2-40B4-BE49-F238E27FC236}">
                <a16:creationId xmlns:a16="http://schemas.microsoft.com/office/drawing/2014/main" id="{8EDAE0FB-96C2-40F7-90E3-35E18672EE83}"/>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15  /  Video RAG</a:t>
            </a:r>
          </a:p>
        </p:txBody>
      </p:sp>
      <p:sp>
        <p:nvSpPr>
          <p:cNvPr id="5" name="page-number">
            <a:extLst xmlns:a="http://schemas.openxmlformats.org/drawingml/2006/main">
              <a:ext uri="{FF2B5EF4-FFF2-40B4-BE49-F238E27FC236}">
                <a16:creationId xmlns:a16="http://schemas.microsoft.com/office/drawing/2014/main" id="{4B35B1A6-CE14-41DA-96BF-7FF089B29AA6}"/>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09</a:t>
            </a:r>
          </a:p>
        </p:txBody>
      </p:sp>
      <p:sp>
        <p:nvSpPr>
          <p:cNvPr id="6" name="text">
            <a:extLst xmlns:a="http://schemas.openxmlformats.org/drawingml/2006/main">
              <a:ext uri="{FF2B5EF4-FFF2-40B4-BE49-F238E27FC236}">
                <a16:creationId xmlns:a16="http://schemas.microsoft.com/office/drawing/2014/main" id="{80E4261D-BE4C-4569-B497-D6AC326BA395}"/>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Build</a:t>
            </a:r>
          </a:p>
        </p:txBody>
      </p:sp>
      <p:sp>
        <p:nvSpPr>
          <p:cNvPr id="7" name="text">
            <a:extLst xmlns:a="http://schemas.openxmlformats.org/drawingml/2006/main">
              <a:ext uri="{FF2B5EF4-FFF2-40B4-BE49-F238E27FC236}">
                <a16:creationId xmlns:a16="http://schemas.microsoft.com/office/drawing/2014/main" id="{C804A870-CADA-496B-BF76-BF46FC2B23E3}"/>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Create consecutive five-second windows over the decoded recording duration.</a:t>
            </a:r>
          </a:p>
        </p:txBody>
      </p:sp>
      <p:sp>
        <p:nvSpPr>
          <p:cNvPr id="8" name="text">
            <a:extLst xmlns:a="http://schemas.openxmlformats.org/drawingml/2006/main">
              <a:ext uri="{FF2B5EF4-FFF2-40B4-BE49-F238E27FC236}">
                <a16:creationId xmlns:a16="http://schemas.microsoft.com/office/drawing/2014/main" id="{01B72353-C945-4199-B794-A3C103FAFED7}"/>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Attach</a:t>
            </a:r>
          </a:p>
        </p:txBody>
      </p:sp>
      <p:sp>
        <p:nvSpPr>
          <p:cNvPr id="9" name="text">
            <a:extLst xmlns:a="http://schemas.openxmlformats.org/drawingml/2006/main">
              <a:ext uri="{FF2B5EF4-FFF2-40B4-BE49-F238E27FC236}">
                <a16:creationId xmlns:a16="http://schemas.microsoft.com/office/drawing/2014/main" id="{D9696558-64F3-4103-A4B1-D69590E8CE36}"/>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Assign sampled frames and overlapping transcript segments while preserving original timestamps.</a:t>
            </a:r>
          </a:p>
        </p:txBody>
      </p:sp>
      <p:sp>
        <p:nvSpPr>
          <p:cNvPr id="10" name="text">
            <a:extLst xmlns:a="http://schemas.openxmlformats.org/drawingml/2006/main">
              <a:ext uri="{FF2B5EF4-FFF2-40B4-BE49-F238E27FC236}">
                <a16:creationId xmlns:a16="http://schemas.microsoft.com/office/drawing/2014/main" id="{0348C2FB-D518-4646-948F-CB2DF04CACBA}"/>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Inspect</a:t>
            </a:r>
          </a:p>
        </p:txBody>
      </p:sp>
      <p:sp>
        <p:nvSpPr>
          <p:cNvPr id="11" name="text">
            <a:extLst xmlns:a="http://schemas.openxmlformats.org/drawingml/2006/main">
              <a:ext uri="{FF2B5EF4-FFF2-40B4-BE49-F238E27FC236}">
                <a16:creationId xmlns:a16="http://schemas.microsoft.com/office/drawing/2014/main" id="{F779A1C4-D058-45CE-8D8E-33B7F3D3F43A}"/>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Find a scene that straddles a boundary; compare duplicated context and missed visual evidence.</a:t>
            </a:r>
          </a:p>
        </p:txBody>
      </p:sp>
      <p:sp>
        <p:nvSpPr>
          <p:cNvPr id="12" name="text">
            <a:extLst xmlns:a="http://schemas.openxmlformats.org/drawingml/2006/main">
              <a:ext uri="{FF2B5EF4-FFF2-40B4-BE49-F238E27FC236}">
                <a16:creationId xmlns:a16="http://schemas.microsoft.com/office/drawing/2014/main" id="{A731B311-01D6-48CA-BC34-B3A28193C7F1}"/>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Evaluate</a:t>
            </a:r>
          </a:p>
        </p:txBody>
      </p:sp>
      <p:sp>
        <p:nvSpPr>
          <p:cNvPr id="13" name="text">
            <a:extLst xmlns:a="http://schemas.openxmlformats.org/drawingml/2006/main">
              <a:ext uri="{FF2B5EF4-FFF2-40B4-BE49-F238E27FC236}">
                <a16:creationId xmlns:a16="http://schemas.microsoft.com/office/drawing/2014/main" id="{02DE0162-8FF9-4593-9DBB-E2A0EDAB0821}"/>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Try 1-, 2-, and 5-second frame sampling with fixed queries and a fixed duration budget.</a:t>
            </a:r>
          </a:p>
        </p:txBody>
      </p:sp>
    </p:spTree>
    <p:extLst>
      <p:ext uri="{BB962C8B-B14F-4D97-AF65-F5344CB8AC3E}">
        <p14:creationId xmlns:p14="http://schemas.microsoft.com/office/powerpoint/2010/main" val="11590215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2026-10-11T09:50:46.0550000Z</dcterms:created>
  <dcterms:modified xsi:type="dcterms:W3CDTF">2026-10-11T09:50:46.0550000Z</dcterms:modified>
</coreProperties>
</file>