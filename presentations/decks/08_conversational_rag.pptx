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ca4dd5a5284c62" /><Relationship Type="http://schemas.openxmlformats.org/officeDocument/2006/relationships/extended-properties" Target="/docProps/app.xml" Id="Re80e33f5d8e049d6" /><Relationship Type="http://schemas.openxmlformats.org/officeDocument/2006/relationships/officeDocument" Target="/ppt/presentation.xml" Id="R0ab51158e5274f0f" /></Relationships>
</file>

<file path=ppt/presentation.xml><?xml version="1.0" encoding="utf-8"?>
<p:presentation xmlns:p="http://schemas.openxmlformats.org/presentationml/2006/main">
  <p:sldMasterIdLst>
    <p:sldMasterId xmlns:r="http://schemas.openxmlformats.org/officeDocument/2006/relationships" id="2147483648" r:id="Rf8b5c9ef71d6492c"/>
  </p:sldMasterIdLst>
  <p:notesMasterIdLst>
    <p:notesMasterId xmlns:r="http://schemas.openxmlformats.org/officeDocument/2006/relationships" r:id="R2270cceb9ee64731"/>
  </p:notesMasterIdLst>
  <p:sldIdLst>
    <p:sldId xmlns:r="http://schemas.openxmlformats.org/officeDocument/2006/relationships" id="256" r:id="R7afbd19a77b14312"/>
    <p:sldId xmlns:r="http://schemas.openxmlformats.org/officeDocument/2006/relationships" id="257" r:id="Rbc9c4e7490724101"/>
    <p:sldId xmlns:r="http://schemas.openxmlformats.org/officeDocument/2006/relationships" id="258" r:id="Rfc2f40920af842e6"/>
    <p:sldId xmlns:r="http://schemas.openxmlformats.org/officeDocument/2006/relationships" id="259" r:id="Rb3590b0962374520"/>
    <p:sldId xmlns:r="http://schemas.openxmlformats.org/officeDocument/2006/relationships" id="260" r:id="Refcd27a64d034616"/>
    <p:sldId xmlns:r="http://schemas.openxmlformats.org/officeDocument/2006/relationships" id="261" r:id="R8d6b774ba0d14558"/>
    <p:sldId xmlns:r="http://schemas.openxmlformats.org/officeDocument/2006/relationships" id="262" r:id="R48d988c126ac4564"/>
    <p:sldId xmlns:r="http://schemas.openxmlformats.org/officeDocument/2006/relationships" id="263" r:id="Rf52c65ccb2f64d8c"/>
    <p:sldId xmlns:r="http://schemas.openxmlformats.org/officeDocument/2006/relationships" id="264" r:id="R36d9ae6cc94547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b6575306a214ff3" /><Relationship Type="http://schemas.openxmlformats.org/officeDocument/2006/relationships/slideMaster" Target="/ppt/slideMasters/slideMaster1.xml" Id="Rf8b5c9ef71d6492c" /><Relationship Type="http://schemas.openxmlformats.org/officeDocument/2006/relationships/notesMaster" Target="/ppt/notesMasters/notesMaster1.xml" Id="R2270cceb9ee64731" /><Relationship Type="http://schemas.openxmlformats.org/officeDocument/2006/relationships/presProps" Target="/ppt/presProps.xml" Id="R1f6df34a77cf46e9" /><Relationship Type="http://schemas.openxmlformats.org/officeDocument/2006/relationships/tableStyles" Target="/ppt/tableStyles.xml" Id="R58e089aba3fa4243" /><Relationship Type="http://schemas.openxmlformats.org/officeDocument/2006/relationships/slide" Target="/ppt/slides/slide1.xml" Id="R7afbd19a77b14312" /><Relationship Type="http://schemas.openxmlformats.org/officeDocument/2006/relationships/slide" Target="/ppt/slides/slide2.xml" Id="Rbc9c4e7490724101" /><Relationship Type="http://schemas.openxmlformats.org/officeDocument/2006/relationships/slide" Target="/ppt/slides/slide3.xml" Id="Rfc2f40920af842e6" /><Relationship Type="http://schemas.openxmlformats.org/officeDocument/2006/relationships/slide" Target="/ppt/slides/slide4.xml" Id="Rb3590b0962374520" /><Relationship Type="http://schemas.openxmlformats.org/officeDocument/2006/relationships/slide" Target="/ppt/slides/slide5.xml" Id="Refcd27a64d034616" /><Relationship Type="http://schemas.openxmlformats.org/officeDocument/2006/relationships/slide" Target="/ppt/slides/slide6.xml" Id="R8d6b774ba0d14558" /><Relationship Type="http://schemas.openxmlformats.org/officeDocument/2006/relationships/slide" Target="/ppt/slides/slide7.xml" Id="R48d988c126ac4564" /><Relationship Type="http://schemas.openxmlformats.org/officeDocument/2006/relationships/slide" Target="/ppt/slides/slide8.xml" Id="Rf52c65ccb2f64d8c" /><Relationship Type="http://schemas.openxmlformats.org/officeDocument/2006/relationships/slide" Target="/ppt/slides/slide9.xml" Id="R36d9ae6cc94547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9496bd44d941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69eb3b4a3a4024" /><Relationship Type="http://schemas.openxmlformats.org/officeDocument/2006/relationships/notesMaster" Target="/ppt/notesMasters/notesMaster1.xml" Id="Rc45bf6aa33b744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2109e193b5df4217" /><Relationship Type="http://schemas.openxmlformats.org/officeDocument/2006/relationships/notesMaster" Target="/ppt/notesMasters/notesMaster1.xml" Id="R903b8e3e93cd4f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46a88aa73544dd" /><Relationship Type="http://schemas.openxmlformats.org/officeDocument/2006/relationships/notesMaster" Target="/ppt/notesMasters/notesMaster1.xml" Id="Rabaec10ea8fb45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c4245180b7431b" /><Relationship Type="http://schemas.openxmlformats.org/officeDocument/2006/relationships/notesMaster" Target="/ppt/notesMasters/notesMaster1.xml" Id="Rfe21f006c489415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7b9fe2b6864ffe" /><Relationship Type="http://schemas.openxmlformats.org/officeDocument/2006/relationships/notesMaster" Target="/ppt/notesMasters/notesMaster1.xml" Id="R75f48b681ee3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290fea59c047f6" /><Relationship Type="http://schemas.openxmlformats.org/officeDocument/2006/relationships/notesMaster" Target="/ppt/notesMasters/notesMaster1.xml" Id="R2f11e4d9bbbc4ff0"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f895879e914737" /><Relationship Type="http://schemas.openxmlformats.org/officeDocument/2006/relationships/notesMaster" Target="/ppt/notesMasters/notesMaster1.xml" Id="Rc0b7aa73925649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c3d9d7df44d64850" /><Relationship Type="http://schemas.openxmlformats.org/officeDocument/2006/relationships/notesMaster" Target="/ppt/notesMasters/notesMaster1.xml" Id="Reaa72653500f43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3148779b173b4342" /><Relationship Type="http://schemas.openxmlformats.org/officeDocument/2006/relationships/notesMaster" Target="/ppt/notesMasters/notesMaster1.xml" Id="R8a2c37498e354fc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notebooks/08_conversational_rag.ipynb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notebooks/08_conversational_rag.ipynb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what the word its refers to after a discussion of Team pricing. The conversation can resolve that reference, but it cannot establish the correct retention period. Show that stored history contains answers for display, yet rewrite_question constructs a payload using only question and standalone fields. Excluding assistant prose reduces one route for recycling an earlier mistake; it does not remove ambiguity. Fresh retrieval still needs to find the relevant policy before the model can answer the follow-up. Notebook reference: notebooks/08_conversational_rag.ipynb, Sections 1 and 4.</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Sections 1 and 4</a:t>
            </a:r>
          </a:p>
          <a:p xmlns:a="http://schemas.openxmlformats.org/drawingml/2006/main">
            <a:r>
              <a:t>https://platform.claude.com/docs/en/test-and-evaluate/strengthen-guardrails/reduce-hallucinations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Section 2 and compare retrieved titles and passages for the two queries. This teaching probe makes no rewrite call. Learners should see why a short follow-up may produce weak or accidental matches even when the relevant policy exists. Ask what information was added to the complete query: company, plan, and requested property. Do not present a lucky retrieval result for the ambiguous form as proof that memory is unnecessary. Query wording and corpus vocabulary determine what this small lexical baseline can find. Notebook reference: notebooks/08_conversational_rag.ipynb, Section 2.</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 2</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conversational_answer and identify the data at each boundary. The function returns original wording, standalone query, rewrite information, evidence, and answer separately. This makes debugging possible without guessing what the retriever received. The first turn needs no rewrite when history is empty. Subsequent live turns may require one rewrite request plus one answer request. Offline execution explicitly skips the rewrite and does not pretend to resolve the subject. Truncated or skipped generation is not added as a completed conversational answer in memory. Notebook reference: notebooks/08_conversational_rag.ipynb, Sections 4-5.</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Sections 4-5</a:t>
            </a:r>
          </a:p>
          <a:p xmlns:a="http://schemas.openxmlformats.org/drawingml/2006/main">
            <a:r>
              <a:t>https://platform.claude.com/docs/en/api/messages</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Inspect MAX_TURNS, MAX_FIELD_CHARS, and remember before running the local state checks. Three turns could still contain very large messages, which explains the field caps. Distinguish Python memory, the helper response cache, optional JSON export, and notebook outputs: these are separate forms of persistence. Restarting clears memory but does not erase previously saved outputs. The cache setting affects this kernel and does not remove existing cache files. A real service also needs separate authenticated sessions and explicit retention and deletion behavior. Notebook reference: notebooks/08_conversational_rag.ipynb, Sections 3 and 7.</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Sections 3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Enterprise pricing follow-up Is that annual? to discuss ambiguous references. Adding more history is not a universal fix: it may introduce more possible subjects and stale context. The notebook exposes the standalone query so teachers can locate an error. Have learners classify a hypothetical failure before changing a prompt. A clarification state is an extension exercise, not an implemented guarantee here. The model instruction preserves uncertainty, while a deployed product must decide when to ask for a more explicit question. Notebook reference: notebooks/08_conversational_rag.ipynb, Section 6.</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 6</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from a fresh kernel and confirm helper caching is disabled for the memory demonstration. The first turn makes an answer request. In live mode, the second normally makes a rewrite and an answer request. Read the actual standalone value printed by present_turn instead of narrating an imagined rewrite. If offline, show the human-resolved retrieval example and explain that no Claude conversation was produced. Finally show history length so the audience can connect visible behavior with the bounded state stored in the kernel. Notebook reference: notebooks/08_conversational_rag.ipynb, Section 5 and Presenter checkpoint.</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 5 and Presenter checkpoint</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the local memory check and point out the authored placeholder strings. It verifies deque behavior without spending API tokens, but says nothing about model reasoning. Save and restore prior demonstration history as the notebook does, then show an explicit reset. A reset changes what future rewrites can use; it does not promise that all persisted outputs have been erased. This distinction matters for application session controls. Ask learners which state they expect to disappear and which files or outputs require separate handling. Notebook reference: notebooks/08_conversational_rag.ipynb, Sections 3, 5, and 8.</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Sections 3, 5, and 8</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 solution resets memory and searches a complete new leave question. Inspect the rewrite status and source evidence rather than merely observing an answer. These are fictional workshop policies. Discuss why the old plan topic should not influence retrieval after reset. For an extension, sketch a clarification state for a follow-up whose reference remains ambiguous, keeping it separate from implemented behavior. Finish by asking why conversational continuity and factual grounding require different information, and which intermediate values reveal errors in each part. Notebook reference: notebooks/08_conversational_rag.ipynb, Section 8 and Presenter checkpoint.</a:t>
            </a:r>
          </a:p>
          <a:p xmlns:a="http://schemas.openxmlformats.org/drawingml/2006/main">
            <a:r>
              <a:t/>
            </a:r>
          </a:p>
          <a:p xmlns:a="http://schemas.openxmlformats.org/drawingml/2006/main">
            <a:r>
              <a:t>NOTEBOOK: notebooks/08_conversational_rag.ipynb</a:t>
            </a:r>
          </a:p>
          <a:p xmlns:a="http://schemas.openxmlformats.org/drawingml/2006/main">
            <a:r>
              <a:t/>
            </a:r>
          </a:p>
          <a:p xmlns:a="http://schemas.openxmlformats.org/drawingml/2006/main">
            <a:r>
              <a:t>SOURCES</a:t>
            </a:r>
          </a:p>
          <a:p xmlns:a="http://schemas.openxmlformats.org/drawingml/2006/main">
            <a:r>
              <a:t>notebooks/08_conversational_rag.ipynb - Section 8 and Presenter checkpoint</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a6f7e7ea6214e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75e28d924e4c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00f135dce244a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3235dbb6da40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f2787b4925494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3fde90b4f546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F18ED0-CEF7-4BB8-AE04-D59936ACBC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5C91D9-7CC5-49CB-A7E4-BBD9373DC6F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0760BF-90F9-448D-B94B-45E9B1134A6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4C5D48-A2B7-4C0F-9994-A5D1131115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67304EB-6D5E-47FA-A033-6434F1C15B2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598FD3-ED65-4FC1-80B0-B9393E619C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4C57F9-66C9-47AB-8B20-86C5D53C7F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650FC7-56C2-4B31-A9F3-E2BF57EA60B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48DA878-5E4C-4C76-B1F7-7E11D3F1AB0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C3AD83-9E04-41A5-AE76-849DA8D262E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f01a721f61400c" /><Relationship Type="http://schemas.openxmlformats.org/officeDocument/2006/relationships/slideLayout" Target="/ppt/slideLayouts/slideLayout1.xml" Id="Rb0f4b47aff9d4a99" /><Relationship Type="http://schemas.openxmlformats.org/officeDocument/2006/relationships/slideLayout" Target="/ppt/slideLayouts/slideLayout2.xml" Id="Rc10af628f51f403c" /><Relationship Type="http://schemas.openxmlformats.org/officeDocument/2006/relationships/slideLayout" Target="/ppt/slideLayouts/slideLayout3.xml" Id="R1a707951927f482e" /><Relationship Type="http://schemas.openxmlformats.org/officeDocument/2006/relationships/slideLayout" Target="/ppt/slideLayouts/slideLayout4.xml" Id="R5ef1a6777d9c4d06" /><Relationship Type="http://schemas.openxmlformats.org/officeDocument/2006/relationships/slideLayout" Target="/ppt/slideLayouts/slideLayout5.xml" Id="Rcddf08176ed94760" /><Relationship Type="http://schemas.openxmlformats.org/officeDocument/2006/relationships/slideLayout" Target="/ppt/slideLayouts/slideLayout6.xml" Id="Rf17815acf1c14d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f4b47aff9d4a99"/>
    <p:sldLayoutId xmlns:r="http://schemas.openxmlformats.org/officeDocument/2006/relationships" id="2147483650" r:id="Rc10af628f51f403c"/>
    <p:sldLayoutId xmlns:r="http://schemas.openxmlformats.org/officeDocument/2006/relationships" id="2147483651" r:id="R1a707951927f482e"/>
    <p:sldLayoutId xmlns:r="http://schemas.openxmlformats.org/officeDocument/2006/relationships" id="2147483652" r:id="R5ef1a6777d9c4d06"/>
    <p:sldLayoutId xmlns:r="http://schemas.openxmlformats.org/officeDocument/2006/relationships" id="2147483653" r:id="Rcddf08176ed94760"/>
    <p:sldLayoutId xmlns:r="http://schemas.openxmlformats.org/officeDocument/2006/relationships" id="2147483654" r:id="Rf17815acf1c14d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303aad399d4a7a" /><Relationship Type="http://schemas.openxmlformats.org/officeDocument/2006/relationships/image" Target="/ppt/media/image.png" Id="R8f4f5a700ea648c9" /><Relationship Type="http://schemas.openxmlformats.org/officeDocument/2006/relationships/notesSlide" Target="/ppt/notesSlides/notesSlide1.xml" Id="R7d4adaa3b21747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35aa78ceda04a56" /><Relationship Type="http://schemas.openxmlformats.org/officeDocument/2006/relationships/notesSlide" Target="/ppt/notesSlides/notesSlide2.xml" Id="Rd5abd4dfa43540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a0f8ce472a34f09" /><Relationship Type="http://schemas.openxmlformats.org/officeDocument/2006/relationships/notesSlide" Target="/ppt/notesSlides/notesSlide3.xml" Id="Rd14996c878a6413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b30adb56aa44ba" /><Relationship Type="http://schemas.openxmlformats.org/officeDocument/2006/relationships/notesSlide" Target="/ppt/notesSlides/notesSlide4.xml" Id="R2a67ee4ad5e943a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9ebc255a9ea40ad" /><Relationship Type="http://schemas.openxmlformats.org/officeDocument/2006/relationships/notesSlide" Target="/ppt/notesSlides/notesSlide5.xml" Id="Refb8be33b03b46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ba951856454c21" /><Relationship Type="http://schemas.openxmlformats.org/officeDocument/2006/relationships/notesSlide" Target="/ppt/notesSlides/notesSlide6.xml" Id="R3c3540102a3b4d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ffe0bc92684155" /><Relationship Type="http://schemas.openxmlformats.org/officeDocument/2006/relationships/notesSlide" Target="/ppt/notesSlides/notesSlide7.xml" Id="R74626d55d9124b3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74beee472ef40a3" /><Relationship Type="http://schemas.openxmlformats.org/officeDocument/2006/relationships/notesSlide" Target="/ppt/notesSlides/notesSlide8.xml" Id="Re4d798dc372a48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6bd64aa5a7e4f04" /><Relationship Type="http://schemas.openxmlformats.org/officeDocument/2006/relationships/notesSlide" Target="/ppt/notesSlides/notesSlide9.xml" Id="R0ed97dbaa5f8462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ED5D39C-FE7A-457B-8C1A-B67A11467323}"/>
              </a:ext>
            </a:extLst>
          </p:cNvPr>
          <p:cNvPicPr>
            <a:picLocks xmlns:a="http://schemas.openxmlformats.org/drawingml/2006/main" noChangeAspect="1"/>
          </p:cNvPicPr>
          <p:nvPr/>
        </p:nvPicPr>
        <p:blipFill>
          <a:blip xmlns:r="http://schemas.openxmlformats.org/officeDocument/2006/relationships" xmlns:a="http://schemas.openxmlformats.org/drawingml/2006/main" r:embed="R8f4f5a700ea648c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10955E7B-B95B-438B-BA9C-6DA2014C1667}"/>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08</a:t>
            </a:r>
          </a:p>
        </p:txBody>
      </p:sp>
      <p:sp>
        <p:nvSpPr>
          <p:cNvPr id="3" name="deck-title">
            <a:extLst xmlns:a="http://schemas.openxmlformats.org/drawingml/2006/main">
              <a:ext uri="{FF2B5EF4-FFF2-40B4-BE49-F238E27FC236}">
                <a16:creationId xmlns:a16="http://schemas.microsoft.com/office/drawing/2014/main" id="{C0FD880B-5F35-475F-81AC-B49A8C70F02E}"/>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Conversational RAG</a:t>
            </a:r>
          </a:p>
        </p:txBody>
      </p:sp>
      <p:sp>
        <p:nvSpPr>
          <p:cNvPr id="4" name="text">
            <a:extLst xmlns:a="http://schemas.openxmlformats.org/drawingml/2006/main">
              <a:ext uri="{FF2B5EF4-FFF2-40B4-BE49-F238E27FC236}">
                <a16:creationId xmlns:a16="http://schemas.microsoft.com/office/drawing/2014/main" id="{7B01FC97-74E3-4A41-98EF-465D5DC7373F}"/>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Resolve follow-ups, retrieve fresh evidence, and keep memory bounded.</a:t>
            </a:r>
          </a:p>
        </p:txBody>
      </p:sp>
      <p:sp>
        <p:nvSpPr>
          <p:cNvPr id="5" name="text">
            <a:extLst xmlns:a="http://schemas.openxmlformats.org/drawingml/2006/main">
              <a:ext uri="{FF2B5EF4-FFF2-40B4-BE49-F238E27FC236}">
                <a16:creationId xmlns:a16="http://schemas.microsoft.com/office/drawing/2014/main" id="{6B49D65E-A903-4690-9A05-157DDEE3DDB1}"/>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08_conversational_rag.ipynb</a:t>
            </a:r>
          </a:p>
        </p:txBody>
      </p:sp>
    </p:spTree>
    <p:extLst>
      <p:ext uri="{BB962C8B-B14F-4D97-AF65-F5344CB8AC3E}">
        <p14:creationId xmlns:p14="http://schemas.microsoft.com/office/powerpoint/2010/main" val="583959106"/>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BAF4765B-77E6-43F3-A2E6-55491F72B52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08</a:t>
            </a:r>
          </a:p>
        </p:txBody>
      </p:sp>
      <p:sp>
        <p:nvSpPr>
          <p:cNvPr id="2" name="slide-title">
            <a:extLst xmlns:a="http://schemas.openxmlformats.org/drawingml/2006/main">
              <a:ext uri="{FF2B5EF4-FFF2-40B4-BE49-F238E27FC236}">
                <a16:creationId xmlns:a16="http://schemas.microsoft.com/office/drawing/2014/main" id="{DA2A7995-8D91-4B8C-AD69-C46E9B14882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Memory resolves meaning; evidence supplies facts</a:t>
            </a:r>
          </a:p>
        </p:txBody>
      </p:sp>
      <p:sp>
        <p:nvSpPr>
          <p:cNvPr id="3" name="lead">
            <a:extLst xmlns:a="http://schemas.openxmlformats.org/drawingml/2006/main">
              <a:ext uri="{FF2B5EF4-FFF2-40B4-BE49-F238E27FC236}">
                <a16:creationId xmlns:a16="http://schemas.microsoft.com/office/drawing/2014/main" id="{E798B25F-41D3-46AE-83BD-336871B0A1F7}"/>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Previous assistant answers can be wrong or stale, so they should not become policy evidence.</a:t>
            </a:r>
          </a:p>
        </p:txBody>
      </p:sp>
      <p:sp>
        <p:nvSpPr>
          <p:cNvPr id="4" name="text">
            <a:extLst xmlns:a="http://schemas.openxmlformats.org/drawingml/2006/main">
              <a:ext uri="{FF2B5EF4-FFF2-40B4-BE49-F238E27FC236}">
                <a16:creationId xmlns:a16="http://schemas.microsoft.com/office/drawing/2014/main" id="{78AAA176-50EA-4DA0-9111-23373E49BB8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A930EB1F-F428-4146-8B6F-969752ECC76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graphicFrame>
        <p:nvGraphicFramePr>
          <p:cNvPr id="6" name="">
            <a:extLst xmlns:a="http://schemas.openxmlformats.org/drawingml/2006/main">
              <a:ext uri="{FF2B5EF4-FFF2-40B4-BE49-F238E27FC236}">
                <a16:creationId xmlns:a16="http://schemas.microsoft.com/office/drawing/2014/main" id="{9B43C6A8-BD46-47DD-8756-7ABE74BEEBD4}"/>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Memory</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Recent user questions help identify a subject such as the Team plan.</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Evidence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Current corpus passages support factual answers and citations.</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Follow-up problem</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What about its retention? does not name the plan.</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Design choice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The rewrite sees recent questions and resolved queries, excluding assistant prose.</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96684708"/>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6CF01A5C-5E2F-4388-A6B7-C07392E7702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08</a:t>
            </a:r>
          </a:p>
        </p:txBody>
      </p:sp>
      <p:sp>
        <p:nvSpPr>
          <p:cNvPr id="2" name="slide-title">
            <a:extLst xmlns:a="http://schemas.openxmlformats.org/drawingml/2006/main">
              <a:ext uri="{FF2B5EF4-FFF2-40B4-BE49-F238E27FC236}">
                <a16:creationId xmlns:a16="http://schemas.microsoft.com/office/drawing/2014/main" id="{539A0C25-00E4-4AE8-8044-9281B34270B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Make an ambiguous query inspectable</a:t>
            </a:r>
          </a:p>
        </p:txBody>
      </p:sp>
      <p:sp>
        <p:nvSpPr>
          <p:cNvPr id="3" name="lead">
            <a:extLst xmlns:a="http://schemas.openxmlformats.org/drawingml/2006/main">
              <a:ext uri="{FF2B5EF4-FFF2-40B4-BE49-F238E27FC236}">
                <a16:creationId xmlns:a16="http://schemas.microsoft.com/office/drawing/2014/main" id="{9B283D62-CBCD-4D11-8D3C-ED60B92F67F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Compare literal wording with a complete, human-written query before using Claude.</a:t>
            </a:r>
          </a:p>
        </p:txBody>
      </p:sp>
      <p:sp>
        <p:nvSpPr>
          <p:cNvPr id="4" name="text">
            <a:extLst xmlns:a="http://schemas.openxmlformats.org/drawingml/2006/main">
              <a:ext uri="{FF2B5EF4-FFF2-40B4-BE49-F238E27FC236}">
                <a16:creationId xmlns:a16="http://schemas.microsoft.com/office/drawing/2014/main" id="{27D5BEBC-2049-4D34-8FF8-12A24F564DE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6B8C7994-96FA-460F-A320-4F0D81E1534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sp>
        <p:nvSpPr>
          <p:cNvPr id="6" name="text">
            <a:extLst xmlns:a="http://schemas.openxmlformats.org/drawingml/2006/main">
              <a:ext uri="{FF2B5EF4-FFF2-40B4-BE49-F238E27FC236}">
                <a16:creationId xmlns:a16="http://schemas.microsoft.com/office/drawing/2014/main" id="{0E687513-6D48-413F-A09D-39FE51FFE1AE}"/>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Literal follow-up</a:t>
            </a:r>
          </a:p>
        </p:txBody>
      </p:sp>
      <p:sp>
        <p:nvSpPr>
          <p:cNvPr id="7" name="text">
            <a:extLst xmlns:a="http://schemas.openxmlformats.org/drawingml/2006/main">
              <a:ext uri="{FF2B5EF4-FFF2-40B4-BE49-F238E27FC236}">
                <a16:creationId xmlns:a16="http://schemas.microsoft.com/office/drawing/2014/main" id="{255A61B3-3B00-45BE-853E-D96435C3767D}"/>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What about its retention?</a:t>
            </a:r>
          </a:p>
        </p:txBody>
      </p:sp>
      <p:sp>
        <p:nvSpPr>
          <p:cNvPr id="8" name="text">
            <a:extLst xmlns:a="http://schemas.openxmlformats.org/drawingml/2006/main">
              <a:ext uri="{FF2B5EF4-FFF2-40B4-BE49-F238E27FC236}">
                <a16:creationId xmlns:a16="http://schemas.microsoft.com/office/drawing/2014/main" id="{DDFA71F5-75F1-4008-8E52-B88479237543}"/>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Resolved example</a:t>
            </a:r>
          </a:p>
        </p:txBody>
      </p:sp>
      <p:sp>
        <p:nvSpPr>
          <p:cNvPr id="9" name="text">
            <a:extLst xmlns:a="http://schemas.openxmlformats.org/drawingml/2006/main">
              <a:ext uri="{FF2B5EF4-FFF2-40B4-BE49-F238E27FC236}">
                <a16:creationId xmlns:a16="http://schemas.microsoft.com/office/drawing/2014/main" id="{68701901-83A8-4534-934C-FE112D93419E}"/>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What is the Northstar Team plan data retention period?</a:t>
            </a:r>
          </a:p>
        </p:txBody>
      </p:sp>
      <p:sp>
        <p:nvSpPr>
          <p:cNvPr id="10" name="text">
            <a:extLst xmlns:a="http://schemas.openxmlformats.org/drawingml/2006/main">
              <a:ext uri="{FF2B5EF4-FFF2-40B4-BE49-F238E27FC236}">
                <a16:creationId xmlns:a16="http://schemas.microsoft.com/office/drawing/2014/main" id="{A6D7EEC5-51D9-45AC-B547-858398B368C8}"/>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Experiment</a:t>
            </a:r>
          </a:p>
        </p:txBody>
      </p:sp>
      <p:sp>
        <p:nvSpPr>
          <p:cNvPr id="11" name="text">
            <a:extLst xmlns:a="http://schemas.openxmlformats.org/drawingml/2006/main">
              <a:ext uri="{FF2B5EF4-FFF2-40B4-BE49-F238E27FC236}">
                <a16:creationId xmlns:a16="http://schemas.microsoft.com/office/drawing/2014/main" id="{91EB0F38-8192-4AAE-ADF4-6716BD499C47}"/>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Search both with the same TF-IDF index and k = 3.</a:t>
            </a:r>
          </a:p>
        </p:txBody>
      </p:sp>
      <p:sp>
        <p:nvSpPr>
          <p:cNvPr id="12" name="text">
            <a:extLst xmlns:a="http://schemas.openxmlformats.org/drawingml/2006/main">
              <a:ext uri="{FF2B5EF4-FFF2-40B4-BE49-F238E27FC236}">
                <a16:creationId xmlns:a16="http://schemas.microsoft.com/office/drawing/2014/main" id="{973101AB-ECB2-4462-A1B6-FB71210DE32A}"/>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Teaching distinction</a:t>
            </a:r>
          </a:p>
        </p:txBody>
      </p:sp>
      <p:sp>
        <p:nvSpPr>
          <p:cNvPr id="13" name="text">
            <a:extLst xmlns:a="http://schemas.openxmlformats.org/drawingml/2006/main">
              <a:ext uri="{FF2B5EF4-FFF2-40B4-BE49-F238E27FC236}">
                <a16:creationId xmlns:a16="http://schemas.microsoft.com/office/drawing/2014/main" id="{0415450A-3748-47F4-BB03-B7303BFB01A4}"/>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complete example is authored by a person, not generated by a model.</a:t>
            </a:r>
          </a:p>
        </p:txBody>
      </p:sp>
    </p:spTree>
    <p:extLst>
      <p:ext uri="{BB962C8B-B14F-4D97-AF65-F5344CB8AC3E}">
        <p14:creationId xmlns:p14="http://schemas.microsoft.com/office/powerpoint/2010/main" val="1903125167"/>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2EE5C76D-24A2-446F-A7FC-02A564E5041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08</a:t>
            </a:r>
          </a:p>
        </p:txBody>
      </p:sp>
      <p:sp>
        <p:nvSpPr>
          <p:cNvPr id="2" name="slide-title">
            <a:extLst xmlns:a="http://schemas.openxmlformats.org/drawingml/2006/main">
              <a:ext uri="{FF2B5EF4-FFF2-40B4-BE49-F238E27FC236}">
                <a16:creationId xmlns:a16="http://schemas.microsoft.com/office/drawing/2014/main" id="{D7A0F13E-DD04-46F8-9100-E61CF5D9D6B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Rewrite, retrieve, then answer</a:t>
            </a:r>
          </a:p>
        </p:txBody>
      </p:sp>
      <p:sp>
        <p:nvSpPr>
          <p:cNvPr id="3" name="lead">
            <a:extLst xmlns:a="http://schemas.openxmlformats.org/drawingml/2006/main">
              <a:ext uri="{FF2B5EF4-FFF2-40B4-BE49-F238E27FC236}">
                <a16:creationId xmlns:a16="http://schemas.microsoft.com/office/drawing/2014/main" id="{46D0C93E-816D-46BD-816A-93CCF4B53D16}"/>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Return the intermediate query and evidence so a conversation remains explainable.</a:t>
            </a:r>
          </a:p>
        </p:txBody>
      </p:sp>
      <p:sp>
        <p:nvSpPr>
          <p:cNvPr id="4" name="text">
            <a:extLst xmlns:a="http://schemas.openxmlformats.org/drawingml/2006/main">
              <a:ext uri="{FF2B5EF4-FFF2-40B4-BE49-F238E27FC236}">
                <a16:creationId xmlns:a16="http://schemas.microsoft.com/office/drawing/2014/main" id="{3400C1D6-3BE7-4DD2-9095-D249DB158FEF}"/>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0B7EB832-2B66-455A-8DE7-C23CAAAC3E20}"/>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graphicFrame>
        <p:nvGraphicFramePr>
          <p:cNvPr id="6" name="">
            <a:extLst xmlns:a="http://schemas.openxmlformats.org/drawingml/2006/main">
              <a:ext uri="{FF2B5EF4-FFF2-40B4-BE49-F238E27FC236}">
                <a16:creationId xmlns:a16="http://schemas.microsoft.com/office/drawing/2014/main" id="{6EBD844F-63E0-4827-97F3-A2E5B3EF75D4}"/>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Rewrite</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Resolve the latest question using recent user questions and standalone forms.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Retrieve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Search the current corpus with the resulting standalone query.</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Ground</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Give Claude the standalone question and current hits, without a growing answer transcript.</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Remember</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Store completed, non-truncated live turns; skip fabricated offline conversation state.</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440265153"/>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05D521F8-5EDF-454B-B911-7B34AA31BBC0}"/>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08</a:t>
            </a:r>
          </a:p>
        </p:txBody>
      </p:sp>
      <p:sp>
        <p:nvSpPr>
          <p:cNvPr id="2" name="slide-title">
            <a:extLst xmlns:a="http://schemas.openxmlformats.org/drawingml/2006/main">
              <a:ext uri="{FF2B5EF4-FFF2-40B4-BE49-F238E27FC236}">
                <a16:creationId xmlns:a16="http://schemas.microsoft.com/office/drawing/2014/main" id="{E0E0A17C-0672-4113-9669-65B217544861}"/>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Bound state and separate persistence choices</a:t>
            </a:r>
          </a:p>
        </p:txBody>
      </p:sp>
      <p:sp>
        <p:nvSpPr>
          <p:cNvPr id="3" name="lead">
            <a:extLst xmlns:a="http://schemas.openxmlformats.org/drawingml/2006/main">
              <a:ext uri="{FF2B5EF4-FFF2-40B4-BE49-F238E27FC236}">
                <a16:creationId xmlns:a16="http://schemas.microsoft.com/office/drawing/2014/main" id="{C08A2EB9-416F-4AA2-B186-35F48E2FBE7E}"/>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Turn count limits history length; character caps limit each retained field.</a:t>
            </a:r>
          </a:p>
        </p:txBody>
      </p:sp>
      <p:sp>
        <p:nvSpPr>
          <p:cNvPr id="4" name="text">
            <a:extLst xmlns:a="http://schemas.openxmlformats.org/drawingml/2006/main">
              <a:ext uri="{FF2B5EF4-FFF2-40B4-BE49-F238E27FC236}">
                <a16:creationId xmlns:a16="http://schemas.microsoft.com/office/drawing/2014/main" id="{58929D1C-29CB-4023-A008-7D9ACE135520}"/>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D1A74C5F-5278-4B9D-864A-E2E807E873F2}"/>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86B12744-41D9-488C-BDC0-5EB5F3BB89E4}"/>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In-memory bound</a:t>
            </a:r>
          </a:p>
        </p:txBody>
      </p:sp>
      <p:sp>
        <p:nvSpPr>
          <p:cNvPr id="7" name="text">
            <a:extLst xmlns:a="http://schemas.openxmlformats.org/drawingml/2006/main">
              <a:ext uri="{FF2B5EF4-FFF2-40B4-BE49-F238E27FC236}">
                <a16:creationId xmlns:a16="http://schemas.microsoft.com/office/drawing/2014/main" id="{214B6183-4E06-484B-B813-98C9E7FA2CCC}"/>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deque(maxlen=3) retains the latest 3 completed turns in this kernel.</a:t>
            </a:r>
          </a:p>
        </p:txBody>
      </p:sp>
      <p:sp>
        <p:nvSpPr>
          <p:cNvPr id="8" name="text">
            <a:extLst xmlns:a="http://schemas.openxmlformats.org/drawingml/2006/main">
              <a:ext uri="{FF2B5EF4-FFF2-40B4-BE49-F238E27FC236}">
                <a16:creationId xmlns:a16="http://schemas.microsoft.com/office/drawing/2014/main" id="{2D201152-1032-4ED5-B51A-17EB72DF96F8}"/>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Field bound</a:t>
            </a:r>
          </a:p>
        </p:txBody>
      </p:sp>
      <p:sp>
        <p:nvSpPr>
          <p:cNvPr id="9" name="text">
            <a:extLst xmlns:a="http://schemas.openxmlformats.org/drawingml/2006/main">
              <a:ext uri="{FF2B5EF4-FFF2-40B4-BE49-F238E27FC236}">
                <a16:creationId xmlns:a16="http://schemas.microsoft.com/office/drawing/2014/main" id="{E1025B30-E01A-4C16-8D95-54070CA43107}"/>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Each question, resolved question, and answer is capped at 1,200 characters.</a:t>
            </a:r>
          </a:p>
        </p:txBody>
      </p:sp>
      <p:sp>
        <p:nvSpPr>
          <p:cNvPr id="10" name="text">
            <a:extLst xmlns:a="http://schemas.openxmlformats.org/drawingml/2006/main">
              <a:ext uri="{FF2B5EF4-FFF2-40B4-BE49-F238E27FC236}">
                <a16:creationId xmlns:a16="http://schemas.microsoft.com/office/drawing/2014/main" id="{2B0FAFF2-2672-4D74-AC11-660B4B4CEFD6}"/>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Helper cache</a:t>
            </a:r>
          </a:p>
        </p:txBody>
      </p:sp>
      <p:sp>
        <p:nvSpPr>
          <p:cNvPr id="11" name="text">
            <a:extLst xmlns:a="http://schemas.openxmlformats.org/drawingml/2006/main">
              <a:ext uri="{FF2B5EF4-FFF2-40B4-BE49-F238E27FC236}">
                <a16:creationId xmlns:a16="http://schemas.microsoft.com/office/drawing/2014/main" id="{052B97E4-888B-436E-89C4-3F5A06D8D417}"/>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RAG_CACHE=0 bypasses the shared plaintext response cache for this kernel.</a:t>
            </a:r>
          </a:p>
        </p:txBody>
      </p:sp>
      <p:sp>
        <p:nvSpPr>
          <p:cNvPr id="12" name="text">
            <a:extLst xmlns:a="http://schemas.openxmlformats.org/drawingml/2006/main">
              <a:ext uri="{FF2B5EF4-FFF2-40B4-BE49-F238E27FC236}">
                <a16:creationId xmlns:a16="http://schemas.microsoft.com/office/drawing/2014/main" id="{74CE71AE-D8D2-43DB-9441-0A9EFF5E7B76}"/>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Saved outputs</a:t>
            </a:r>
          </a:p>
        </p:txBody>
      </p:sp>
      <p:sp>
        <p:nvSpPr>
          <p:cNvPr id="13" name="text">
            <a:extLst xmlns:a="http://schemas.openxmlformats.org/drawingml/2006/main">
              <a:ext uri="{FF2B5EF4-FFF2-40B4-BE49-F238E27FC236}">
                <a16:creationId xmlns:a16="http://schemas.microsoft.com/office/drawing/2014/main" id="{B7433A83-F1C2-4667-A324-D6F12F215CBD}"/>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Notebook autosave can retain displayed questions and answers after a memory reset.</a:t>
            </a:r>
          </a:p>
        </p:txBody>
      </p:sp>
    </p:spTree>
    <p:extLst>
      <p:ext uri="{BB962C8B-B14F-4D97-AF65-F5344CB8AC3E}">
        <p14:creationId xmlns:p14="http://schemas.microsoft.com/office/powerpoint/2010/main" val="2021365285"/>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57993F4-CF4F-4119-8425-76C7B7B5570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08</a:t>
            </a:r>
          </a:p>
        </p:txBody>
      </p:sp>
      <p:sp>
        <p:nvSpPr>
          <p:cNvPr id="2" name="slide-title">
            <a:extLst xmlns:a="http://schemas.openxmlformats.org/drawingml/2006/main">
              <a:ext uri="{FF2B5EF4-FFF2-40B4-BE49-F238E27FC236}">
                <a16:creationId xmlns:a16="http://schemas.microsoft.com/office/drawing/2014/main" id="{9789E668-38A7-47D2-84DA-408EA2247E1F}"/>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Diagnose the stage that failed</a:t>
            </a:r>
          </a:p>
        </p:txBody>
      </p:sp>
      <p:sp>
        <p:nvSpPr>
          <p:cNvPr id="3" name="lead">
            <a:extLst xmlns:a="http://schemas.openxmlformats.org/drawingml/2006/main">
              <a:ext uri="{FF2B5EF4-FFF2-40B4-BE49-F238E27FC236}">
                <a16:creationId xmlns:a16="http://schemas.microsoft.com/office/drawing/2014/main" id="{E3E1CC22-06CD-4875-9F0C-505719A8AE9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wrong follow-up answer can originate in rewriting, retrieval, or generation.</a:t>
            </a:r>
          </a:p>
        </p:txBody>
      </p:sp>
      <p:sp>
        <p:nvSpPr>
          <p:cNvPr id="4" name="text">
            <a:extLst xmlns:a="http://schemas.openxmlformats.org/drawingml/2006/main">
              <a:ext uri="{FF2B5EF4-FFF2-40B4-BE49-F238E27FC236}">
                <a16:creationId xmlns:a16="http://schemas.microsoft.com/office/drawing/2014/main" id="{0075E04C-C0DB-4D04-A2D9-C628B0892587}"/>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DABAEB93-B4C6-4E3C-811A-8D0641BAF36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graphicFrame>
        <p:nvGraphicFramePr>
          <p:cNvPr id="6" name="">
            <a:extLst xmlns:a="http://schemas.openxmlformats.org/drawingml/2006/main">
              <a:ext uri="{FF2B5EF4-FFF2-40B4-BE49-F238E27FC236}">
                <a16:creationId xmlns:a16="http://schemas.microsoft.com/office/drawing/2014/main" id="{ABC2815E-9434-479C-B3F7-1C3FD966B3AF}"/>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Wrong subject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Inspect standalone: was Team incorrectly rewritten as Enterprise?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Missing policy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If the query is right but the source is absent, investigate retrieval.</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Unsupported answer</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If the policy is present but contradicted, investigate generation.</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Ambiguous reference</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When several subjects are plausible, an application should request clarification.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399106026"/>
      </p:ext>
    </p:extLst>
  </p:cSld>
</p:sld>
</file>

<file path=ppt/slides/slide7.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6D407A20-60C6-4942-BE1D-DDDC8DFA2204}"/>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08</a:t>
            </a:r>
          </a:p>
        </p:txBody>
      </p:sp>
      <p:sp>
        <p:nvSpPr>
          <p:cNvPr id="2" name="slide-title">
            <a:extLst xmlns:a="http://schemas.openxmlformats.org/drawingml/2006/main">
              <a:ext uri="{FF2B5EF4-FFF2-40B4-BE49-F238E27FC236}">
                <a16:creationId xmlns:a16="http://schemas.microsoft.com/office/drawing/2014/main" id="{51E7A33F-8AD6-4719-8A94-3B7613713A44}"/>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follow a two-turn exchange</a:t>
            </a:r>
          </a:p>
        </p:txBody>
      </p:sp>
      <p:sp>
        <p:nvSpPr>
          <p:cNvPr id="3" name="lead">
            <a:extLst xmlns:a="http://schemas.openxmlformats.org/drawingml/2006/main">
              <a:ext uri="{FF2B5EF4-FFF2-40B4-BE49-F238E27FC236}">
                <a16:creationId xmlns:a16="http://schemas.microsoft.com/office/drawing/2014/main" id="{9A3D9402-5381-4F16-B860-9AF4F03E6315}"/>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Show both the literal follow-up and the query that reached retrieval.</a:t>
            </a:r>
          </a:p>
        </p:txBody>
      </p:sp>
      <p:sp>
        <p:nvSpPr>
          <p:cNvPr id="4" name="text">
            <a:extLst xmlns:a="http://schemas.openxmlformats.org/drawingml/2006/main">
              <a:ext uri="{FF2B5EF4-FFF2-40B4-BE49-F238E27FC236}">
                <a16:creationId xmlns:a16="http://schemas.microsoft.com/office/drawing/2014/main" id="{F61E97DB-1D2A-498D-B7CC-E59B93365068}"/>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8EC78C73-75A8-4611-8727-7684FA2ACA8F}"/>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05EDAAFA-013F-4A7C-9091-B32347D6F99D}"/>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62AE5404-3859-497E-B5E0-43BA87D6D4DE}"/>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First turn</a:t>
            </a:r>
          </a:p>
        </p:txBody>
      </p:sp>
      <p:sp>
        <p:nvSpPr>
          <p:cNvPr id="8" name="text">
            <a:extLst xmlns:a="http://schemas.openxmlformats.org/drawingml/2006/main">
              <a:ext uri="{FF2B5EF4-FFF2-40B4-BE49-F238E27FC236}">
                <a16:creationId xmlns:a16="http://schemas.microsoft.com/office/drawing/2014/main" id="{225B66AD-8A1B-4DE4-8255-90D0D8235F09}"/>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How much does the Northstar Team plan cost?</a:t>
            </a:r>
          </a:p>
        </p:txBody>
      </p:sp>
      <p:sp>
        <p:nvSpPr>
          <p:cNvPr id="9" name="text">
            <a:extLst xmlns:a="http://schemas.openxmlformats.org/drawingml/2006/main">
              <a:ext uri="{FF2B5EF4-FFF2-40B4-BE49-F238E27FC236}">
                <a16:creationId xmlns:a16="http://schemas.microsoft.com/office/drawing/2014/main" id="{445A4631-4FFD-4BFD-8CF0-4D98C93DE2F9}"/>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5A116018-78E4-458F-8F7C-4B4FBCA5A94D}"/>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Follow-up</a:t>
            </a:r>
          </a:p>
        </p:txBody>
      </p:sp>
      <p:sp>
        <p:nvSpPr>
          <p:cNvPr id="11" name="text">
            <a:extLst xmlns:a="http://schemas.openxmlformats.org/drawingml/2006/main">
              <a:ext uri="{FF2B5EF4-FFF2-40B4-BE49-F238E27FC236}">
                <a16:creationId xmlns:a16="http://schemas.microsoft.com/office/drawing/2014/main" id="{19DE2C61-111C-4692-B687-1E80E68D6CD4}"/>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What about its retention?</a:t>
            </a:r>
          </a:p>
        </p:txBody>
      </p:sp>
      <p:sp>
        <p:nvSpPr>
          <p:cNvPr id="12" name="text">
            <a:extLst xmlns:a="http://schemas.openxmlformats.org/drawingml/2006/main">
              <a:ext uri="{FF2B5EF4-FFF2-40B4-BE49-F238E27FC236}">
                <a16:creationId xmlns:a16="http://schemas.microsoft.com/office/drawing/2014/main" id="{D634D129-A53A-4DC0-9B56-56A4B3F2171C}"/>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928510D7-6A3B-4A72-B7BB-C99A54BE865E}"/>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Inspect together</a:t>
            </a:r>
          </a:p>
        </p:txBody>
      </p:sp>
      <p:sp>
        <p:nvSpPr>
          <p:cNvPr id="14" name="text">
            <a:extLst xmlns:a="http://schemas.openxmlformats.org/drawingml/2006/main">
              <a:ext uri="{FF2B5EF4-FFF2-40B4-BE49-F238E27FC236}">
                <a16:creationId xmlns:a16="http://schemas.microsoft.com/office/drawing/2014/main" id="{277C57DD-E13D-45A6-8FBF-A5B697861B74}"/>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Display original wording, standalone query, rewrite status, hits, and cited answer.</a:t>
            </a:r>
          </a:p>
        </p:txBody>
      </p:sp>
      <p:sp>
        <p:nvSpPr>
          <p:cNvPr id="15" name="text">
            <a:extLst xmlns:a="http://schemas.openxmlformats.org/drawingml/2006/main">
              <a:ext uri="{FF2B5EF4-FFF2-40B4-BE49-F238E27FC236}">
                <a16:creationId xmlns:a16="http://schemas.microsoft.com/office/drawing/2014/main" id="{103EE96C-1A9F-40CE-B4C0-A619648FE266}"/>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C48F70FC-87EE-4564-AA7D-9855389B7EF9}"/>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Budget</a:t>
            </a:r>
          </a:p>
        </p:txBody>
      </p:sp>
      <p:sp>
        <p:nvSpPr>
          <p:cNvPr id="17" name="text">
            <a:extLst xmlns:a="http://schemas.openxmlformats.org/drawingml/2006/main">
              <a:ext uri="{FF2B5EF4-FFF2-40B4-BE49-F238E27FC236}">
                <a16:creationId xmlns:a16="http://schemas.microsoft.com/office/drawing/2014/main" id="{7625C05E-75B7-4ED5-AB0C-AC2E50E6BED9}"/>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The normal two-turn demo uses at most 3 small Claude requests.</a:t>
            </a:r>
          </a:p>
        </p:txBody>
      </p:sp>
    </p:spTree>
    <p:extLst>
      <p:ext uri="{BB962C8B-B14F-4D97-AF65-F5344CB8AC3E}">
        <p14:creationId xmlns:p14="http://schemas.microsoft.com/office/powerpoint/2010/main" val="871150451"/>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2BDD5F90-1637-4BD2-8652-0FA9B0236872}"/>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08</a:t>
            </a:r>
          </a:p>
        </p:txBody>
      </p:sp>
      <p:sp>
        <p:nvSpPr>
          <p:cNvPr id="2" name="slide-title">
            <a:extLst xmlns:a="http://schemas.openxmlformats.org/drawingml/2006/main">
              <a:ext uri="{FF2B5EF4-FFF2-40B4-BE49-F238E27FC236}">
                <a16:creationId xmlns:a16="http://schemas.microsoft.com/office/drawing/2014/main" id="{54AAF211-3920-4635-8915-7A68CBBF56E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Reset is part of the conversation contract</a:t>
            </a:r>
          </a:p>
        </p:txBody>
      </p:sp>
      <p:sp>
        <p:nvSpPr>
          <p:cNvPr id="3" name="lead">
            <a:extLst xmlns:a="http://schemas.openxmlformats.org/drawingml/2006/main">
              <a:ext uri="{FF2B5EF4-FFF2-40B4-BE49-F238E27FC236}">
                <a16:creationId xmlns:a16="http://schemas.microsoft.com/office/drawing/2014/main" id="{68F0C9B0-C40F-42C5-85A8-6F2CD657436C}"/>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new topic should start without borrowing subjects from an old discussion.</a:t>
            </a:r>
          </a:p>
        </p:txBody>
      </p:sp>
      <p:sp>
        <p:nvSpPr>
          <p:cNvPr id="4" name="text">
            <a:extLst xmlns:a="http://schemas.openxmlformats.org/drawingml/2006/main">
              <a:ext uri="{FF2B5EF4-FFF2-40B4-BE49-F238E27FC236}">
                <a16:creationId xmlns:a16="http://schemas.microsoft.com/office/drawing/2014/main" id="{723720CC-D79D-4586-9783-A45EFE1D3892}"/>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5DA76443-7E20-4380-8C60-3325911DA08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B5D3724D-0DEB-4B43-8F3F-7EBF1F1D9CB1}"/>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Explicit reset</a:t>
            </a:r>
          </a:p>
        </p:txBody>
      </p:sp>
      <p:sp>
        <p:nvSpPr>
          <p:cNvPr id="7" name="text">
            <a:extLst xmlns:a="http://schemas.openxmlformats.org/drawingml/2006/main">
              <a:ext uri="{FF2B5EF4-FFF2-40B4-BE49-F238E27FC236}">
                <a16:creationId xmlns:a16="http://schemas.microsoft.com/office/drawing/2014/main" id="{F6807D98-48F7-4F01-81E4-49EBF5FDDE9B}"/>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reset_conversation() clears the in-memory deque.</a:t>
            </a:r>
          </a:p>
        </p:txBody>
      </p:sp>
      <p:sp>
        <p:nvSpPr>
          <p:cNvPr id="8" name="text">
            <a:extLst xmlns:a="http://schemas.openxmlformats.org/drawingml/2006/main">
              <a:ext uri="{FF2B5EF4-FFF2-40B4-BE49-F238E27FC236}">
                <a16:creationId xmlns:a16="http://schemas.microsoft.com/office/drawing/2014/main" id="{8A2F7363-2667-41C3-BFE2-21215D75CD47}"/>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First query after reset</a:t>
            </a:r>
          </a:p>
        </p:txBody>
      </p:sp>
      <p:sp>
        <p:nvSpPr>
          <p:cNvPr id="9" name="text">
            <a:extLst xmlns:a="http://schemas.openxmlformats.org/drawingml/2006/main">
              <a:ext uri="{FF2B5EF4-FFF2-40B4-BE49-F238E27FC236}">
                <a16:creationId xmlns:a16="http://schemas.microsoft.com/office/drawing/2014/main" id="{9380547B-FDD2-4914-83C3-00F2A6F3B265}"/>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With no history, the rewrite status is already_standalone.</a:t>
            </a:r>
          </a:p>
        </p:txBody>
      </p:sp>
      <p:sp>
        <p:nvSpPr>
          <p:cNvPr id="10" name="text">
            <a:extLst xmlns:a="http://schemas.openxmlformats.org/drawingml/2006/main">
              <a:ext uri="{FF2B5EF4-FFF2-40B4-BE49-F238E27FC236}">
                <a16:creationId xmlns:a16="http://schemas.microsoft.com/office/drawing/2014/main" id="{448D7103-9666-49A2-AFA0-338F11E89EC5}"/>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Local state check</a:t>
            </a:r>
          </a:p>
        </p:txBody>
      </p:sp>
      <p:sp>
        <p:nvSpPr>
          <p:cNvPr id="11" name="text">
            <a:extLst xmlns:a="http://schemas.openxmlformats.org/drawingml/2006/main">
              <a:ext uri="{FF2B5EF4-FFF2-40B4-BE49-F238E27FC236}">
                <a16:creationId xmlns:a16="http://schemas.microsoft.com/office/drawing/2014/main" id="{72493A25-FC51-4F2D-8301-811217162CA3}"/>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Five authored placeholder turns leave only the latest 3 in the deque.</a:t>
            </a:r>
          </a:p>
        </p:txBody>
      </p:sp>
      <p:sp>
        <p:nvSpPr>
          <p:cNvPr id="12" name="text">
            <a:extLst xmlns:a="http://schemas.openxmlformats.org/drawingml/2006/main">
              <a:ext uri="{FF2B5EF4-FFF2-40B4-BE49-F238E27FC236}">
                <a16:creationId xmlns:a16="http://schemas.microsoft.com/office/drawing/2014/main" id="{11AB6AF3-3071-4182-A60D-D3D56E01B71F}"/>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Honest labels</a:t>
            </a:r>
          </a:p>
        </p:txBody>
      </p:sp>
      <p:sp>
        <p:nvSpPr>
          <p:cNvPr id="13" name="text">
            <a:extLst xmlns:a="http://schemas.openxmlformats.org/drawingml/2006/main">
              <a:ext uri="{FF2B5EF4-FFF2-40B4-BE49-F238E27FC236}">
                <a16:creationId xmlns:a16="http://schemas.microsoft.com/office/drawing/2014/main" id="{3E692BB1-BF5E-4AB1-8C86-D5A9234C488C}"/>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Placeholder state checks are not Claude traces or quality measurements.</a:t>
            </a:r>
          </a:p>
        </p:txBody>
      </p:sp>
    </p:spTree>
    <p:extLst>
      <p:ext uri="{BB962C8B-B14F-4D97-AF65-F5344CB8AC3E}">
        <p14:creationId xmlns:p14="http://schemas.microsoft.com/office/powerpoint/2010/main" val="1052218297"/>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D7B421CF-010B-479A-9A64-B6A14CE31C47}"/>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08</a:t>
            </a:r>
          </a:p>
        </p:txBody>
      </p:sp>
      <p:sp>
        <p:nvSpPr>
          <p:cNvPr id="2" name="slide-title">
            <a:extLst xmlns:a="http://schemas.openxmlformats.org/drawingml/2006/main">
              <a:ext uri="{FF2B5EF4-FFF2-40B4-BE49-F238E27FC236}">
                <a16:creationId xmlns:a16="http://schemas.microsoft.com/office/drawing/2014/main" id="{8C481F70-567D-43E1-A0B3-D18C30A02E25}"/>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Exercise: switch topics deliberately</a:t>
            </a:r>
          </a:p>
        </p:txBody>
      </p:sp>
      <p:sp>
        <p:nvSpPr>
          <p:cNvPr id="3" name="lead">
            <a:extLst xmlns:a="http://schemas.openxmlformats.org/drawingml/2006/main">
              <a:ext uri="{FF2B5EF4-FFF2-40B4-BE49-F238E27FC236}">
                <a16:creationId xmlns:a16="http://schemas.microsoft.com/office/drawing/2014/main" id="{1BAA31D9-FF08-4568-8399-6F9255F8DE34}"/>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Reset a plan discussion, then retrieve an unrelated leave policy.</a:t>
            </a:r>
          </a:p>
        </p:txBody>
      </p:sp>
      <p:sp>
        <p:nvSpPr>
          <p:cNvPr id="4" name="text">
            <a:extLst xmlns:a="http://schemas.openxmlformats.org/drawingml/2006/main">
              <a:ext uri="{FF2B5EF4-FFF2-40B4-BE49-F238E27FC236}">
                <a16:creationId xmlns:a16="http://schemas.microsoft.com/office/drawing/2014/main" id="{3BA60BDF-8E41-47E8-AEDB-FF20797CC095}"/>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08  /  Conversational RAG</a:t>
            </a:r>
          </a:p>
        </p:txBody>
      </p:sp>
      <p:sp>
        <p:nvSpPr>
          <p:cNvPr id="5" name="page-number">
            <a:extLst xmlns:a="http://schemas.openxmlformats.org/drawingml/2006/main">
              <a:ext uri="{FF2B5EF4-FFF2-40B4-BE49-F238E27FC236}">
                <a16:creationId xmlns:a16="http://schemas.microsoft.com/office/drawing/2014/main" id="{16F5078D-2F1A-4288-98F6-D688727B250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40284E9F-C734-423F-B9DD-9E06B55506A2}"/>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Try</a:t>
            </a:r>
          </a:p>
        </p:txBody>
      </p:sp>
      <p:sp>
        <p:nvSpPr>
          <p:cNvPr id="7" name="text">
            <a:extLst xmlns:a="http://schemas.openxmlformats.org/drawingml/2006/main">
              <a:ext uri="{FF2B5EF4-FFF2-40B4-BE49-F238E27FC236}">
                <a16:creationId xmlns:a16="http://schemas.microsoft.com/office/drawing/2014/main" id="{C71B913A-6484-481D-853C-1BEBDD032366}"/>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Discuss Team retention, call reset_conversation(), then ask about leave carryover.</a:t>
            </a:r>
          </a:p>
        </p:txBody>
      </p:sp>
      <p:sp>
        <p:nvSpPr>
          <p:cNvPr id="8" name="text">
            <a:extLst xmlns:a="http://schemas.openxmlformats.org/drawingml/2006/main">
              <a:ext uri="{FF2B5EF4-FFF2-40B4-BE49-F238E27FC236}">
                <a16:creationId xmlns:a16="http://schemas.microsoft.com/office/drawing/2014/main" id="{14C18E98-0E52-4434-8208-9D5AB307C680}"/>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Complete new question</a:t>
            </a:r>
          </a:p>
        </p:txBody>
      </p:sp>
      <p:sp>
        <p:nvSpPr>
          <p:cNvPr id="9" name="text">
            <a:extLst xmlns:a="http://schemas.openxmlformats.org/drawingml/2006/main">
              <a:ext uri="{FF2B5EF4-FFF2-40B4-BE49-F238E27FC236}">
                <a16:creationId xmlns:a16="http://schemas.microsoft.com/office/drawing/2014/main" id="{1E2CB6EC-A1D2-4C01-805D-7FA73406A8C0}"/>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How many annual leave days can I carry over, and when do they expire?</a:t>
            </a:r>
          </a:p>
        </p:txBody>
      </p:sp>
      <p:sp>
        <p:nvSpPr>
          <p:cNvPr id="10" name="text">
            <a:extLst xmlns:a="http://schemas.openxmlformats.org/drawingml/2006/main">
              <a:ext uri="{FF2B5EF4-FFF2-40B4-BE49-F238E27FC236}">
                <a16:creationId xmlns:a16="http://schemas.microsoft.com/office/drawing/2014/main" id="{5BE07395-BF89-476A-8544-4C5B5E02E69B}"/>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observation</a:t>
            </a:r>
          </a:p>
        </p:txBody>
      </p:sp>
      <p:sp>
        <p:nvSpPr>
          <p:cNvPr id="11" name="text">
            <a:extLst xmlns:a="http://schemas.openxmlformats.org/drawingml/2006/main">
              <a:ext uri="{FF2B5EF4-FFF2-40B4-BE49-F238E27FC236}">
                <a16:creationId xmlns:a16="http://schemas.microsoft.com/office/drawing/2014/main" id="{F00CEBE4-27C6-45FD-877A-223F0FED491A}"/>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query is already_standalone and should retrieve benefits_leave.</a:t>
            </a:r>
          </a:p>
        </p:txBody>
      </p:sp>
      <p:sp>
        <p:nvSpPr>
          <p:cNvPr id="12" name="text">
            <a:extLst xmlns:a="http://schemas.openxmlformats.org/drawingml/2006/main">
              <a:ext uri="{FF2B5EF4-FFF2-40B4-BE49-F238E27FC236}">
                <a16:creationId xmlns:a16="http://schemas.microsoft.com/office/drawing/2014/main" id="{7AAF4D8D-5235-41A9-9765-1A86C7FF5BF9}"/>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corpus facts</a:t>
            </a:r>
          </a:p>
        </p:txBody>
      </p:sp>
      <p:sp>
        <p:nvSpPr>
          <p:cNvPr id="13" name="text">
            <a:extLst xmlns:a="http://schemas.openxmlformats.org/drawingml/2006/main">
              <a:ext uri="{FF2B5EF4-FFF2-40B4-BE49-F238E27FC236}">
                <a16:creationId xmlns:a16="http://schemas.microsoft.com/office/drawing/2014/main" id="{EA7C7157-635E-4694-B3EA-7CE095C3E7F3}"/>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Up to 5 days may carry over; they must be used by March 31.</a:t>
            </a:r>
          </a:p>
        </p:txBody>
      </p:sp>
    </p:spTree>
    <p:extLst>
      <p:ext uri="{BB962C8B-B14F-4D97-AF65-F5344CB8AC3E}">
        <p14:creationId xmlns:p14="http://schemas.microsoft.com/office/powerpoint/2010/main" val="17606832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2026-10-11T09:48:38.9330000Z</dcterms:created>
  <dcterms:modified xsi:type="dcterms:W3CDTF">2026-10-11T09:48:38.9330000Z</dcterms:modified>
</coreProperties>
</file>