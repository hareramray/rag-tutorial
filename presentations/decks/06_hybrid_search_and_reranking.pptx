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4bc6b091894233" /><Relationship Type="http://schemas.openxmlformats.org/officeDocument/2006/relationships/extended-properties" Target="/docProps/app.xml" Id="R8e055867f79b431d" /><Relationship Type="http://schemas.openxmlformats.org/officeDocument/2006/relationships/officeDocument" Target="/ppt/presentation.xml" Id="Rc2d133918d704554" /></Relationships>
</file>

<file path=ppt/presentation.xml><?xml version="1.0" encoding="utf-8"?>
<p:presentation xmlns:p="http://schemas.openxmlformats.org/presentationml/2006/main">
  <p:sldMasterIdLst>
    <p:sldMasterId xmlns:r="http://schemas.openxmlformats.org/officeDocument/2006/relationships" id="2147483648" r:id="Rb68124e9bd9f41b1"/>
  </p:sldMasterIdLst>
  <p:notesMasterIdLst>
    <p:notesMasterId xmlns:r="http://schemas.openxmlformats.org/officeDocument/2006/relationships" r:id="R507ca559647f48a4"/>
  </p:notesMasterIdLst>
  <p:sldIdLst>
    <p:sldId xmlns:r="http://schemas.openxmlformats.org/officeDocument/2006/relationships" id="256" r:id="R5b38534c3a8e4234"/>
    <p:sldId xmlns:r="http://schemas.openxmlformats.org/officeDocument/2006/relationships" id="257" r:id="R4b714a861c6b400f"/>
    <p:sldId xmlns:r="http://schemas.openxmlformats.org/officeDocument/2006/relationships" id="258" r:id="R1e9b5a2d7e37478b"/>
    <p:sldId xmlns:r="http://schemas.openxmlformats.org/officeDocument/2006/relationships" id="259" r:id="R485b0c2ea0cd4b0b"/>
    <p:sldId xmlns:r="http://schemas.openxmlformats.org/officeDocument/2006/relationships" id="260" r:id="Rc2935e1ee4e64a04"/>
    <p:sldId xmlns:r="http://schemas.openxmlformats.org/officeDocument/2006/relationships" id="261" r:id="R63462e6d8ff64097"/>
    <p:sldId xmlns:r="http://schemas.openxmlformats.org/officeDocument/2006/relationships" id="262" r:id="Rf481ae3361114c71"/>
    <p:sldId xmlns:r="http://schemas.openxmlformats.org/officeDocument/2006/relationships" id="263" r:id="R8261f908ad234aac"/>
    <p:sldId xmlns:r="http://schemas.openxmlformats.org/officeDocument/2006/relationships" id="264" r:id="Rc935b5a1c2e549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7f0b878f72467d" /><Relationship Type="http://schemas.openxmlformats.org/officeDocument/2006/relationships/slideMaster" Target="/ppt/slideMasters/slideMaster1.xml" Id="Rb68124e9bd9f41b1" /><Relationship Type="http://schemas.openxmlformats.org/officeDocument/2006/relationships/notesMaster" Target="/ppt/notesMasters/notesMaster1.xml" Id="R507ca559647f48a4" /><Relationship Type="http://schemas.openxmlformats.org/officeDocument/2006/relationships/presProps" Target="/ppt/presProps.xml" Id="R4e50f56623e64e94" /><Relationship Type="http://schemas.openxmlformats.org/officeDocument/2006/relationships/tableStyles" Target="/ppt/tableStyles.xml" Id="Raaf965b2e0a34fde" /><Relationship Type="http://schemas.openxmlformats.org/officeDocument/2006/relationships/slide" Target="/ppt/slides/slide1.xml" Id="R5b38534c3a8e4234" /><Relationship Type="http://schemas.openxmlformats.org/officeDocument/2006/relationships/slide" Target="/ppt/slides/slide2.xml" Id="R4b714a861c6b400f" /><Relationship Type="http://schemas.openxmlformats.org/officeDocument/2006/relationships/slide" Target="/ppt/slides/slide3.xml" Id="R1e9b5a2d7e37478b" /><Relationship Type="http://schemas.openxmlformats.org/officeDocument/2006/relationships/slide" Target="/ppt/slides/slide4.xml" Id="R485b0c2ea0cd4b0b" /><Relationship Type="http://schemas.openxmlformats.org/officeDocument/2006/relationships/slide" Target="/ppt/slides/slide5.xml" Id="Rc2935e1ee4e64a04" /><Relationship Type="http://schemas.openxmlformats.org/officeDocument/2006/relationships/slide" Target="/ppt/slides/slide6.xml" Id="R63462e6d8ff64097" /><Relationship Type="http://schemas.openxmlformats.org/officeDocument/2006/relationships/slide" Target="/ppt/slides/slide7.xml" Id="Rf481ae3361114c71" /><Relationship Type="http://schemas.openxmlformats.org/officeDocument/2006/relationships/slide" Target="/ppt/slides/slide8.xml" Id="R8261f908ad234aac" /><Relationship Type="http://schemas.openxmlformats.org/officeDocument/2006/relationships/slide" Target="/ppt/slides/slide9.xml" Id="Rc935b5a1c2e549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c4c0b24e654f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b42807877444d7" /><Relationship Type="http://schemas.openxmlformats.org/officeDocument/2006/relationships/notesMaster" Target="/ppt/notesMasters/notesMaster1.xml" Id="Rc545ff02404643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043d2f41ea4d7d" /><Relationship Type="http://schemas.openxmlformats.org/officeDocument/2006/relationships/notesMaster" Target="/ppt/notesMasters/notesMaster1.xml" Id="Rb9cdd7ec3e234a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475a4024084568" /><Relationship Type="http://schemas.openxmlformats.org/officeDocument/2006/relationships/notesMaster" Target="/ppt/notesMasters/notesMaster1.xml" Id="R9169cbf490fa4d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b666c008b147ef" /><Relationship Type="http://schemas.openxmlformats.org/officeDocument/2006/relationships/notesMaster" Target="/ppt/notesMasters/notesMaster1.xml" Id="R742f6072d16847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60795cc3394151" /><Relationship Type="http://schemas.openxmlformats.org/officeDocument/2006/relationships/notesMaster" Target="/ppt/notesMasters/notesMaster1.xml" Id="Rc00687d6e05f45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12882633924c00" /><Relationship Type="http://schemas.openxmlformats.org/officeDocument/2006/relationships/notesMaster" Target="/ppt/notesMasters/notesMaster1.xml" Id="R8dc2f9bb06884c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f8ae6582364b90" /><Relationship Type="http://schemas.openxmlformats.org/officeDocument/2006/relationships/notesMaster" Target="/ppt/notesMasters/notesMaster1.xml" Id="Rbde72158a8c24d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0cac5d7f4a4611" /><Relationship Type="http://schemas.openxmlformats.org/officeDocument/2006/relationships/notesMaster" Target="/ppt/notesMasters/notesMaster1.xml" Id="R5c06677c30cf40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cd46a3625843d7" /><Relationship Type="http://schemas.openxmlformats.org/officeDocument/2006/relationships/notesMaster" Target="/ppt/notesMasters/notesMaster1.xml" Id="Rbd8090be0f8640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notebooks/06_hybrid_search_and_reranking.ipynb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notebooks/06_hybrid_search_and_reranking.ipynb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query on the slide. Ask learners which words look like precise identifiers and which describe an intent. HTTP 429 and Team are good lexical anchors; a paraphrase can share little vocabulary with the source. Run Step 1 and inspect both lists before discussing which looks better. Keep the same corpus and chunk boundaries so only the retriever changes. The live vector branch uses a learned model; the offline branch uses explicitly labeled lexical vectors. Neither result establishes a universal winner. Notebook reference: notebooks/06_hybrid_search_and_reranking.ipynb, Step 1.</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 1</a:t>
            </a:r>
          </a:p>
          <a:p xmlns:a="http://schemas.openxmlformats.org/drawingml/2006/main">
            <a:r>
              <a:t>https://www.sbert.net/examples/sentence_transformer/applications/retrieve_rerank/README.html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two fractions before showing the implementation. BM25 scores and cosine similarities have different scales, so adding their raw values would give one branch an arbitrary advantage. RRF uses ordering instead. Walk through explain_rrf: deduplicate IDs within each list, accumulate a contribution, then sort totals. An item absent from a ranking contributes nothing from that list. The fused score is a heuristic, not a probability of correctness. Invite learners to calculate the rank-two contribution, then compare it with rank one. Notebook reference: notebooks/06_hybrid_search_and_reranking.ipynb, Step 2.</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 2</a:t>
            </a:r>
          </a:p>
          <a:p xmlns:a="http://schemas.openxmlformats.org/drawingml/2006/main">
            <a:r>
              <a:t>https://cormack.uwaterloo.ca/cormacksigir09-rrf.pdf</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one chunk ID through the tables rather than jumping directly to the generated answer. The first retrieval stage aims to place useful evidence somewhere in the candidate pool. The cross-encoder then spends more computation comparing each query-passage pair. It cannot invent a missing source or recover a document excluded before this stage. Contrast six candidates with three final context passages: these are separate budgets with separate effects. Expanding the first may improve recall; expanding the second also increases prompt content and possible distraction. Notebook reference: notebooks/06_hybrid_search_and_reranking.ipynb, Steps 3-6.</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Steps 3-6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computational tradeoff using the same six passages. A document embedding can be reused for many queries; the cross-encoder sees a different pair for every query, so the notebook uses it after candidate retrieval. Show the actual CrossEncoder construction and list of question-passage tuples. The timing excludes model loading and is not a production benchmark. The first live run downloads model weights. Offline execution skips this stage entirely, which must be visible when teaching; it does not produce substitute neural scores. Notebook reference: notebooks/06_hybrid_search_and_reranking.ipynb, Step 4.</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 4</a:t>
            </a:r>
          </a:p>
          <a:p xmlns:a="http://schemas.openxmlformats.org/drawingml/2006/main">
            <a:r>
              <a:t>https://huggingface.co/cross-encoder/ms-marco-MiniLM-L-6-v2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rank table and source-coverage cells before generation. Ask learners to locate the passage containing the exact limit and the retry instruction, then predict whether the selected context can answer the full question. A source ID in the top three is useful evidence of coverage, but the particular chunk may still omit a needed qualification. The final model should cite the retrieved chunk IDs. Avoid equating a polished answer with success or announcing a reranker win from a single example; inspect the changed evidence first. Notebook reference: notebooks/06_hybrid_search_and_reranking.ipynb, Steps 5-7.</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Steps 5-7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normally makes one Claude answer request in live mode, subject to the workshop helper cache. Local embedding and reranking model downloads occur on the first live run. Keep the model backend label visible. With RAG_OFFLINE enabled, demonstrate BM25 and lexical-vector fusion, then explain that neural reranking and generation were skipped. For the wording probes, report the expected source rank for each method rather than claiming a hidden answer-quality score. Ask the audience to predict a ranking before revealing the next table. Notebook reference: notebooks/06_hybrid_search_and_reranking.ipynb, Steps 1-7.</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Steps 1-7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API document's actual department metadata for the filter, as the notebook does. A common implementation mistake is filtering only the vector branch and then fusing it with unrestricted lexical results. Walk through the assertion that every fused result satisfies the same filter. This demonstrates consistent selection; a real authorization policy still needs a trusted identity layer. Then vary candidate count without changing final context size. Emphasize that retrieval quality, runtime cost, and evidence eligibility are different properties that require separate checks. Notebook reference: notebooks/06_hybrid_search_and_reranking.ipynb, Step 8 and What you can now demonstrate.</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Step 8 and What you can now demonstrate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learners use the sample solution rather than assert that the smaller damping constant must improve retrieval. The input rankings remain fixed, so any movement comes from how RRF values agreement and rank position. If the top three do not change, that is a valid observation. Ask for a concrete query where one branch is better, and verify it against the expected source. Close by separating three decisions: which retrievers generate candidates, how candidates are reordered, and how much evidence is ultimately sent to the answer model. Notebook reference: notebooks/06_hybrid_search_and_reranking.ipynb, Your turn and sample solution.</a:t>
            </a:r>
          </a:p>
          <a:p xmlns:a="http://schemas.openxmlformats.org/drawingml/2006/main">
            <a:r>
              <a:t/>
            </a:r>
          </a:p>
          <a:p xmlns:a="http://schemas.openxmlformats.org/drawingml/2006/main">
            <a:r>
              <a:t>NOTEBOOK: notebooks/06_hybrid_search_and_reranking.ipynb</a:t>
            </a:r>
          </a:p>
          <a:p xmlns:a="http://schemas.openxmlformats.org/drawingml/2006/main">
            <a:r>
              <a:t/>
            </a:r>
          </a:p>
          <a:p xmlns:a="http://schemas.openxmlformats.org/drawingml/2006/main">
            <a:r>
              <a:t>SOURCES</a:t>
            </a:r>
          </a:p>
          <a:p xmlns:a="http://schemas.openxmlformats.org/drawingml/2006/main">
            <a:r>
              <a:t>notebooks/06_hybrid_search_and_reranking.ipynb - Your turn and sample solution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a166a5676041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e19048a07a46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4b9d9d16704a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7ab6c8703147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6ff838698741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4a8448b2744a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92C1C9-93D1-4BFC-8FCC-F32734ADB8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9BAD79-DF34-4776-BF8E-332BA131F1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43B1AB-4A0A-4060-AB31-D79A203B9D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624148-C7D4-428C-A1AA-A54E3B6579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8F03E4-0E58-4D7D-9BCF-FCB57B114C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E865BA-2679-44FE-90E4-2EEFA85B47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CCF947-42D7-42A1-B8C8-4B81981ACC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F3644E-CF9F-4223-8A34-CFF7A91B5D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2B6927-CBE7-4F76-8791-FD99704B15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C41F55-131A-4EAB-A7CF-3B30DFD7E2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30ee823ee84b48" /><Relationship Type="http://schemas.openxmlformats.org/officeDocument/2006/relationships/slideLayout" Target="/ppt/slideLayouts/slideLayout1.xml" Id="R8407193bd5364cfe" /><Relationship Type="http://schemas.openxmlformats.org/officeDocument/2006/relationships/slideLayout" Target="/ppt/slideLayouts/slideLayout2.xml" Id="R95c7304924ef4c5a" /><Relationship Type="http://schemas.openxmlformats.org/officeDocument/2006/relationships/slideLayout" Target="/ppt/slideLayouts/slideLayout3.xml" Id="R375c7411f0e94974" /><Relationship Type="http://schemas.openxmlformats.org/officeDocument/2006/relationships/slideLayout" Target="/ppt/slideLayouts/slideLayout4.xml" Id="R100703c77f47492d" /><Relationship Type="http://schemas.openxmlformats.org/officeDocument/2006/relationships/slideLayout" Target="/ppt/slideLayouts/slideLayout5.xml" Id="R01972d6cb11343e1" /><Relationship Type="http://schemas.openxmlformats.org/officeDocument/2006/relationships/slideLayout" Target="/ppt/slideLayouts/slideLayout6.xml" Id="R0eacb1f31bfe48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07193bd5364cfe"/>
    <p:sldLayoutId xmlns:r="http://schemas.openxmlformats.org/officeDocument/2006/relationships" id="2147483650" r:id="R95c7304924ef4c5a"/>
    <p:sldLayoutId xmlns:r="http://schemas.openxmlformats.org/officeDocument/2006/relationships" id="2147483651" r:id="R375c7411f0e94974"/>
    <p:sldLayoutId xmlns:r="http://schemas.openxmlformats.org/officeDocument/2006/relationships" id="2147483652" r:id="R100703c77f47492d"/>
    <p:sldLayoutId xmlns:r="http://schemas.openxmlformats.org/officeDocument/2006/relationships" id="2147483653" r:id="R01972d6cb11343e1"/>
    <p:sldLayoutId xmlns:r="http://schemas.openxmlformats.org/officeDocument/2006/relationships" id="2147483654" r:id="R0eacb1f31bfe48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3138d57b16409b" /><Relationship Type="http://schemas.openxmlformats.org/officeDocument/2006/relationships/image" Target="/ppt/media/image.png" Id="R9b138c415aa04a70" /><Relationship Type="http://schemas.openxmlformats.org/officeDocument/2006/relationships/notesSlide" Target="/ppt/notesSlides/notesSlide1.xml" Id="R16f20d5c06fd4b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e0c97bdade4900" /><Relationship Type="http://schemas.openxmlformats.org/officeDocument/2006/relationships/notesSlide" Target="/ppt/notesSlides/notesSlide2.xml" Id="Rf667d7173d5c4f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db6bf150cc4cf3" /><Relationship Type="http://schemas.openxmlformats.org/officeDocument/2006/relationships/notesSlide" Target="/ppt/notesSlides/notesSlide3.xml" Id="Re65055d3fdc84d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84a2393c6b4fc8" /><Relationship Type="http://schemas.openxmlformats.org/officeDocument/2006/relationships/notesSlide" Target="/ppt/notesSlides/notesSlide4.xml" Id="R1540d62f365940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ba99a9079546d7" /><Relationship Type="http://schemas.openxmlformats.org/officeDocument/2006/relationships/notesSlide" Target="/ppt/notesSlides/notesSlide5.xml" Id="Rbab6b41bb0bf41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3e06af31ca4f2e" /><Relationship Type="http://schemas.openxmlformats.org/officeDocument/2006/relationships/notesSlide" Target="/ppt/notesSlides/notesSlide6.xml" Id="Rd5061945dba74b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e7f6df3edc439b" /><Relationship Type="http://schemas.openxmlformats.org/officeDocument/2006/relationships/notesSlide" Target="/ppt/notesSlides/notesSlide7.xml" Id="R9c61cbd7759045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faa03e30e24e1e" /><Relationship Type="http://schemas.openxmlformats.org/officeDocument/2006/relationships/notesSlide" Target="/ppt/notesSlides/notesSlide8.xml" Id="Ra2ca541e4f1c45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717c77bc944f73" /><Relationship Type="http://schemas.openxmlformats.org/officeDocument/2006/relationships/notesSlide" Target="/ppt/notesSlides/notesSlide9.xml" Id="R98e7149c5591479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EC09955-E925-4996-9379-A4CB2AF0F851}"/>
              </a:ext>
            </a:extLst>
          </p:cNvPr>
          <p:cNvPicPr>
            <a:picLocks xmlns:a="http://schemas.openxmlformats.org/drawingml/2006/main" noChangeAspect="1"/>
          </p:cNvPicPr>
          <p:nvPr/>
        </p:nvPicPr>
        <p:blipFill>
          <a:blip xmlns:r="http://schemas.openxmlformats.org/officeDocument/2006/relationships" xmlns:a="http://schemas.openxmlformats.org/drawingml/2006/main" r:embed="R9b138c415aa04a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25F26DA0-1E77-4661-91F4-53C5185394D2}"/>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06</a:t>
            </a:r>
          </a:p>
        </p:txBody>
      </p:sp>
      <p:sp>
        <p:nvSpPr>
          <p:cNvPr id="3" name="deck-title">
            <a:extLst xmlns:a="http://schemas.openxmlformats.org/drawingml/2006/main">
              <a:ext uri="{FF2B5EF4-FFF2-40B4-BE49-F238E27FC236}">
                <a16:creationId xmlns:a16="http://schemas.microsoft.com/office/drawing/2014/main" id="{461E4D0F-A09E-43AC-8608-46AC9190C28C}"/>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Hybrid search and reranking</a:t>
            </a:r>
          </a:p>
        </p:txBody>
      </p:sp>
      <p:sp>
        <p:nvSpPr>
          <p:cNvPr id="4" name="text">
            <a:extLst xmlns:a="http://schemas.openxmlformats.org/drawingml/2006/main">
              <a:ext uri="{FF2B5EF4-FFF2-40B4-BE49-F238E27FC236}">
                <a16:creationId xmlns:a16="http://schemas.microsoft.com/office/drawing/2014/main" id="{202DAFE9-E8E5-4CC0-B994-71EB872D5E24}"/>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Combine lexical and semantic retrieval, then inspect a local cross-encoder.</a:t>
            </a:r>
          </a:p>
        </p:txBody>
      </p:sp>
      <p:sp>
        <p:nvSpPr>
          <p:cNvPr id="5" name="text">
            <a:extLst xmlns:a="http://schemas.openxmlformats.org/drawingml/2006/main">
              <a:ext uri="{FF2B5EF4-FFF2-40B4-BE49-F238E27FC236}">
                <a16:creationId xmlns:a16="http://schemas.microsoft.com/office/drawing/2014/main" id="{22765691-D724-49C7-96C3-7C2C211B4956}"/>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06_hybrid_search_and_reranking.ipynb</a:t>
            </a:r>
          </a:p>
        </p:txBody>
      </p:sp>
    </p:spTree>
    <p:extLst>
      <p:ext uri="{BB962C8B-B14F-4D97-AF65-F5344CB8AC3E}">
        <p14:creationId xmlns:p14="http://schemas.microsoft.com/office/powerpoint/2010/main" val="1151691059"/>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6F54895-C151-4201-B0FB-A17759F3FD6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06</a:t>
            </a:r>
          </a:p>
        </p:txBody>
      </p:sp>
      <p:sp>
        <p:nvSpPr>
          <p:cNvPr id="2" name="slide-title">
            <a:extLst xmlns:a="http://schemas.openxmlformats.org/drawingml/2006/main">
              <a:ext uri="{FF2B5EF4-FFF2-40B4-BE49-F238E27FC236}">
                <a16:creationId xmlns:a16="http://schemas.microsoft.com/office/drawing/2014/main" id="{D1B35698-4BCE-4C5D-901A-A71020DBC6D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Two ways to find useful evidence</a:t>
            </a:r>
          </a:p>
        </p:txBody>
      </p:sp>
      <p:sp>
        <p:nvSpPr>
          <p:cNvPr id="3" name="lead">
            <a:extLst xmlns:a="http://schemas.openxmlformats.org/drawingml/2006/main">
              <a:ext uri="{FF2B5EF4-FFF2-40B4-BE49-F238E27FC236}">
                <a16:creationId xmlns:a16="http://schemas.microsoft.com/office/drawing/2014/main" id="{DCA7F7E7-D2F5-40A2-867F-A778E727BB7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Exact identifiers and paraphrases can favor different retrievers.</a:t>
            </a:r>
          </a:p>
        </p:txBody>
      </p:sp>
      <p:sp>
        <p:nvSpPr>
          <p:cNvPr id="4" name="text">
            <a:extLst xmlns:a="http://schemas.openxmlformats.org/drawingml/2006/main">
              <a:ext uri="{FF2B5EF4-FFF2-40B4-BE49-F238E27FC236}">
                <a16:creationId xmlns:a16="http://schemas.microsoft.com/office/drawing/2014/main" id="{B315FB78-EDE3-48E7-BA15-9CB18C97CDA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EB0CCE95-9800-47EE-BA4F-F73102E5591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3E2FEF15-60DB-4F20-85F6-276CEDDB09B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BM25</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Matches words; term frequency and document length affect the ranking.</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Dense retrieval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Compares learned query and document vectors, including some paraphrases.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Shared corpus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Both methods search the same 75-word chunks with 15-word overlap.</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Fair question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Team API gives HTTP 429. What limit applies and how should I retry?</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054058750"/>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00D8E25-A696-41C1-9D4B-F796A28E476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06</a:t>
            </a:r>
          </a:p>
        </p:txBody>
      </p:sp>
      <p:sp>
        <p:nvSpPr>
          <p:cNvPr id="2" name="slide-title">
            <a:extLst xmlns:a="http://schemas.openxmlformats.org/drawingml/2006/main">
              <a:ext uri="{FF2B5EF4-FFF2-40B4-BE49-F238E27FC236}">
                <a16:creationId xmlns:a16="http://schemas.microsoft.com/office/drawing/2014/main" id="{D403CFAD-637C-4F41-9D50-B2AFA460A7D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RRF combines positions, not raw scores</a:t>
            </a:r>
          </a:p>
        </p:txBody>
      </p:sp>
      <p:sp>
        <p:nvSpPr>
          <p:cNvPr id="3" name="lead">
            <a:extLst xmlns:a="http://schemas.openxmlformats.org/drawingml/2006/main">
              <a:ext uri="{FF2B5EF4-FFF2-40B4-BE49-F238E27FC236}">
                <a16:creationId xmlns:a16="http://schemas.microsoft.com/office/drawing/2014/main" id="{E958E7F7-A173-476F-A248-EC53F785EDF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Reciprocal rank fusion adds one contribution from each ranking that contains a chunk.</a:t>
            </a:r>
          </a:p>
        </p:txBody>
      </p:sp>
      <p:sp>
        <p:nvSpPr>
          <p:cNvPr id="4" name="text">
            <a:extLst xmlns:a="http://schemas.openxmlformats.org/drawingml/2006/main">
              <a:ext uri="{FF2B5EF4-FFF2-40B4-BE49-F238E27FC236}">
                <a16:creationId xmlns:a16="http://schemas.microsoft.com/office/drawing/2014/main" id="{A47FB3C3-84A1-4A52-A77F-BBA75E9283D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D3CD2AF6-61BB-47BD-9670-1D760DB00908}"/>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sp>
        <p:nvSpPr>
          <p:cNvPr id="6" name="text">
            <a:extLst xmlns:a="http://schemas.openxmlformats.org/drawingml/2006/main">
              <a:ext uri="{FF2B5EF4-FFF2-40B4-BE49-F238E27FC236}">
                <a16:creationId xmlns:a16="http://schemas.microsoft.com/office/drawing/2014/main" id="{E7141141-AE8B-414C-9FCE-36D05B4B44A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Formula</a:t>
            </a:r>
          </a:p>
        </p:txBody>
      </p:sp>
      <p:sp>
        <p:nvSpPr>
          <p:cNvPr id="7" name="text">
            <a:extLst xmlns:a="http://schemas.openxmlformats.org/drawingml/2006/main">
              <a:ext uri="{FF2B5EF4-FFF2-40B4-BE49-F238E27FC236}">
                <a16:creationId xmlns:a16="http://schemas.microsoft.com/office/drawing/2014/main" id="{EDF77F07-B708-47E6-AD09-79706930265C}"/>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RRF(chunk) = sum of 1 / (60 + rank), with ranks starting at 1.</a:t>
            </a:r>
          </a:p>
        </p:txBody>
      </p:sp>
      <p:sp>
        <p:nvSpPr>
          <p:cNvPr id="8" name="text">
            <a:extLst xmlns:a="http://schemas.openxmlformats.org/drawingml/2006/main">
              <a:ext uri="{FF2B5EF4-FFF2-40B4-BE49-F238E27FC236}">
                <a16:creationId xmlns:a16="http://schemas.microsoft.com/office/drawing/2014/main" id="{80284C73-29DE-4AC2-AF5D-534ABEDBE660}"/>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Rank 1 in one list</a:t>
            </a:r>
          </a:p>
        </p:txBody>
      </p:sp>
      <p:sp>
        <p:nvSpPr>
          <p:cNvPr id="9" name="text">
            <a:extLst xmlns:a="http://schemas.openxmlformats.org/drawingml/2006/main">
              <a:ext uri="{FF2B5EF4-FFF2-40B4-BE49-F238E27FC236}">
                <a16:creationId xmlns:a16="http://schemas.microsoft.com/office/drawing/2014/main" id="{FBE404A9-9FFE-493E-8346-BBBD85E7096B}"/>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1 / 61 = approximately 0.01639.</a:t>
            </a:r>
          </a:p>
        </p:txBody>
      </p:sp>
      <p:sp>
        <p:nvSpPr>
          <p:cNvPr id="10" name="text">
            <a:extLst xmlns:a="http://schemas.openxmlformats.org/drawingml/2006/main">
              <a:ext uri="{FF2B5EF4-FFF2-40B4-BE49-F238E27FC236}">
                <a16:creationId xmlns:a16="http://schemas.microsoft.com/office/drawing/2014/main" id="{4ABE0A2E-52DD-439D-93C2-2C36D0EBAAF3}"/>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Rank 1 in both lists</a:t>
            </a:r>
          </a:p>
        </p:txBody>
      </p:sp>
      <p:sp>
        <p:nvSpPr>
          <p:cNvPr id="11" name="text">
            <a:extLst xmlns:a="http://schemas.openxmlformats.org/drawingml/2006/main">
              <a:ext uri="{FF2B5EF4-FFF2-40B4-BE49-F238E27FC236}">
                <a16:creationId xmlns:a16="http://schemas.microsoft.com/office/drawing/2014/main" id="{972B0C22-625A-49D8-9CD6-1F18E8E4DEE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2 / 61 = approximately 0.03279; agreement accumulates support.</a:t>
            </a:r>
          </a:p>
        </p:txBody>
      </p:sp>
      <p:sp>
        <p:nvSpPr>
          <p:cNvPr id="12" name="text">
            <a:extLst xmlns:a="http://schemas.openxmlformats.org/drawingml/2006/main">
              <a:ext uri="{FF2B5EF4-FFF2-40B4-BE49-F238E27FC236}">
                <a16:creationId xmlns:a16="http://schemas.microsoft.com/office/drawing/2014/main" id="{A27D1BE1-AB31-414F-811B-74ABD44D5353}"/>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Two different controls</a:t>
            </a:r>
          </a:p>
        </p:txBody>
      </p:sp>
      <p:sp>
        <p:nvSpPr>
          <p:cNvPr id="13" name="text">
            <a:extLst xmlns:a="http://schemas.openxmlformats.org/drawingml/2006/main">
              <a:ext uri="{FF2B5EF4-FFF2-40B4-BE49-F238E27FC236}">
                <a16:creationId xmlns:a16="http://schemas.microsoft.com/office/drawing/2014/main" id="{0720657D-9D75-46DE-B363-180A86EDE9AE}"/>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rrf_k = 60 dampens rank differences; k = 6 caps the returned candidates.</a:t>
            </a:r>
          </a:p>
        </p:txBody>
      </p:sp>
    </p:spTree>
    <p:extLst>
      <p:ext uri="{BB962C8B-B14F-4D97-AF65-F5344CB8AC3E}">
        <p14:creationId xmlns:p14="http://schemas.microsoft.com/office/powerpoint/2010/main" val="1581085767"/>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68E4E96-FC64-4AFB-BB8B-33645715197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06</a:t>
            </a:r>
          </a:p>
        </p:txBody>
      </p:sp>
      <p:sp>
        <p:nvSpPr>
          <p:cNvPr id="2" name="slide-title">
            <a:extLst xmlns:a="http://schemas.openxmlformats.org/drawingml/2006/main">
              <a:ext uri="{FF2B5EF4-FFF2-40B4-BE49-F238E27FC236}">
                <a16:creationId xmlns:a16="http://schemas.microsoft.com/office/drawing/2014/main" id="{2F6EE39C-495E-43A7-B0A5-D8A0066D60D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Separate candidate recall from final context</a:t>
            </a:r>
          </a:p>
        </p:txBody>
      </p:sp>
      <p:sp>
        <p:nvSpPr>
          <p:cNvPr id="3" name="lead">
            <a:extLst xmlns:a="http://schemas.openxmlformats.org/drawingml/2006/main">
              <a:ext uri="{FF2B5EF4-FFF2-40B4-BE49-F238E27FC236}">
                <a16:creationId xmlns:a16="http://schemas.microsoft.com/office/drawing/2014/main" id="{75805B98-E92F-4636-A9E1-029EFA8F971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reranker can reorder only the evidence that reaches its candidate pool.</a:t>
            </a:r>
          </a:p>
        </p:txBody>
      </p:sp>
      <p:sp>
        <p:nvSpPr>
          <p:cNvPr id="4" name="text">
            <a:extLst xmlns:a="http://schemas.openxmlformats.org/drawingml/2006/main">
              <a:ext uri="{FF2B5EF4-FFF2-40B4-BE49-F238E27FC236}">
                <a16:creationId xmlns:a16="http://schemas.microsoft.com/office/drawing/2014/main" id="{BAF850EF-4726-4A37-9C55-CC58CCB1B60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329B08B0-7B64-4F14-B21F-BD8B94BD23D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82D5003C-3097-4FB8-A91A-4A037D68E21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BM25 top 6 plus vector top 6 create complementary candidate lists.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Fuse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RRF returns up to 6 chunk IDs for closer inspection.</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Rerank</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 cross-encoder scores the question with each candidate passage.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Generate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Send the top 3 selected passages to Claude with the original question.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42487517"/>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2F79E2B-B385-447C-A630-37DECB09768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06</a:t>
            </a:r>
          </a:p>
        </p:txBody>
      </p:sp>
      <p:sp>
        <p:nvSpPr>
          <p:cNvPr id="2" name="slide-title">
            <a:extLst xmlns:a="http://schemas.openxmlformats.org/drawingml/2006/main">
              <a:ext uri="{FF2B5EF4-FFF2-40B4-BE49-F238E27FC236}">
                <a16:creationId xmlns:a16="http://schemas.microsoft.com/office/drawing/2014/main" id="{43174F3B-9061-4978-9124-6F271993A8C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Bi-encoder versus cross-encoder</a:t>
            </a:r>
          </a:p>
        </p:txBody>
      </p:sp>
      <p:sp>
        <p:nvSpPr>
          <p:cNvPr id="3" name="lead">
            <a:extLst xmlns:a="http://schemas.openxmlformats.org/drawingml/2006/main">
              <a:ext uri="{FF2B5EF4-FFF2-40B4-BE49-F238E27FC236}">
                <a16:creationId xmlns:a16="http://schemas.microsoft.com/office/drawing/2014/main" id="{77400FAE-3F2D-4F10-8533-D208B930B69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Precompute document vectors for search; use joint query-passage scoring on a smaller pool.</a:t>
            </a:r>
          </a:p>
        </p:txBody>
      </p:sp>
      <p:sp>
        <p:nvSpPr>
          <p:cNvPr id="4" name="text">
            <a:extLst xmlns:a="http://schemas.openxmlformats.org/drawingml/2006/main">
              <a:ext uri="{FF2B5EF4-FFF2-40B4-BE49-F238E27FC236}">
                <a16:creationId xmlns:a16="http://schemas.microsoft.com/office/drawing/2014/main" id="{8911E582-6A83-4657-BF47-3233405250C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0119F7E3-EF42-48D2-BA56-907795EB008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EC8EABD8-387A-4453-8D07-A6D37E9F248A}"/>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Bi-encoder</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Encode documents independently, then compare a query vector with stored vectors.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Cross-encoder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Read the query and each passage together; score each pair at query time.</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Local model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cross-encoder/ms-marco-MiniLM-L-6-v2 runs on the workshop machine.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Interpretation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Raw pair scores order candidates; they are not calibrated answer probabilities.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56096177"/>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7DC1582-B765-483E-937E-C1DD85C87AF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06</a:t>
            </a:r>
          </a:p>
        </p:txBody>
      </p:sp>
      <p:sp>
        <p:nvSpPr>
          <p:cNvPr id="2" name="slide-title">
            <a:extLst xmlns:a="http://schemas.openxmlformats.org/drawingml/2006/main">
              <a:ext uri="{FF2B5EF4-FFF2-40B4-BE49-F238E27FC236}">
                <a16:creationId xmlns:a16="http://schemas.microsoft.com/office/drawing/2014/main" id="{BB191FFF-80EB-45F4-BABE-02AE7EF9BBC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Judge coverage before fluent answers</a:t>
            </a:r>
          </a:p>
        </p:txBody>
      </p:sp>
      <p:sp>
        <p:nvSpPr>
          <p:cNvPr id="3" name="lead">
            <a:extLst xmlns:a="http://schemas.openxmlformats.org/drawingml/2006/main">
              <a:ext uri="{FF2B5EF4-FFF2-40B4-BE49-F238E27FC236}">
                <a16:creationId xmlns:a16="http://schemas.microsoft.com/office/drawing/2014/main" id="{33807531-8979-4FEC-B257-3E54F581B1C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Read the supporting passage and track source IDs as the ranking changes.</a:t>
            </a:r>
          </a:p>
        </p:txBody>
      </p:sp>
      <p:sp>
        <p:nvSpPr>
          <p:cNvPr id="4" name="text">
            <a:extLst xmlns:a="http://schemas.openxmlformats.org/drawingml/2006/main">
              <a:ext uri="{FF2B5EF4-FFF2-40B4-BE49-F238E27FC236}">
                <a16:creationId xmlns:a16="http://schemas.microsoft.com/office/drawing/2014/main" id="{E7BD605F-F8ED-419F-8C7F-89A00C50271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39CD94A3-3A4F-44C6-887B-1F3E9B9DF0F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C787AB4A-1878-44D0-B2FB-FA097AB9ACA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Coverage check</a:t>
            </a:r>
          </a:p>
        </p:txBody>
      </p:sp>
      <p:sp>
        <p:nvSpPr>
          <p:cNvPr id="7" name="text">
            <a:extLst xmlns:a="http://schemas.openxmlformats.org/drawingml/2006/main">
              <a:ext uri="{FF2B5EF4-FFF2-40B4-BE49-F238E27FC236}">
                <a16:creationId xmlns:a16="http://schemas.microsoft.com/office/drawing/2014/main" id="{2CB15E3B-3B5D-4FB0-8EB8-2C803E2FE3D8}"/>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Does api_limits appear in the top 3? How many distinct sources are present?</a:t>
            </a:r>
          </a:p>
        </p:txBody>
      </p:sp>
      <p:sp>
        <p:nvSpPr>
          <p:cNvPr id="8" name="text">
            <a:extLst xmlns:a="http://schemas.openxmlformats.org/drawingml/2006/main">
              <a:ext uri="{FF2B5EF4-FFF2-40B4-BE49-F238E27FC236}">
                <a16:creationId xmlns:a16="http://schemas.microsoft.com/office/drawing/2014/main" id="{38A07756-2C74-4219-AE50-1AA9BABAB45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corpus facts</a:t>
            </a:r>
          </a:p>
        </p:txBody>
      </p:sp>
      <p:sp>
        <p:nvSpPr>
          <p:cNvPr id="9" name="text">
            <a:extLst xmlns:a="http://schemas.openxmlformats.org/drawingml/2006/main">
              <a:ext uri="{FF2B5EF4-FFF2-40B4-BE49-F238E27FC236}">
                <a16:creationId xmlns:a16="http://schemas.microsoft.com/office/drawing/2014/main" id="{B4F0E3CF-9374-4B4F-869F-4EB8885A19EF}"/>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Team: 600 requests/minute; exceeding the limit returns HTTP 429.</a:t>
            </a:r>
          </a:p>
        </p:txBody>
      </p:sp>
      <p:sp>
        <p:nvSpPr>
          <p:cNvPr id="10" name="text">
            <a:extLst xmlns:a="http://schemas.openxmlformats.org/drawingml/2006/main">
              <a:ext uri="{FF2B5EF4-FFF2-40B4-BE49-F238E27FC236}">
                <a16:creationId xmlns:a16="http://schemas.microsoft.com/office/drawing/2014/main" id="{2B5D1F8D-99A8-47DA-82EB-F235DEC9C687}"/>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Retry detail</a:t>
            </a:r>
          </a:p>
        </p:txBody>
      </p:sp>
      <p:sp>
        <p:nvSpPr>
          <p:cNvPr id="11" name="text">
            <a:extLst xmlns:a="http://schemas.openxmlformats.org/drawingml/2006/main">
              <a:ext uri="{FF2B5EF4-FFF2-40B4-BE49-F238E27FC236}">
                <a16:creationId xmlns:a16="http://schemas.microsoft.com/office/drawing/2014/main" id="{B3390C1F-99FB-4C90-B54A-C9584F856DD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answer should preserve Retry-After handling from the actual source.</a:t>
            </a:r>
          </a:p>
        </p:txBody>
      </p:sp>
      <p:sp>
        <p:nvSpPr>
          <p:cNvPr id="12" name="text">
            <a:extLst xmlns:a="http://schemas.openxmlformats.org/drawingml/2006/main">
              <a:ext uri="{FF2B5EF4-FFF2-40B4-BE49-F238E27FC236}">
                <a16:creationId xmlns:a16="http://schemas.microsoft.com/office/drawing/2014/main" id="{27FBF940-563D-46A6-B74B-E484E7CC6DA5}"/>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No automatic improvement</a:t>
            </a:r>
          </a:p>
        </p:txBody>
      </p:sp>
      <p:sp>
        <p:nvSpPr>
          <p:cNvPr id="13" name="text">
            <a:extLst xmlns:a="http://schemas.openxmlformats.org/drawingml/2006/main">
              <a:ext uri="{FF2B5EF4-FFF2-40B4-BE49-F238E27FC236}">
                <a16:creationId xmlns:a16="http://schemas.microsoft.com/office/drawing/2014/main" id="{5E4CA513-B8DF-434A-8FD0-65E50100D683}"/>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Reranking can improve, preserve, or worsen the order for a particular question.</a:t>
            </a:r>
          </a:p>
        </p:txBody>
      </p:sp>
    </p:spTree>
    <p:extLst>
      <p:ext uri="{BB962C8B-B14F-4D97-AF65-F5344CB8AC3E}">
        <p14:creationId xmlns:p14="http://schemas.microsoft.com/office/powerpoint/2010/main" val="539256141"/>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AA3D5D3E-7871-48F9-8130-7D9AEF6E6E0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06</a:t>
            </a:r>
          </a:p>
        </p:txBody>
      </p:sp>
      <p:sp>
        <p:nvSpPr>
          <p:cNvPr id="2" name="slide-title">
            <a:extLst xmlns:a="http://schemas.openxmlformats.org/drawingml/2006/main">
              <a:ext uri="{FF2B5EF4-FFF2-40B4-BE49-F238E27FC236}">
                <a16:creationId xmlns:a16="http://schemas.microsoft.com/office/drawing/2014/main" id="{C0CAC95E-6DD1-4F79-BA4D-D6C71F350F3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every ranking change</a:t>
            </a:r>
          </a:p>
        </p:txBody>
      </p:sp>
      <p:sp>
        <p:nvSpPr>
          <p:cNvPr id="3" name="lead">
            <a:extLst xmlns:a="http://schemas.openxmlformats.org/drawingml/2006/main">
              <a:ext uri="{FF2B5EF4-FFF2-40B4-BE49-F238E27FC236}">
                <a16:creationId xmlns:a16="http://schemas.microsoft.com/office/drawing/2014/main" id="{3EB8F1C9-C513-4027-A4B2-7C068A0F718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Run the notebook from a fresh kernel and pause before the paid answer cell.</a:t>
            </a:r>
          </a:p>
        </p:txBody>
      </p:sp>
      <p:sp>
        <p:nvSpPr>
          <p:cNvPr id="4" name="text">
            <a:extLst xmlns:a="http://schemas.openxmlformats.org/drawingml/2006/main">
              <a:ext uri="{FF2B5EF4-FFF2-40B4-BE49-F238E27FC236}">
                <a16:creationId xmlns:a16="http://schemas.microsoft.com/office/drawing/2014/main" id="{D0DC5E62-ED8E-4B95-9CD7-D5FDFEA52DC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452A6AE5-540A-4B52-977E-DEF460A0209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8801E043-A42B-4ACC-B91B-BEBE375BF475}"/>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13AA02D5-8281-488F-92B2-B8E943719995}"/>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Compare</a:t>
            </a:r>
          </a:p>
        </p:txBody>
      </p:sp>
      <p:sp>
        <p:nvSpPr>
          <p:cNvPr id="8" name="text">
            <a:extLst xmlns:a="http://schemas.openxmlformats.org/drawingml/2006/main">
              <a:ext uri="{FF2B5EF4-FFF2-40B4-BE49-F238E27FC236}">
                <a16:creationId xmlns:a16="http://schemas.microsoft.com/office/drawing/2014/main" id="{EF2EEF40-4DAE-4D3D-86A1-705822DE0058}"/>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 1 and identify api_limits in both candidate lists.</a:t>
            </a:r>
          </a:p>
        </p:txBody>
      </p:sp>
      <p:sp>
        <p:nvSpPr>
          <p:cNvPr id="9" name="text">
            <a:extLst xmlns:a="http://schemas.openxmlformats.org/drawingml/2006/main">
              <a:ext uri="{FF2B5EF4-FFF2-40B4-BE49-F238E27FC236}">
                <a16:creationId xmlns:a16="http://schemas.microsoft.com/office/drawing/2014/main" id="{45B5058E-98F9-4EB6-9FD9-FBC05E562EB7}"/>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5288453B-66AC-49D5-A1E9-AB775ABB0D92}"/>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Follow IDs</a:t>
            </a:r>
          </a:p>
        </p:txBody>
      </p:sp>
      <p:sp>
        <p:nvSpPr>
          <p:cNvPr id="11" name="text">
            <a:extLst xmlns:a="http://schemas.openxmlformats.org/drawingml/2006/main">
              <a:ext uri="{FF2B5EF4-FFF2-40B4-BE49-F238E27FC236}">
                <a16:creationId xmlns:a16="http://schemas.microsoft.com/office/drawing/2014/main" id="{85C7FB2A-7686-49E2-A4E6-7DFAFEDFA808}"/>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Steps 2-5; inspect RRF contributions, rank movements, and pair scores.</a:t>
            </a:r>
          </a:p>
        </p:txBody>
      </p:sp>
      <p:sp>
        <p:nvSpPr>
          <p:cNvPr id="12" name="text">
            <a:extLst xmlns:a="http://schemas.openxmlformats.org/drawingml/2006/main">
              <a:ext uri="{FF2B5EF4-FFF2-40B4-BE49-F238E27FC236}">
                <a16:creationId xmlns:a16="http://schemas.microsoft.com/office/drawing/2014/main" id="{C3975C03-0FD0-4EB5-AD67-66F1204C8185}"/>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772BD9BA-0F47-4904-B953-19111064C6DC}"/>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Read context</a:t>
            </a:r>
          </a:p>
        </p:txBody>
      </p:sp>
      <p:sp>
        <p:nvSpPr>
          <p:cNvPr id="14" name="text">
            <a:extLst xmlns:a="http://schemas.openxmlformats.org/drawingml/2006/main">
              <a:ext uri="{FF2B5EF4-FFF2-40B4-BE49-F238E27FC236}">
                <a16:creationId xmlns:a16="http://schemas.microsoft.com/office/drawing/2014/main" id="{6027F65D-EA70-4E6D-B7B7-B30E0EB7ED76}"/>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In Step 6, inspect the selected 3 passages before asking Claude.</a:t>
            </a:r>
          </a:p>
        </p:txBody>
      </p:sp>
      <p:sp>
        <p:nvSpPr>
          <p:cNvPr id="15" name="text">
            <a:extLst xmlns:a="http://schemas.openxmlformats.org/drawingml/2006/main">
              <a:ext uri="{FF2B5EF4-FFF2-40B4-BE49-F238E27FC236}">
                <a16:creationId xmlns:a16="http://schemas.microsoft.com/office/drawing/2014/main" id="{AE297CDD-DD45-413A-964E-B76956245343}"/>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FC36CA6A-C880-4E61-9E6B-08AAE1021495}"/>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Probe wording</a:t>
            </a:r>
          </a:p>
        </p:txBody>
      </p:sp>
      <p:sp>
        <p:nvSpPr>
          <p:cNvPr id="17" name="text">
            <a:extLst xmlns:a="http://schemas.openxmlformats.org/drawingml/2006/main">
              <a:ext uri="{FF2B5EF4-FFF2-40B4-BE49-F238E27FC236}">
                <a16:creationId xmlns:a16="http://schemas.microsoft.com/office/drawing/2014/main" id="{DF94B1E2-2634-470E-8913-90D7DE4305D0}"/>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Step 7 for error codes, refund paraphrases, and unused holiday entitlement.</a:t>
            </a:r>
          </a:p>
        </p:txBody>
      </p:sp>
    </p:spTree>
    <p:extLst>
      <p:ext uri="{BB962C8B-B14F-4D97-AF65-F5344CB8AC3E}">
        <p14:creationId xmlns:p14="http://schemas.microsoft.com/office/powerpoint/2010/main" val="527737195"/>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44ADD571-489A-410A-BA7C-46AD9C2152A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06</a:t>
            </a:r>
          </a:p>
        </p:txBody>
      </p:sp>
      <p:sp>
        <p:nvSpPr>
          <p:cNvPr id="2" name="slide-title">
            <a:extLst xmlns:a="http://schemas.openxmlformats.org/drawingml/2006/main">
              <a:ext uri="{FF2B5EF4-FFF2-40B4-BE49-F238E27FC236}">
                <a16:creationId xmlns:a16="http://schemas.microsoft.com/office/drawing/2014/main" id="{4DB478AC-5CCD-441F-9854-DA5B43F0B75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Keep filters consistent across branches</a:t>
            </a:r>
          </a:p>
        </p:txBody>
      </p:sp>
      <p:sp>
        <p:nvSpPr>
          <p:cNvPr id="3" name="lead">
            <a:extLst xmlns:a="http://schemas.openxmlformats.org/drawingml/2006/main">
              <a:ext uri="{FF2B5EF4-FFF2-40B4-BE49-F238E27FC236}">
                <a16:creationId xmlns:a16="http://schemas.microsoft.com/office/drawing/2014/main" id="{0CD3B5CD-4EE9-4C90-A832-B253F02ACDF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An unfiltered retrieval branch can reintroduce documents excluded by another branch.</a:t>
            </a:r>
          </a:p>
        </p:txBody>
      </p:sp>
      <p:sp>
        <p:nvSpPr>
          <p:cNvPr id="4" name="text">
            <a:extLst xmlns:a="http://schemas.openxmlformats.org/drawingml/2006/main">
              <a:ext uri="{FF2B5EF4-FFF2-40B4-BE49-F238E27FC236}">
                <a16:creationId xmlns:a16="http://schemas.microsoft.com/office/drawing/2014/main" id="{A5446FE2-A54F-4778-889C-628A0267C05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6B4E52D9-ECF4-45DF-AEF1-56D55A54439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8236C255-591A-4609-B22C-38D07554DB3B}"/>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Shared eligibility</a:t>
            </a:r>
          </a:p>
        </p:txBody>
      </p:sp>
      <p:sp>
        <p:nvSpPr>
          <p:cNvPr id="7" name="text">
            <a:extLst xmlns:a="http://schemas.openxmlformats.org/drawingml/2006/main">
              <a:ext uri="{FF2B5EF4-FFF2-40B4-BE49-F238E27FC236}">
                <a16:creationId xmlns:a16="http://schemas.microsoft.com/office/drawing/2014/main" id="{EC4DAC3E-4885-4B84-B28C-C60539FD83D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Apply the same department, version, or access filter before both searches.</a:t>
            </a:r>
          </a:p>
        </p:txBody>
      </p:sp>
      <p:sp>
        <p:nvSpPr>
          <p:cNvPr id="8" name="text">
            <a:extLst xmlns:a="http://schemas.openxmlformats.org/drawingml/2006/main">
              <a:ext uri="{FF2B5EF4-FFF2-40B4-BE49-F238E27FC236}">
                <a16:creationId xmlns:a16="http://schemas.microsoft.com/office/drawing/2014/main" id="{02276FDB-507D-4734-A982-4DE0A6D4599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Candidate experiment</a:t>
            </a:r>
          </a:p>
        </p:txBody>
      </p:sp>
      <p:sp>
        <p:nvSpPr>
          <p:cNvPr id="9" name="text">
            <a:extLst xmlns:a="http://schemas.openxmlformats.org/drawingml/2006/main">
              <a:ext uri="{FF2B5EF4-FFF2-40B4-BE49-F238E27FC236}">
                <a16:creationId xmlns:a16="http://schemas.microsoft.com/office/drawing/2014/main" id="{4795C6B6-B317-4EEF-904A-477617991D0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Step 8 compares candidate counts 2, 4, and 8 using the same filter.</a:t>
            </a:r>
          </a:p>
        </p:txBody>
      </p:sp>
      <p:sp>
        <p:nvSpPr>
          <p:cNvPr id="10" name="text">
            <a:extLst xmlns:a="http://schemas.openxmlformats.org/drawingml/2006/main">
              <a:ext uri="{FF2B5EF4-FFF2-40B4-BE49-F238E27FC236}">
                <a16:creationId xmlns:a16="http://schemas.microsoft.com/office/drawing/2014/main" id="{E761E3C6-6EEE-40A3-8A98-2E518C534BA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Score warning</a:t>
            </a:r>
          </a:p>
        </p:txBody>
      </p:sp>
      <p:sp>
        <p:nvSpPr>
          <p:cNvPr id="11" name="text">
            <a:extLst xmlns:a="http://schemas.openxmlformats.org/drawingml/2006/main">
              <a:ext uri="{FF2B5EF4-FFF2-40B4-BE49-F238E27FC236}">
                <a16:creationId xmlns:a16="http://schemas.microsoft.com/office/drawing/2014/main" id="{EC0A2C8F-8E8D-4FD1-B5CB-D24DE10B1762}"/>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Fusion and cross-encoder scores are ranking signals, not trust scores.</a:t>
            </a:r>
          </a:p>
        </p:txBody>
      </p:sp>
      <p:sp>
        <p:nvSpPr>
          <p:cNvPr id="12" name="text">
            <a:extLst xmlns:a="http://schemas.openxmlformats.org/drawingml/2006/main">
              <a:ext uri="{FF2B5EF4-FFF2-40B4-BE49-F238E27FC236}">
                <a16:creationId xmlns:a16="http://schemas.microsoft.com/office/drawing/2014/main" id="{053D5B45-CB0C-4776-AD4D-F6BF5226B04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Measure tradeoffs</a:t>
            </a:r>
          </a:p>
        </p:txBody>
      </p:sp>
      <p:sp>
        <p:nvSpPr>
          <p:cNvPr id="13" name="text">
            <a:extLst xmlns:a="http://schemas.openxmlformats.org/drawingml/2006/main">
              <a:ext uri="{FF2B5EF4-FFF2-40B4-BE49-F238E27FC236}">
                <a16:creationId xmlns:a16="http://schemas.microsoft.com/office/drawing/2014/main" id="{70BA53CA-3C81-4CEA-AB76-56B7B58E690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Evaluate source recall, answer support, latency, and token cost together.</a:t>
            </a:r>
          </a:p>
        </p:txBody>
      </p:sp>
    </p:spTree>
    <p:extLst>
      <p:ext uri="{BB962C8B-B14F-4D97-AF65-F5344CB8AC3E}">
        <p14:creationId xmlns:p14="http://schemas.microsoft.com/office/powerpoint/2010/main" val="281913951"/>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E980672E-0FEE-41DA-817D-68B1277EAC1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06</a:t>
            </a:r>
          </a:p>
        </p:txBody>
      </p:sp>
      <p:sp>
        <p:nvSpPr>
          <p:cNvPr id="2" name="slide-title">
            <a:extLst xmlns:a="http://schemas.openxmlformats.org/drawingml/2006/main">
              <a:ext uri="{FF2B5EF4-FFF2-40B4-BE49-F238E27FC236}">
                <a16:creationId xmlns:a16="http://schemas.microsoft.com/office/drawing/2014/main" id="{D5F8B9A0-E913-4782-A90C-51B4D0BD174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explain a change, not a winner</a:t>
            </a:r>
          </a:p>
        </p:txBody>
      </p:sp>
      <p:sp>
        <p:nvSpPr>
          <p:cNvPr id="3" name="lead">
            <a:extLst xmlns:a="http://schemas.openxmlformats.org/drawingml/2006/main">
              <a:ext uri="{FF2B5EF4-FFF2-40B4-BE49-F238E27FC236}">
                <a16:creationId xmlns:a16="http://schemas.microsoft.com/office/drawing/2014/main" id="{FACE2BFE-A44C-44F5-A6AB-D5AC59A8248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Change one parameter and defend the resulting evidence selection.</a:t>
            </a:r>
          </a:p>
        </p:txBody>
      </p:sp>
      <p:sp>
        <p:nvSpPr>
          <p:cNvPr id="4" name="text">
            <a:extLst xmlns:a="http://schemas.openxmlformats.org/drawingml/2006/main">
              <a:ext uri="{FF2B5EF4-FFF2-40B4-BE49-F238E27FC236}">
                <a16:creationId xmlns:a16="http://schemas.microsoft.com/office/drawing/2014/main" id="{DE897BB0-8CE0-4009-8CF1-D9A72C00C6D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06  /  Hybrid search and reranking</a:t>
            </a:r>
          </a:p>
        </p:txBody>
      </p:sp>
      <p:sp>
        <p:nvSpPr>
          <p:cNvPr id="5" name="page-number">
            <a:extLst xmlns:a="http://schemas.openxmlformats.org/drawingml/2006/main">
              <a:ext uri="{FF2B5EF4-FFF2-40B4-BE49-F238E27FC236}">
                <a16:creationId xmlns:a16="http://schemas.microsoft.com/office/drawing/2014/main" id="{DA79722B-5EF0-4C6D-B146-CAE5B33BBAE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C437905E-E1B2-47B2-AED1-B5663D0F13E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7" name="text">
            <a:extLst xmlns:a="http://schemas.openxmlformats.org/drawingml/2006/main">
              <a:ext uri="{FF2B5EF4-FFF2-40B4-BE49-F238E27FC236}">
                <a16:creationId xmlns:a16="http://schemas.microsoft.com/office/drawing/2014/main" id="{A2850B30-878C-4EA2-A99B-5101A3372F0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Compare RRF damping constants 60 and 10 while keeping the rankings fixed.</a:t>
            </a:r>
          </a:p>
        </p:txBody>
      </p:sp>
      <p:sp>
        <p:nvSpPr>
          <p:cNvPr id="8" name="text">
            <a:extLst xmlns:a="http://schemas.openxmlformats.org/drawingml/2006/main">
              <a:ext uri="{FF2B5EF4-FFF2-40B4-BE49-F238E27FC236}">
                <a16:creationId xmlns:a16="http://schemas.microsoft.com/office/drawing/2014/main" id="{33302CC4-7588-4F88-8C2D-A63ADC19B9DF}"/>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Observe</a:t>
            </a:r>
          </a:p>
        </p:txBody>
      </p:sp>
      <p:sp>
        <p:nvSpPr>
          <p:cNvPr id="9" name="text">
            <a:extLst xmlns:a="http://schemas.openxmlformats.org/drawingml/2006/main">
              <a:ext uri="{FF2B5EF4-FFF2-40B4-BE49-F238E27FC236}">
                <a16:creationId xmlns:a16="http://schemas.microsoft.com/office/drawing/2014/main" id="{FD87C896-AB54-4139-92D6-631322C5FEE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Record top 3 IDs and first relevant source rank for exact and paraphrased queries.</a:t>
            </a:r>
          </a:p>
        </p:txBody>
      </p:sp>
      <p:sp>
        <p:nvSpPr>
          <p:cNvPr id="10" name="text">
            <a:extLst xmlns:a="http://schemas.openxmlformats.org/drawingml/2006/main">
              <a:ext uri="{FF2B5EF4-FFF2-40B4-BE49-F238E27FC236}">
                <a16:creationId xmlns:a16="http://schemas.microsoft.com/office/drawing/2014/main" id="{9EF7803C-EE66-4C4E-98C5-22F4498FE9A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Discuss</a:t>
            </a:r>
          </a:p>
        </p:txBody>
      </p:sp>
      <p:sp>
        <p:nvSpPr>
          <p:cNvPr id="11" name="text">
            <a:extLst xmlns:a="http://schemas.openxmlformats.org/drawingml/2006/main">
              <a:ext uri="{FF2B5EF4-FFF2-40B4-BE49-F238E27FC236}">
                <a16:creationId xmlns:a16="http://schemas.microsoft.com/office/drawing/2014/main" id="{95DFEFE7-A76C-4B8F-B3F8-42F8B3130E0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Why can more candidates help a reranker without increasing the final prompt?</a:t>
            </a:r>
          </a:p>
        </p:txBody>
      </p:sp>
      <p:sp>
        <p:nvSpPr>
          <p:cNvPr id="12" name="text">
            <a:extLst xmlns:a="http://schemas.openxmlformats.org/drawingml/2006/main">
              <a:ext uri="{FF2B5EF4-FFF2-40B4-BE49-F238E27FC236}">
                <a16:creationId xmlns:a16="http://schemas.microsoft.com/office/drawing/2014/main" id="{BDCC68A6-369C-4ED2-B7E3-E32B95B0C21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explanation</a:t>
            </a:r>
          </a:p>
        </p:txBody>
      </p:sp>
      <p:sp>
        <p:nvSpPr>
          <p:cNvPr id="13" name="text">
            <a:extLst xmlns:a="http://schemas.openxmlformats.org/drawingml/2006/main">
              <a:ext uri="{FF2B5EF4-FFF2-40B4-BE49-F238E27FC236}">
                <a16:creationId xmlns:a16="http://schemas.microsoft.com/office/drawing/2014/main" id="{58F8D317-6CF3-4716-960C-70541CF259D8}"/>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larger pool offers more choices; a larger context sends more evidence and possible noise.</a:t>
            </a:r>
          </a:p>
        </p:txBody>
      </p:sp>
    </p:spTree>
    <p:extLst>
      <p:ext uri="{BB962C8B-B14F-4D97-AF65-F5344CB8AC3E}">
        <p14:creationId xmlns:p14="http://schemas.microsoft.com/office/powerpoint/2010/main" val="1443009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2026-10-11T09:49:42.3030000Z</dcterms:created>
  <dcterms:modified xsi:type="dcterms:W3CDTF">2026-10-11T09:49:42.3030000Z</dcterms:modified>
</coreProperties>
</file>