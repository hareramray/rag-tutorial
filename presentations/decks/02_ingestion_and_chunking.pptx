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3d6fa570da04b17" /><Relationship Type="http://schemas.openxmlformats.org/officeDocument/2006/relationships/extended-properties" Target="/docProps/app.xml" Id="R6dd4b23f9271485c" /><Relationship Type="http://schemas.openxmlformats.org/officeDocument/2006/relationships/officeDocument" Target="/ppt/presentation.xml" Id="R7db4907e86264e64" /></Relationships>
</file>

<file path=ppt/presentation.xml><?xml version="1.0" encoding="utf-8"?>
<p:presentation xmlns:p="http://schemas.openxmlformats.org/presentationml/2006/main">
  <p:sldMasterIdLst>
    <p:sldMasterId xmlns:r="http://schemas.openxmlformats.org/officeDocument/2006/relationships" id="2147483648" r:id="Rf6357bf2902f4d84"/>
  </p:sldMasterIdLst>
  <p:notesMasterIdLst>
    <p:notesMasterId xmlns:r="http://schemas.openxmlformats.org/officeDocument/2006/relationships" r:id="Rf1f8f4ffc4df41f8"/>
  </p:notesMasterIdLst>
  <p:sldIdLst>
    <p:sldId xmlns:r="http://schemas.openxmlformats.org/officeDocument/2006/relationships" id="256" r:id="Re8d40b4fc7ad4e3a"/>
    <p:sldId xmlns:r="http://schemas.openxmlformats.org/officeDocument/2006/relationships" id="257" r:id="R5784f0c334684403"/>
    <p:sldId xmlns:r="http://schemas.openxmlformats.org/officeDocument/2006/relationships" id="258" r:id="Rdc89e05b687d4628"/>
    <p:sldId xmlns:r="http://schemas.openxmlformats.org/officeDocument/2006/relationships" id="259" r:id="R43ffc7024ee24cbf"/>
    <p:sldId xmlns:r="http://schemas.openxmlformats.org/officeDocument/2006/relationships" id="260" r:id="R4356f53fd7c84ab4"/>
    <p:sldId xmlns:r="http://schemas.openxmlformats.org/officeDocument/2006/relationships" id="261" r:id="Rf3197967715c40a4"/>
    <p:sldId xmlns:r="http://schemas.openxmlformats.org/officeDocument/2006/relationships" id="262" r:id="Rdcb715adcc0b4c0c"/>
    <p:sldId xmlns:r="http://schemas.openxmlformats.org/officeDocument/2006/relationships" id="263" r:id="Re13cdca61bbb4646"/>
    <p:sldId xmlns:r="http://schemas.openxmlformats.org/officeDocument/2006/relationships" id="264" r:id="Rd4a14f6e5c0c4c0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24a8a2d196446b" /><Relationship Type="http://schemas.openxmlformats.org/officeDocument/2006/relationships/slideMaster" Target="/ppt/slideMasters/slideMaster1.xml" Id="Rf6357bf2902f4d84" /><Relationship Type="http://schemas.openxmlformats.org/officeDocument/2006/relationships/notesMaster" Target="/ppt/notesMasters/notesMaster1.xml" Id="Rf1f8f4ffc4df41f8" /><Relationship Type="http://schemas.openxmlformats.org/officeDocument/2006/relationships/presProps" Target="/ppt/presProps.xml" Id="R263856c988b74d68" /><Relationship Type="http://schemas.openxmlformats.org/officeDocument/2006/relationships/tableStyles" Target="/ppt/tableStyles.xml" Id="Rd76b4b1b6afa46c1" /><Relationship Type="http://schemas.openxmlformats.org/officeDocument/2006/relationships/slide" Target="/ppt/slides/slide1.xml" Id="Re8d40b4fc7ad4e3a" /><Relationship Type="http://schemas.openxmlformats.org/officeDocument/2006/relationships/slide" Target="/ppt/slides/slide2.xml" Id="R5784f0c334684403" /><Relationship Type="http://schemas.openxmlformats.org/officeDocument/2006/relationships/slide" Target="/ppt/slides/slide3.xml" Id="Rdc89e05b687d4628" /><Relationship Type="http://schemas.openxmlformats.org/officeDocument/2006/relationships/slide" Target="/ppt/slides/slide4.xml" Id="R43ffc7024ee24cbf" /><Relationship Type="http://schemas.openxmlformats.org/officeDocument/2006/relationships/slide" Target="/ppt/slides/slide5.xml" Id="R4356f53fd7c84ab4" /><Relationship Type="http://schemas.openxmlformats.org/officeDocument/2006/relationships/slide" Target="/ppt/slides/slide6.xml" Id="Rf3197967715c40a4" /><Relationship Type="http://schemas.openxmlformats.org/officeDocument/2006/relationships/slide" Target="/ppt/slides/slide7.xml" Id="Rdcb715adcc0b4c0c" /><Relationship Type="http://schemas.openxmlformats.org/officeDocument/2006/relationships/slide" Target="/ppt/slides/slide8.xml" Id="Re13cdca61bbb4646" /><Relationship Type="http://schemas.openxmlformats.org/officeDocument/2006/relationships/slide" Target="/ppt/slides/slide9.xml" Id="Rd4a14f6e5c0c4c0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36a07a1267649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909b0ef39e4e54" /><Relationship Type="http://schemas.openxmlformats.org/officeDocument/2006/relationships/notesMaster" Target="/ppt/notesMasters/notesMaster1.xml" Id="Rb6e3497025b54a66" /></Relationships>
</file>

<file path=ppt/notesSlides/_rels/notesSlide2.xml.rels>&#65279;<?xml version="1.0" encoding="utf-8"?><Relationships xmlns="http://schemas.openxmlformats.org/package/2006/relationships"><Relationship Type="http://schemas.openxmlformats.org/officeDocument/2006/relationships/slide" Target="/ppt/slides/slide2.xml" Id="Rff3a0e509a6347af" /><Relationship Type="http://schemas.openxmlformats.org/officeDocument/2006/relationships/notesMaster" Target="/ppt/notesMasters/notesMaster1.xml" Id="Rb7b42a22610d4cf1" /></Relationships>
</file>

<file path=ppt/notesSlides/_rels/notesSlide3.xml.rels>&#65279;<?xml version="1.0" encoding="utf-8"?><Relationships xmlns="http://schemas.openxmlformats.org/package/2006/relationships"><Relationship Type="http://schemas.openxmlformats.org/officeDocument/2006/relationships/slide" Target="/ppt/slides/slide3.xml" Id="R3e3c17428aef4637" /><Relationship Type="http://schemas.openxmlformats.org/officeDocument/2006/relationships/notesMaster" Target="/ppt/notesMasters/notesMaster1.xml" Id="R1df7fe95d85146a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933822ae92c4ac2" /><Relationship Type="http://schemas.openxmlformats.org/officeDocument/2006/relationships/notesMaster" Target="/ppt/notesMasters/notesMaster1.xml" Id="Rb167b510989648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eb62db920c34e33" /><Relationship Type="http://schemas.openxmlformats.org/officeDocument/2006/relationships/notesMaster" Target="/ppt/notesMasters/notesMaster1.xml" Id="Re167efe5ef8943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1c3f5bdc724447" /><Relationship Type="http://schemas.openxmlformats.org/officeDocument/2006/relationships/notesMaster" Target="/ppt/notesMasters/notesMaster1.xml" Id="R9efe09d7584246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ae747c6b0d4ffc" /><Relationship Type="http://schemas.openxmlformats.org/officeDocument/2006/relationships/notesMaster" Target="/ppt/notesMasters/notesMaster1.xml" Id="Rcd7a22385a1f4a7d"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49ac9bfde14386" /><Relationship Type="http://schemas.openxmlformats.org/officeDocument/2006/relationships/notesMaster" Target="/ppt/notesMasters/notesMaster1.xml" Id="R0090924edd6c48d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9c49429b0f44f9" /><Relationship Type="http://schemas.openxmlformats.org/officeDocument/2006/relationships/notesMaster" Target="/ppt/notesMasters/notesMaster1.xml" Id="R2cafa6c707d4475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notebooks/02_ingestion_and_chunking.ipynb beside this presentation. This deck explains the notebook concepts and supports a live demonstration. Run cells in order from a fresh kernel. Keep retrieved evidence visible before discussing a generated answer. All Northstar Analytics examples are fictional.</a:t>
            </a:r>
          </a:p>
          <a:p xmlns:a="http://schemas.openxmlformats.org/drawingml/2006/main">
            <a:r>
              <a:t/>
            </a:r>
          </a:p>
          <a:p xmlns:a="http://schemas.openxmlformats.org/drawingml/2006/main">
            <a:r>
              <a:t>SOURCE: notebooks/02_ingestion_and_chunking.ipynb</a:t>
            </a:r>
          </a:p>
          <a:p xmlns:a="http://schemas.openxmlformats.org/drawingml/2006/main">
            <a:r>
              <a:t>COVER: AI-generated abstract background, created for this course; decorative, not an architecture diagram.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lesson by distinguishing the original source from the units placed in an index. A retrieved fragment may be highly relevant but still omit a nearby condition, while a whole document may contain unnecessary material. This notebook deliberately uses words so learners can calculate windows by hand; do not treat those counts as model token budgets. No Claude call is required for this lesson. The central task is to make ingestion inspectable and preserve provenance before spending effort or compute on embeddings and generation.</a:t>
            </a:r>
          </a:p>
          <a:p xmlns:a="http://schemas.openxmlformats.org/drawingml/2006/main">
            <a:r>
              <a:t/>
            </a:r>
          </a:p>
          <a:p xmlns:a="http://schemas.openxmlformats.org/drawingml/2006/main">
            <a:r>
              <a:t>NOTEBOOK: notebooks/02_ingestion_and_chunking.ipynb</a:t>
            </a:r>
          </a:p>
          <a:p xmlns:a="http://schemas.openxmlformats.org/drawingml/2006/main">
            <a:r>
              <a:t/>
            </a:r>
          </a:p>
          <a:p xmlns:a="http://schemas.openxmlformats.org/drawingml/2006/main">
            <a:r>
              <a:t>SOURCES</a:t>
            </a:r>
          </a:p>
          <a:p xmlns:a="http://schemas.openxmlformats.org/drawingml/2006/main">
            <a:r>
              <a:t>notebooks/02_ingestion_and_chunking.ipynb — introduction and section 5</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Sections 1 and 2 create small temporary files and a visible loader. Section 4 performs conservative cleanup, section 5 splits the text, and section 9 checks invariants. Follow one piece of text through the pipeline and point out where its path, title, parent ID, and optional page number survive. These fields support debugging and later citations. The temporary examples make the lesson repeatable without overwriting personal source files. Explain that data invariants detect pipeline bugs but do not tell us whether the chunks will retrieve the best evidence.</a:t>
            </a:r>
          </a:p>
          <a:p xmlns:a="http://schemas.openxmlformats.org/drawingml/2006/main">
            <a:r>
              <a:t/>
            </a:r>
          </a:p>
          <a:p xmlns:a="http://schemas.openxmlformats.org/drawingml/2006/main">
            <a:r>
              <a:t>NOTEBOOK: notebooks/02_ingestion_and_chunking.ipynb</a:t>
            </a:r>
          </a:p>
          <a:p xmlns:a="http://schemas.openxmlformats.org/drawingml/2006/main">
            <a:r>
              <a:t/>
            </a:r>
          </a:p>
          <a:p xmlns:a="http://schemas.openxmlformats.org/drawingml/2006/main">
            <a:r>
              <a:t>SOURCES</a:t>
            </a:r>
          </a:p>
          <a:p xmlns:a="http://schemas.openxmlformats.org/drawingml/2006/main">
            <a:r>
              <a:t>notebooks/02_ingestion_and_chunking.ipynb — sections 1, 2, 4, 5 and 9</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section 2, the loader reports empty extracted pages rather than pretending every PDF is readable text. Explain that PDF is a container format, not a promise of useful text order. The optional section 3 accepts a local PDF; leave PDF_PATH unset for a self-contained classroom run. If demonstrating a personal file, inspect at least two extracted pages before trusting the index. Notebook 13 later covers scanned pages and visual evidence. This lesson's text loader does not perform OCR and does not send PDFs to a model provider.</a:t>
            </a:r>
          </a:p>
          <a:p xmlns:a="http://schemas.openxmlformats.org/drawingml/2006/main">
            <a:r>
              <a:t/>
            </a:r>
          </a:p>
          <a:p xmlns:a="http://schemas.openxmlformats.org/drawingml/2006/main">
            <a:r>
              <a:t>NOTEBOOK: notebooks/02_ingestion_and_chunking.ipynb</a:t>
            </a:r>
          </a:p>
          <a:p xmlns:a="http://schemas.openxmlformats.org/drawingml/2006/main">
            <a:r>
              <a:t/>
            </a:r>
          </a:p>
          <a:p xmlns:a="http://schemas.openxmlformats.org/drawingml/2006/main">
            <a:r>
              <a:t>SOURCES</a:t>
            </a:r>
          </a:p>
          <a:p xmlns:a="http://schemas.openxmlformats.org/drawingml/2006/main">
            <a:r>
              <a:t>notebooks/02_ingestion_and_chunking.ipynb — sections 2 and 3</a:t>
            </a:r>
          </a:p>
          <a:p xmlns:a="http://schemas.openxmlformats.org/drawingml/2006/main">
            <a:r>
              <a:t>https://pypdf.readthedocs.io/en/stable/user/extract-text.html</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Step through word_chunks in section 5 using a short text and index positions. Python slices exclude the end index, so [0, 20) contains twenty words. The final chunk may be shorter, and the loop stops once it reaches the end of the document. Overlap repeats a controlled amount of context rather than creating new information. Show the generated chunk ID and metadata, then have the audience locate the shared words between adjacent chunks. This makes the cost of overlap concrete before comparing the synthetic boundary example.</a:t>
            </a:r>
          </a:p>
          <a:p xmlns:a="http://schemas.openxmlformats.org/drawingml/2006/main">
            <a:r>
              <a:t/>
            </a:r>
          </a:p>
          <a:p xmlns:a="http://schemas.openxmlformats.org/drawingml/2006/main">
            <a:r>
              <a:t>NOTEBOOK: notebooks/02_ingestion_and_chunking.ipynb</a:t>
            </a:r>
          </a:p>
          <a:p xmlns:a="http://schemas.openxmlformats.org/drawingml/2006/main">
            <a:r>
              <a:t/>
            </a:r>
          </a:p>
          <a:p xmlns:a="http://schemas.openxmlformats.org/drawingml/2006/main">
            <a:r>
              <a:t>SOURCES</a:t>
            </a:r>
          </a:p>
          <a:p xmlns:a="http://schemas.openxmlformats.org/drawingml/2006/main">
            <a:r>
              <a:t>notebooks/02_ingestion_and_chunking.ipynb — section 5</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Section 6 creates a synthetic passage with a complete leave fact positioned near a boundary. Compare the five size/overlap settings without claiming a universally best value. The complete_fact_in_one_chunk column checks an exact phrase, which is a transparent teaching proxy rather than a general retrieval-quality metric. Duplication ratio measures indexed words divided by original words, exposing the storage cost of overlap. In section 7, repeat the comparison on the real workshop corpus and inspect actual top-hit text. Raw scores across different indexes are not calibrated quality measures.</a:t>
            </a:r>
          </a:p>
          <a:p xmlns:a="http://schemas.openxmlformats.org/drawingml/2006/main">
            <a:r>
              <a:t/>
            </a:r>
          </a:p>
          <a:p xmlns:a="http://schemas.openxmlformats.org/drawingml/2006/main">
            <a:r>
              <a:t>NOTEBOOK: notebooks/02_ingestion_and_chunking.ipynb</a:t>
            </a:r>
          </a:p>
          <a:p xmlns:a="http://schemas.openxmlformats.org/drawingml/2006/main">
            <a:r>
              <a:t/>
            </a:r>
          </a:p>
          <a:p xmlns:a="http://schemas.openxmlformats.org/drawingml/2006/main">
            <a:r>
              <a:t>SOURCES</a:t>
            </a:r>
          </a:p>
          <a:p xmlns:a="http://schemas.openxmlformats.org/drawingml/2006/main">
            <a:r>
              <a:t>notebooks/02_ingestion_and_chunking.ipynb — sections 6 and 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clean_text in section 4 and explain why it changes whitespace conservatively. Lowercasing may be useful inside a search tokenizer, but destructive changes to stored source text can lose identifiers or other meaning. The deduplication example keeps one cleaned copy for teaching; discuss why a production pipeline may need all source and ownership references even for identical content. Section 9 validates that chunk IDs are unique and metadata survives. These checks should run before model calls because broken provenance undermines later citations regardless of answer fluency.</a:t>
            </a:r>
          </a:p>
          <a:p xmlns:a="http://schemas.openxmlformats.org/drawingml/2006/main">
            <a:r>
              <a:t/>
            </a:r>
          </a:p>
          <a:p xmlns:a="http://schemas.openxmlformats.org/drawingml/2006/main">
            <a:r>
              <a:t>NOTEBOOK: notebooks/02_ingestion_and_chunking.ipynb</a:t>
            </a:r>
          </a:p>
          <a:p xmlns:a="http://schemas.openxmlformats.org/drawingml/2006/main">
            <a:r>
              <a:t/>
            </a:r>
          </a:p>
          <a:p xmlns:a="http://schemas.openxmlformats.org/drawingml/2006/main">
            <a:r>
              <a:t>SOURCES</a:t>
            </a:r>
          </a:p>
          <a:p xmlns:a="http://schemas.openxmlformats.org/drawingml/2006/main">
            <a:r>
              <a:t>notebooks/02_ingestion_and_chunking.ipynb — sections 4 and 9</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demonstration focused on one question and change only the chunking configuration. Before revealing the boundary table, ask which settings learners expect to contain the whole fact. Then check their prediction against the exact-phrase result and the duplication ratio. For the corpus comparison, read the top passage rather than choosing the largest numeric score. Note that the loader and chunker are visible teaching implementations, not universal parsers. The optional PDF exercise can be added later without preventing the main notebook from running from the repository alone.</a:t>
            </a:r>
          </a:p>
          <a:p xmlns:a="http://schemas.openxmlformats.org/drawingml/2006/main">
            <a:r>
              <a:t/>
            </a:r>
          </a:p>
          <a:p xmlns:a="http://schemas.openxmlformats.org/drawingml/2006/main">
            <a:r>
              <a:t>NOTEBOOK: notebooks/02_ingestion_and_chunking.ipynb</a:t>
            </a:r>
          </a:p>
          <a:p xmlns:a="http://schemas.openxmlformats.org/drawingml/2006/main">
            <a:r>
              <a:t/>
            </a:r>
          </a:p>
          <a:p xmlns:a="http://schemas.openxmlformats.org/drawingml/2006/main">
            <a:r>
              <a:t>SOURCES</a:t>
            </a:r>
          </a:p>
          <a:p xmlns:a="http://schemas.openxmlformats.org/drawingml/2006/main">
            <a:r>
              <a:t>notebooks/02_ingestion_and_chunking.ipynb — sections 1–7</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section 8 as the practical exercise and section 9 for the final invariant checks. Add another heading to the temporary Markdown example and ask learners to predict the new section boundaries. The sample parser is intentionally simple and does not fully understand nested lists or fenced code. Discuss when semantic document structure is more useful than fixed word windows, and when sections could still be too large. Finish by asking learners to point to the source path, parent ID, and heading on one resulting chunk.</a:t>
            </a:r>
          </a:p>
          <a:p xmlns:a="http://schemas.openxmlformats.org/drawingml/2006/main">
            <a:r>
              <a:t/>
            </a:r>
          </a:p>
          <a:p xmlns:a="http://schemas.openxmlformats.org/drawingml/2006/main">
            <a:r>
              <a:t>NOTEBOOK: notebooks/02_ingestion_and_chunking.ipynb</a:t>
            </a:r>
          </a:p>
          <a:p xmlns:a="http://schemas.openxmlformats.org/drawingml/2006/main">
            <a:r>
              <a:t/>
            </a:r>
          </a:p>
          <a:p xmlns:a="http://schemas.openxmlformats.org/drawingml/2006/main">
            <a:r>
              <a:t>SOURCES</a:t>
            </a:r>
          </a:p>
          <a:p xmlns:a="http://schemas.openxmlformats.org/drawingml/2006/main">
            <a:r>
              <a:t>notebooks/02_ingestion_and_chunking.ipynb — sections 8 and 9</a:t>
            </a:r>
          </a:p>
          <a:p xmlns:a="http://schemas.openxmlformats.org/drawingml/2006/main">
            <a:r>
              <a:t/>
            </a:r>
          </a:p>
          <a:p xmlns:a="http://schemas.openxmlformats.org/drawingml/2006/main">
            <a:r>
              <a:t>Teaching examples use the fictional Northstar Analytics corpus unless stated otherwise.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7057b3fda44d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33f26aaddf5431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a341aab37f34a8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6cf287e5643425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96a440344334ab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0e001813dc743d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811C433-18CA-4E94-9568-2449D88BE10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F985215-50BD-4E2A-AEE1-2AAB5301FF0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A6808F0-2715-45CF-9159-6F1878DFC58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3443D9-5D99-4A80-9C40-F0AB293FF3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EDB6D4F-1D6E-401F-9437-F000826C48B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97B3901-898B-442F-B6B3-0B2BF54152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EB9A8E-6D7A-4FB0-948D-B29A23908DA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C8970F7-D32C-4BA0-A111-E6E1F971C6C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4185B8-217F-43B1-BE04-0A5DD9C418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6A9CD6A-BEBF-497D-AB57-5F336936981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577edf616d34a7a" /><Relationship Type="http://schemas.openxmlformats.org/officeDocument/2006/relationships/slideLayout" Target="/ppt/slideLayouts/slideLayout1.xml" Id="R1b2cc3223efa41b6" /><Relationship Type="http://schemas.openxmlformats.org/officeDocument/2006/relationships/slideLayout" Target="/ppt/slideLayouts/slideLayout2.xml" Id="R0b2022c94a8b43a2" /><Relationship Type="http://schemas.openxmlformats.org/officeDocument/2006/relationships/slideLayout" Target="/ppt/slideLayouts/slideLayout3.xml" Id="R7e30cf1a77c4444c" /><Relationship Type="http://schemas.openxmlformats.org/officeDocument/2006/relationships/slideLayout" Target="/ppt/slideLayouts/slideLayout4.xml" Id="R3e3fa77c83d34a91" /><Relationship Type="http://schemas.openxmlformats.org/officeDocument/2006/relationships/slideLayout" Target="/ppt/slideLayouts/slideLayout5.xml" Id="R56169d9966fd4d46" /><Relationship Type="http://schemas.openxmlformats.org/officeDocument/2006/relationships/slideLayout" Target="/ppt/slideLayouts/slideLayout6.xml" Id="R7b06c7dc11cb4a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b2cc3223efa41b6"/>
    <p:sldLayoutId xmlns:r="http://schemas.openxmlformats.org/officeDocument/2006/relationships" id="2147483650" r:id="R0b2022c94a8b43a2"/>
    <p:sldLayoutId xmlns:r="http://schemas.openxmlformats.org/officeDocument/2006/relationships" id="2147483651" r:id="R7e30cf1a77c4444c"/>
    <p:sldLayoutId xmlns:r="http://schemas.openxmlformats.org/officeDocument/2006/relationships" id="2147483652" r:id="R3e3fa77c83d34a91"/>
    <p:sldLayoutId xmlns:r="http://schemas.openxmlformats.org/officeDocument/2006/relationships" id="2147483653" r:id="R56169d9966fd4d46"/>
    <p:sldLayoutId xmlns:r="http://schemas.openxmlformats.org/officeDocument/2006/relationships" id="2147483654" r:id="R7b06c7dc11cb4a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314f2be9cb441ac" /><Relationship Type="http://schemas.openxmlformats.org/officeDocument/2006/relationships/image" Target="/ppt/media/image.png" Id="Rd2c0aab25c024b80" /><Relationship Type="http://schemas.openxmlformats.org/officeDocument/2006/relationships/notesSlide" Target="/ppt/notesSlides/notesSlide1.xml" Id="R5f91482dcf764c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9f67bf64f5847a2" /><Relationship Type="http://schemas.openxmlformats.org/officeDocument/2006/relationships/notesSlide" Target="/ppt/notesSlides/notesSlide2.xml" Id="R82669b8dc03c4e4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9d15353946d46f2" /><Relationship Type="http://schemas.openxmlformats.org/officeDocument/2006/relationships/notesSlide" Target="/ppt/notesSlides/notesSlide3.xml" Id="R46b3bd976cfe4ae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a0226f433f64852" /><Relationship Type="http://schemas.openxmlformats.org/officeDocument/2006/relationships/notesSlide" Target="/ppt/notesSlides/notesSlide4.xml" Id="R8b121aee95fe48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b09a2ef063842ec" /><Relationship Type="http://schemas.openxmlformats.org/officeDocument/2006/relationships/notesSlide" Target="/ppt/notesSlides/notesSlide5.xml" Id="R062f89358a7e43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4a37f13fd1b4eff" /><Relationship Type="http://schemas.openxmlformats.org/officeDocument/2006/relationships/notesSlide" Target="/ppt/notesSlides/notesSlide6.xml" Id="R191ee30bea31411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2fcab0a3766442e" /><Relationship Type="http://schemas.openxmlformats.org/officeDocument/2006/relationships/notesSlide" Target="/ppt/notesSlides/notesSlide7.xml" Id="R5ae58e804473469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9c28e13648e4ba1" /><Relationship Type="http://schemas.openxmlformats.org/officeDocument/2006/relationships/notesSlide" Target="/ppt/notesSlides/notesSlide8.xml" Id="Rf2872b00e37346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f1755a0c12749ba" /><Relationship Type="http://schemas.openxmlformats.org/officeDocument/2006/relationships/notesSlide" Target="/ppt/notesSlides/notesSlide9.xml" Id="Rbcb0c5d0fa9e400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CC4D4286-29B8-4465-A73F-73B0E01E856E}"/>
              </a:ext>
            </a:extLst>
          </p:cNvPr>
          <p:cNvPicPr>
            <a:picLocks xmlns:a="http://schemas.openxmlformats.org/drawingml/2006/main" noChangeAspect="1"/>
          </p:cNvPicPr>
          <p:nvPr/>
        </p:nvPicPr>
        <p:blipFill>
          <a:blip xmlns:r="http://schemas.openxmlformats.org/officeDocument/2006/relationships" xmlns:a="http://schemas.openxmlformats.org/drawingml/2006/main" r:embed="Rd2c0aab25c024b8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xt">
            <a:extLst xmlns:a="http://schemas.openxmlformats.org/drawingml/2006/main">
              <a:ext uri="{FF2B5EF4-FFF2-40B4-BE49-F238E27FC236}">
                <a16:creationId xmlns:a16="http://schemas.microsoft.com/office/drawing/2014/main" id="{07F87CB8-1971-452F-BA93-1CBBEF2780E6}"/>
              </a:ext>
            </a:extLst>
          </p:cNvPr>
          <p:cNvSpPr>
            <a:spLocks xmlns:a="http://schemas.openxmlformats.org/drawingml/2006/main" noGrp="1"/>
          </p:cNvSpPr>
          <p:nvPr/>
        </p:nvSpPr>
        <p:spPr>
          <a:xfrm xmlns:a="http://schemas.openxmlformats.org/drawingml/2006/main">
            <a:off x="609600" y="609600"/>
            <a:ext cx="781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1">
                <a:solidFill>
                  <a:srgbClr val="70D2CD"/>
                </a:solidFill>
                <a:latin typeface="Calibri"/>
                <a:ea typeface="Calibri"/>
                <a:cs typeface="Calibri"/>
              </a:defRPr>
            </a:defPPr>
          </a:lstStyle>
          <a:p xmlns:a="http://schemas.openxmlformats.org/drawingml/2006/main">
            <a:pPr>
              <a:defRPr sz="1575" b="1">
                <a:solidFill>
                  <a:srgbClr val="70D2CD"/>
                </a:solidFill>
                <a:latin typeface="Calibri"/>
                <a:ea typeface="Calibri"/>
                <a:cs typeface="Calibri"/>
              </a:defRPr>
            </a:pPr>
            <a:r>
              <a:rPr sz="1575" b="1">
                <a:solidFill>
                  <a:srgbClr val="70D2CD"/>
                </a:solidFill>
                <a:latin typeface="Calibri"/>
                <a:ea typeface="Calibri"/>
                <a:cs typeface="Calibri"/>
              </a:rPr>
              <a:t>RAG WORKSHOP  /  NOTEBOOK 02</a:t>
            </a:r>
          </a:p>
        </p:txBody>
      </p:sp>
      <p:sp>
        <p:nvSpPr>
          <p:cNvPr id="3" name="deck-title">
            <a:extLst xmlns:a="http://schemas.openxmlformats.org/drawingml/2006/main">
              <a:ext uri="{FF2B5EF4-FFF2-40B4-BE49-F238E27FC236}">
                <a16:creationId xmlns:a16="http://schemas.microsoft.com/office/drawing/2014/main" id="{6B6D5214-1B36-47CF-AD76-CEAD76B46DC0}"/>
              </a:ext>
            </a:extLst>
          </p:cNvPr>
          <p:cNvSpPr>
            <a:spLocks xmlns:a="http://schemas.openxmlformats.org/drawingml/2006/main" noGrp="1"/>
          </p:cNvSpPr>
          <p:nvPr/>
        </p:nvSpPr>
        <p:spPr>
          <a:xfrm xmlns:a="http://schemas.openxmlformats.org/drawingml/2006/main">
            <a:off x="609600" y="2124075"/>
            <a:ext cx="80962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FFFFF"/>
                </a:solidFill>
                <a:latin typeface="Calibri"/>
                <a:ea typeface="Calibri"/>
                <a:cs typeface="Calibri"/>
              </a:defRPr>
            </a:defPPr>
          </a:lstStyle>
          <a:p xmlns:a="http://schemas.openxmlformats.org/drawingml/2006/main">
            <a:pPr>
              <a:defRPr sz="4800" b="1">
                <a:solidFill>
                  <a:srgbClr val="FFFFFF"/>
                </a:solidFill>
                <a:latin typeface="Calibri"/>
                <a:ea typeface="Calibri"/>
                <a:cs typeface="Calibri"/>
              </a:defRPr>
            </a:pPr>
            <a:r>
              <a:rPr sz="4800" b="1">
                <a:solidFill>
                  <a:srgbClr val="FFFFFF"/>
                </a:solidFill>
                <a:latin typeface="Calibri"/>
                <a:ea typeface="Calibri"/>
                <a:cs typeface="Calibri"/>
              </a:rPr>
              <a:t>Ingest files and design useful chunks</a:t>
            </a:r>
          </a:p>
        </p:txBody>
      </p:sp>
      <p:sp>
        <p:nvSpPr>
          <p:cNvPr id="4" name="text">
            <a:extLst xmlns:a="http://schemas.openxmlformats.org/drawingml/2006/main">
              <a:ext uri="{FF2B5EF4-FFF2-40B4-BE49-F238E27FC236}">
                <a16:creationId xmlns:a16="http://schemas.microsoft.com/office/drawing/2014/main" id="{37BB4452-BFB8-4C92-8CD5-94037DC282C4}"/>
              </a:ext>
            </a:extLst>
          </p:cNvPr>
          <p:cNvSpPr>
            <a:spLocks xmlns:a="http://schemas.openxmlformats.org/drawingml/2006/main" noGrp="1"/>
          </p:cNvSpPr>
          <p:nvPr/>
        </p:nvSpPr>
        <p:spPr>
          <a:xfrm xmlns:a="http://schemas.openxmlformats.org/drawingml/2006/main">
            <a:off x="609600" y="4171950"/>
            <a:ext cx="7334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CADBE3"/>
                </a:solidFill>
                <a:latin typeface="Calibri"/>
                <a:ea typeface="Calibri"/>
                <a:cs typeface="Calibri"/>
              </a:defRPr>
            </a:defPPr>
          </a:lstStyle>
          <a:p xmlns:a="http://schemas.openxmlformats.org/drawingml/2006/main">
            <a:pPr>
              <a:defRPr sz="2250" b="0">
                <a:solidFill>
                  <a:srgbClr val="CADBE3"/>
                </a:solidFill>
                <a:latin typeface="Calibri"/>
                <a:ea typeface="Calibri"/>
                <a:cs typeface="Calibri"/>
              </a:defRPr>
            </a:pPr>
            <a:r>
              <a:rPr sz="2250" b="0">
                <a:solidFill>
                  <a:srgbClr val="CADBE3"/>
                </a:solidFill>
                <a:latin typeface="Calibri"/>
                <a:ea typeface="Calibri"/>
                <a:cs typeface="Calibri"/>
              </a:rPr>
              <a:t>Loaders · Provenance · Overlap · Measurable boundary tradeoffs</a:t>
            </a:r>
          </a:p>
        </p:txBody>
      </p:sp>
      <p:sp>
        <p:nvSpPr>
          <p:cNvPr id="5" name="text">
            <a:extLst xmlns:a="http://schemas.openxmlformats.org/drawingml/2006/main">
              <a:ext uri="{FF2B5EF4-FFF2-40B4-BE49-F238E27FC236}">
                <a16:creationId xmlns:a16="http://schemas.microsoft.com/office/drawing/2014/main" id="{5824DCCC-C5A3-4DBE-8581-39F5E2194FFA}"/>
              </a:ext>
            </a:extLst>
          </p:cNvPr>
          <p:cNvSpPr>
            <a:spLocks xmlns:a="http://schemas.openxmlformats.org/drawingml/2006/main" noGrp="1"/>
          </p:cNvSpPr>
          <p:nvPr/>
        </p:nvSpPr>
        <p:spPr>
          <a:xfrm xmlns:a="http://schemas.openxmlformats.org/drawingml/2006/main">
            <a:off x="609600" y="6181725"/>
            <a:ext cx="1038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AEC3D0"/>
                </a:solidFill>
                <a:latin typeface="Calibri"/>
                <a:ea typeface="Calibri"/>
                <a:cs typeface="Calibri"/>
              </a:defRPr>
            </a:defPPr>
          </a:lstStyle>
          <a:p xmlns:a="http://schemas.openxmlformats.org/drawingml/2006/main">
            <a:pPr>
              <a:defRPr sz="1575" b="0">
                <a:solidFill>
                  <a:srgbClr val="AEC3D0"/>
                </a:solidFill>
                <a:latin typeface="Calibri"/>
                <a:ea typeface="Calibri"/>
                <a:cs typeface="Calibri"/>
              </a:defRPr>
            </a:pPr>
            <a:r>
              <a:rPr sz="1575" b="0">
                <a:solidFill>
                  <a:srgbClr val="AEC3D0"/>
                </a:solidFill>
                <a:latin typeface="Calibri"/>
                <a:ea typeface="Calibri"/>
                <a:cs typeface="Calibri"/>
              </a:rPr>
              <a:t>02_ingestion_and_chunking.ipynb</a:t>
            </a:r>
          </a:p>
        </p:txBody>
      </p:sp>
    </p:spTree>
    <p:extLst>
      <p:ext uri="{BB962C8B-B14F-4D97-AF65-F5344CB8AC3E}">
        <p14:creationId xmlns:p14="http://schemas.microsoft.com/office/powerpoint/2010/main" val="1305398010"/>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1186536F-44AD-407A-A2AF-A65B7D09D79B}"/>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02</a:t>
            </a:r>
          </a:p>
        </p:txBody>
      </p:sp>
      <p:sp>
        <p:nvSpPr>
          <p:cNvPr id="2" name="slide-title">
            <a:extLst xmlns:a="http://schemas.openxmlformats.org/drawingml/2006/main">
              <a:ext uri="{FF2B5EF4-FFF2-40B4-BE49-F238E27FC236}">
                <a16:creationId xmlns:a16="http://schemas.microsoft.com/office/drawing/2014/main" id="{ED8DC698-FECF-4A6A-B29B-17ECA27C06F6}"/>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A chunk is the unit a retriever can find</a:t>
            </a:r>
          </a:p>
        </p:txBody>
      </p:sp>
      <p:sp>
        <p:nvSpPr>
          <p:cNvPr id="3" name="lead">
            <a:extLst xmlns:a="http://schemas.openxmlformats.org/drawingml/2006/main">
              <a:ext uri="{FF2B5EF4-FFF2-40B4-BE49-F238E27FC236}">
                <a16:creationId xmlns:a16="http://schemas.microsoft.com/office/drawing/2014/main" id="{31A3682F-3303-4007-9602-8416A6EC3F64}"/>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Useful chunks balance precise matching with enough context to interpret the fact correctly.</a:t>
            </a:r>
          </a:p>
        </p:txBody>
      </p:sp>
      <p:sp>
        <p:nvSpPr>
          <p:cNvPr id="4" name="text">
            <a:extLst xmlns:a="http://schemas.openxmlformats.org/drawingml/2006/main">
              <a:ext uri="{FF2B5EF4-FFF2-40B4-BE49-F238E27FC236}">
                <a16:creationId xmlns:a16="http://schemas.microsoft.com/office/drawing/2014/main" id="{5E4F61DE-30C2-47E0-B938-98F8E836579F}"/>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02  /  Ingest files and design useful chunks</a:t>
            </a:r>
          </a:p>
        </p:txBody>
      </p:sp>
      <p:sp>
        <p:nvSpPr>
          <p:cNvPr id="5" name="page-number">
            <a:extLst xmlns:a="http://schemas.openxmlformats.org/drawingml/2006/main">
              <a:ext uri="{FF2B5EF4-FFF2-40B4-BE49-F238E27FC236}">
                <a16:creationId xmlns:a16="http://schemas.microsoft.com/office/drawing/2014/main" id="{5B571766-7E1B-43C8-ADE1-7947EC18DF78}"/>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02</a:t>
            </a:r>
          </a:p>
        </p:txBody>
      </p:sp>
      <p:sp>
        <p:nvSpPr>
          <p:cNvPr id="6" name="text">
            <a:extLst xmlns:a="http://schemas.openxmlformats.org/drawingml/2006/main">
              <a:ext uri="{FF2B5EF4-FFF2-40B4-BE49-F238E27FC236}">
                <a16:creationId xmlns:a16="http://schemas.microsoft.com/office/drawing/2014/main" id="{B8DF121F-AD63-4B7C-B329-9AB293466883}"/>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Source document</a:t>
            </a:r>
          </a:p>
        </p:txBody>
      </p:sp>
      <p:sp>
        <p:nvSpPr>
          <p:cNvPr id="7" name="text">
            <a:extLst xmlns:a="http://schemas.openxmlformats.org/drawingml/2006/main">
              <a:ext uri="{FF2B5EF4-FFF2-40B4-BE49-F238E27FC236}">
                <a16:creationId xmlns:a16="http://schemas.microsoft.com/office/drawing/2014/main" id="{D5033ECA-D885-4CF5-8071-3150E908A264}"/>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The original TXT, Markdown file, or extracted PDF page that provides evidence.</a:t>
            </a:r>
          </a:p>
        </p:txBody>
      </p:sp>
      <p:sp>
        <p:nvSpPr>
          <p:cNvPr id="8" name="text">
            <a:extLst xmlns:a="http://schemas.openxmlformats.org/drawingml/2006/main">
              <a:ext uri="{FF2B5EF4-FFF2-40B4-BE49-F238E27FC236}">
                <a16:creationId xmlns:a16="http://schemas.microsoft.com/office/drawing/2014/main" id="{A4823757-C160-457B-B13B-765F2A8EDCAE}"/>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Chunk</a:t>
            </a:r>
          </a:p>
        </p:txBody>
      </p:sp>
      <p:sp>
        <p:nvSpPr>
          <p:cNvPr id="9" name="text">
            <a:extLst xmlns:a="http://schemas.openxmlformats.org/drawingml/2006/main">
              <a:ext uri="{FF2B5EF4-FFF2-40B4-BE49-F238E27FC236}">
                <a16:creationId xmlns:a16="http://schemas.microsoft.com/office/drawing/2014/main" id="{37C796DB-5529-4CEA-BC7B-1A41EE9F2053}"/>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 smaller piece indexed for retrieval, with a link back to its parent source.</a:t>
            </a:r>
          </a:p>
        </p:txBody>
      </p:sp>
      <p:sp>
        <p:nvSpPr>
          <p:cNvPr id="10" name="text">
            <a:extLst xmlns:a="http://schemas.openxmlformats.org/drawingml/2006/main">
              <a:ext uri="{FF2B5EF4-FFF2-40B4-BE49-F238E27FC236}">
                <a16:creationId xmlns:a16="http://schemas.microsoft.com/office/drawing/2014/main" id="{39B99B69-BECF-42B0-AEA1-221BA6190436}"/>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Word</a:t>
            </a:r>
          </a:p>
        </p:txBody>
      </p:sp>
      <p:sp>
        <p:nvSpPr>
          <p:cNvPr id="11" name="text">
            <a:extLst xmlns:a="http://schemas.openxmlformats.org/drawingml/2006/main">
              <a:ext uri="{FF2B5EF4-FFF2-40B4-BE49-F238E27FC236}">
                <a16:creationId xmlns:a16="http://schemas.microsoft.com/office/drawing/2014/main" id="{E9753BF6-D280-4504-94BC-286E136C3F6E}"/>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This notebook uses whitespace-separated words to make window boundaries easy to inspect.</a:t>
            </a:r>
          </a:p>
        </p:txBody>
      </p:sp>
      <p:sp>
        <p:nvSpPr>
          <p:cNvPr id="12" name="text">
            <a:extLst xmlns:a="http://schemas.openxmlformats.org/drawingml/2006/main">
              <a:ext uri="{FF2B5EF4-FFF2-40B4-BE49-F238E27FC236}">
                <a16:creationId xmlns:a16="http://schemas.microsoft.com/office/drawing/2014/main" id="{B98F7D98-DF88-4DB5-BC02-B28DA4C64691}"/>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Token</a:t>
            </a:r>
          </a:p>
        </p:txBody>
      </p:sp>
      <p:sp>
        <p:nvSpPr>
          <p:cNvPr id="13" name="text">
            <a:extLst xmlns:a="http://schemas.openxmlformats.org/drawingml/2006/main">
              <a:ext uri="{FF2B5EF4-FFF2-40B4-BE49-F238E27FC236}">
                <a16:creationId xmlns:a16="http://schemas.microsoft.com/office/drawing/2014/main" id="{1B6789A7-98F3-4934-B7EB-5EA4D21FD5B8}"/>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 model-specific text unit. Word counts do not equal the token counts used for model limits.</a:t>
            </a:r>
          </a:p>
        </p:txBody>
      </p:sp>
    </p:spTree>
    <p:extLst>
      <p:ext uri="{BB962C8B-B14F-4D97-AF65-F5344CB8AC3E}">
        <p14:creationId xmlns:p14="http://schemas.microsoft.com/office/powerpoint/2010/main" val="1500645590"/>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94AA0B48-F9D7-4F79-B81E-1C5841109119}"/>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WORKFLOW  /  NOTEBOOK 02</a:t>
            </a:r>
          </a:p>
        </p:txBody>
      </p:sp>
      <p:sp>
        <p:nvSpPr>
          <p:cNvPr id="2" name="slide-title">
            <a:extLst xmlns:a="http://schemas.openxmlformats.org/drawingml/2006/main">
              <a:ext uri="{FF2B5EF4-FFF2-40B4-BE49-F238E27FC236}">
                <a16:creationId xmlns:a16="http://schemas.microsoft.com/office/drawing/2014/main" id="{12DCC24C-7DF2-47F0-B363-922626355750}"/>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Turn files into traceable retrieval records</a:t>
            </a:r>
          </a:p>
        </p:txBody>
      </p:sp>
      <p:sp>
        <p:nvSpPr>
          <p:cNvPr id="3" name="lead">
            <a:extLst xmlns:a="http://schemas.openxmlformats.org/drawingml/2006/main">
              <a:ext uri="{FF2B5EF4-FFF2-40B4-BE49-F238E27FC236}">
                <a16:creationId xmlns:a16="http://schemas.microsoft.com/office/drawing/2014/main" id="{CD3330DC-1CE6-4BDF-A4B0-D7CE2A3068AF}"/>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Keep the source identity attached throughout extraction, cleaning, and splitting.</a:t>
            </a:r>
          </a:p>
        </p:txBody>
      </p:sp>
      <p:sp>
        <p:nvSpPr>
          <p:cNvPr id="4" name="text">
            <a:extLst xmlns:a="http://schemas.openxmlformats.org/drawingml/2006/main">
              <a:ext uri="{FF2B5EF4-FFF2-40B4-BE49-F238E27FC236}">
                <a16:creationId xmlns:a16="http://schemas.microsoft.com/office/drawing/2014/main" id="{F5B07D95-171E-4F8C-A702-89292495568B}"/>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02  /  Ingest files and design useful chunks</a:t>
            </a:r>
          </a:p>
        </p:txBody>
      </p:sp>
      <p:sp>
        <p:nvSpPr>
          <p:cNvPr id="5" name="page-number">
            <a:extLst xmlns:a="http://schemas.openxmlformats.org/drawingml/2006/main">
              <a:ext uri="{FF2B5EF4-FFF2-40B4-BE49-F238E27FC236}">
                <a16:creationId xmlns:a16="http://schemas.microsoft.com/office/drawing/2014/main" id="{4703F1C9-29B4-4545-AFCD-1C4A58A87BF1}"/>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03</a:t>
            </a:r>
          </a:p>
        </p:txBody>
      </p:sp>
      <p:graphicFrame>
        <p:nvGraphicFramePr>
          <p:cNvPr id="6" name="">
            <a:extLst xmlns:a="http://schemas.openxmlformats.org/drawingml/2006/main">
              <a:ext uri="{FF2B5EF4-FFF2-40B4-BE49-F238E27FC236}">
                <a16:creationId xmlns:a16="http://schemas.microsoft.com/office/drawing/2014/main" id="{3E3C62A1-E7E0-4B1F-83FE-A88993140F1D}"/>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952500"/>
                <a:gridCol w="2800350"/>
                <a:gridCol w="7219950"/>
              </a:tblGrid>
              <a:tr h="466725">
                <a:tc>
                  <a:txBody>
                    <a:bodyPr wrap="square" lIns="133350" tIns="95250" rIns="133350" bIns="95250">
                      <a:noAutofit/>
                    </a:bodyPr>
                    <a:lstStyle/>
                    <a:p>
                      <a:r>
                        <a:rPr sz="1800" b="1">
                          <a:solidFill>
                            <a:srgbClr val="FFFFFF"/>
                          </a:solidFill>
                          <a:latin typeface="Calibri"/>
                          <a:ea typeface="Calibri"/>
                          <a:cs typeface="Calibri"/>
                        </a:rPr>
                        <a:t>Step</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Operation</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What to inspect</a:t>
                      </a:r>
                    </a:p>
                  </a:txBody>
                  <a:tcPr marL="91440" marR="91440" marT="45720" marB="45720">
                    <a:solidFill>
                      <a:srgbClr val="102F3E"/>
                    </a:solidFill>
                  </a:tcPr>
                </a:tc>
              </a:tr>
              <a:tr h="812006">
                <a:tc>
                  <a:txBody>
                    <a:bodyPr wrap="square" lIns="133350" tIns="95250" rIns="133350" bIns="95250">
                      <a:noAutofit/>
                    </a:bodyPr>
                    <a:lstStyle/>
                    <a:p>
                      <a:r>
                        <a:rPr sz="1875" b="0">
                          <a:solidFill>
                            <a:srgbClr val="102F3E"/>
                          </a:solidFill>
                          <a:latin typeface="Calibri"/>
                          <a:ea typeface="Calibri"/>
                          <a:cs typeface="Calibri"/>
                        </a:rPr>
                        <a:t>01</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Load</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Read UTF-8 TXT and Markdown; extract text from each text-based PDF page.</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02</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Clean gently</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Normalize line endings and repeated spaces while keeping paragraph structure and punctuation.</a:t>
                      </a:r>
                    </a:p>
                  </a:txBody>
                  <a:tcPr marL="91440" marR="91440" marT="45720" marB="45720">
                    <a:solidFill>
                      <a:srgbClr val="EDF2F1"/>
                    </a:solidFill>
                  </a:tcPr>
                </a:tc>
              </a:tr>
              <a:tr h="812006">
                <a:tc>
                  <a:txBody>
                    <a:bodyPr wrap="square" lIns="133350" tIns="95250" rIns="133350" bIns="95250">
                      <a:noAutofit/>
                    </a:bodyPr>
                    <a:lstStyle/>
                    <a:p>
                      <a:r>
                        <a:rPr sz="1875" b="0">
                          <a:solidFill>
                            <a:srgbClr val="102F3E"/>
                          </a:solidFill>
                          <a:latin typeface="Calibri"/>
                          <a:ea typeface="Calibri"/>
                          <a:cs typeface="Calibri"/>
                        </a:rPr>
                        <a:t>03</a:t>
                      </a:r>
                    </a:p>
                  </a:txBody>
                  <a:tcPr marL="91440" marR="91440" marT="45720" marB="45720">
                    <a:solidFill>
                      <a:srgbClr val="FFFFFF"/>
                    </a:solidFill>
                  </a:tcPr>
                </a:tc>
                <a:tc>
                  <a:txBody>
                    <a:bodyPr wrap="square" lIns="133350" tIns="95250" rIns="133350" bIns="95250">
                      <a:noAutofit/>
                    </a:bodyPr>
                    <a:lstStyle/>
                    <a:p>
                      <a:r>
                        <a:rPr sz="1875" b="1">
                          <a:solidFill>
                            <a:srgbClr val="102F3E"/>
                          </a:solidFill>
                          <a:latin typeface="Calibri"/>
                          <a:ea typeface="Calibri"/>
                          <a:cs typeface="Calibri"/>
                        </a:rPr>
                        <a:t>Split</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Create bounded chunks and attach source_id plus start/end word offsets.</a:t>
                      </a:r>
                    </a:p>
                  </a:txBody>
                  <a:tcPr marL="91440" marR="91440" marT="45720" marB="45720">
                    <a:solidFill>
                      <a:srgbClr val="FFFFFF"/>
                    </a:solidFill>
                  </a:tcPr>
                </a:tc>
              </a:tr>
              <a:tr h="812006">
                <a:tc>
                  <a:txBody>
                    <a:bodyPr wrap="square" lIns="133350" tIns="95250" rIns="133350" bIns="95250">
                      <a:noAutofit/>
                    </a:bodyPr>
                    <a:lstStyle/>
                    <a:p>
                      <a:r>
                        <a:rPr sz="1875" b="0">
                          <a:solidFill>
                            <a:srgbClr val="102F3E"/>
                          </a:solidFill>
                          <a:latin typeface="Calibri"/>
                          <a:ea typeface="Calibri"/>
                          <a:cs typeface="Calibri"/>
                        </a:rPr>
                        <a:t>04</a:t>
                      </a:r>
                    </a:p>
                  </a:txBody>
                  <a:tcPr marL="91440" marR="91440" marT="45720" marB="45720">
                    <a:solidFill>
                      <a:srgbClr val="EDF2F1"/>
                    </a:solidFill>
                  </a:tcPr>
                </a:tc>
                <a:tc>
                  <a:txBody>
                    <a:bodyPr wrap="square" lIns="133350" tIns="95250" rIns="133350" bIns="95250">
                      <a:noAutofit/>
                    </a:bodyPr>
                    <a:lstStyle/>
                    <a:p>
                      <a:r>
                        <a:rPr sz="1875" b="1">
                          <a:solidFill>
                            <a:srgbClr val="102F3E"/>
                          </a:solidFill>
                          <a:latin typeface="Calibri"/>
                          <a:ea typeface="Calibri"/>
                          <a:cs typeface="Calibri"/>
                        </a:rPr>
                        <a:t>Check</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Confirm nonempty text, unique IDs, source metadata, and size bounds before indexing.</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1643373033"/>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E8597B17-6FF6-4BFB-B76A-9F1D42E9EAF1}"/>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02</a:t>
            </a:r>
          </a:p>
        </p:txBody>
      </p:sp>
      <p:sp>
        <p:nvSpPr>
          <p:cNvPr id="2" name="slide-title">
            <a:extLst xmlns:a="http://schemas.openxmlformats.org/drawingml/2006/main">
              <a:ext uri="{FF2B5EF4-FFF2-40B4-BE49-F238E27FC236}">
                <a16:creationId xmlns:a16="http://schemas.microsoft.com/office/drawing/2014/main" id="{4E5E31C5-7C4D-4DC4-8C29-D5C42C3B35B8}"/>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Choose extraction based on the actual file</a:t>
            </a:r>
          </a:p>
        </p:txBody>
      </p:sp>
      <p:sp>
        <p:nvSpPr>
          <p:cNvPr id="3" name="lead">
            <a:extLst xmlns:a="http://schemas.openxmlformats.org/drawingml/2006/main">
              <a:ext uri="{FF2B5EF4-FFF2-40B4-BE49-F238E27FC236}">
                <a16:creationId xmlns:a16="http://schemas.microsoft.com/office/drawing/2014/main" id="{0DB339F4-823B-4043-BE32-9081A36DD965}"/>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PDF can contain selectable text, images of text, or a mixture of both.</a:t>
            </a:r>
          </a:p>
        </p:txBody>
      </p:sp>
      <p:sp>
        <p:nvSpPr>
          <p:cNvPr id="4" name="text">
            <a:extLst xmlns:a="http://schemas.openxmlformats.org/drawingml/2006/main">
              <a:ext uri="{FF2B5EF4-FFF2-40B4-BE49-F238E27FC236}">
                <a16:creationId xmlns:a16="http://schemas.microsoft.com/office/drawing/2014/main" id="{41A10CCD-260F-44EF-85E7-E2E996B43FFD}"/>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02  /  Ingest files and design useful chunks</a:t>
            </a:r>
          </a:p>
        </p:txBody>
      </p:sp>
      <p:sp>
        <p:nvSpPr>
          <p:cNvPr id="5" name="page-number">
            <a:extLst xmlns:a="http://schemas.openxmlformats.org/drawingml/2006/main">
              <a:ext uri="{FF2B5EF4-FFF2-40B4-BE49-F238E27FC236}">
                <a16:creationId xmlns:a16="http://schemas.microsoft.com/office/drawing/2014/main" id="{BA638D7A-0BBB-4258-8DAE-DDD6AE9148F6}"/>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04</a:t>
            </a:r>
          </a:p>
        </p:txBody>
      </p:sp>
      <p:graphicFrame>
        <p:nvGraphicFramePr>
          <p:cNvPr id="6" name="">
            <a:extLst xmlns:a="http://schemas.openxmlformats.org/drawingml/2006/main">
              <a:ext uri="{FF2B5EF4-FFF2-40B4-BE49-F238E27FC236}">
                <a16:creationId xmlns:a16="http://schemas.microsoft.com/office/drawing/2014/main" id="{CDFB2B86-5E68-4246-B650-426FC175B83B}"/>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TXT / Markdown</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Read UTF-8 text directly. Keep Markdown headings because they carry useful structure.</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Text-based PDF</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Use pypdf per page; retain page numbers and inspect columns, tables, and reading order.</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Scanned PDF</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An image-only page has no extractable text for pypdf; it needs OCR or a visual-document approach.</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Empty extraction</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Report and skip the empty page in this loader; do not silently treat it as a successful ingestion.</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810259729"/>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76AFC604-EC67-4EB1-A4E3-AEE7BA7B7E13}"/>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EXAMPLE  /  NOTEBOOK 02</a:t>
            </a:r>
          </a:p>
        </p:txBody>
      </p:sp>
      <p:sp>
        <p:nvSpPr>
          <p:cNvPr id="2" name="slide-title">
            <a:extLst xmlns:a="http://schemas.openxmlformats.org/drawingml/2006/main">
              <a:ext uri="{FF2B5EF4-FFF2-40B4-BE49-F238E27FC236}">
                <a16:creationId xmlns:a16="http://schemas.microsoft.com/office/drawing/2014/main" id="{70A6539F-ED45-47F3-9342-C773758B2C4D}"/>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Calculate an overlapping word window</a:t>
            </a:r>
          </a:p>
        </p:txBody>
      </p:sp>
      <p:sp>
        <p:nvSpPr>
          <p:cNvPr id="3" name="lead">
            <a:extLst xmlns:a="http://schemas.openxmlformats.org/drawingml/2006/main">
              <a:ext uri="{FF2B5EF4-FFF2-40B4-BE49-F238E27FC236}">
                <a16:creationId xmlns:a16="http://schemas.microsoft.com/office/drawing/2014/main" id="{04EB8C74-A0AE-4532-B579-F0611D23A188}"/>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With size 20 and overlap 5, each new chunk begins 15 words after the previous one.</a:t>
            </a:r>
          </a:p>
        </p:txBody>
      </p:sp>
      <p:sp>
        <p:nvSpPr>
          <p:cNvPr id="4" name="text">
            <a:extLst xmlns:a="http://schemas.openxmlformats.org/drawingml/2006/main">
              <a:ext uri="{FF2B5EF4-FFF2-40B4-BE49-F238E27FC236}">
                <a16:creationId xmlns:a16="http://schemas.microsoft.com/office/drawing/2014/main" id="{6AAE80EB-BC0E-48F5-9F4C-8779B958014B}"/>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02  /  Ingest files and design useful chunks</a:t>
            </a:r>
          </a:p>
        </p:txBody>
      </p:sp>
      <p:sp>
        <p:nvSpPr>
          <p:cNvPr id="5" name="page-number">
            <a:extLst xmlns:a="http://schemas.openxmlformats.org/drawingml/2006/main">
              <a:ext uri="{FF2B5EF4-FFF2-40B4-BE49-F238E27FC236}">
                <a16:creationId xmlns:a16="http://schemas.microsoft.com/office/drawing/2014/main" id="{7843F32D-F93F-4C78-AFD7-4F43B28606FB}"/>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05</a:t>
            </a:r>
          </a:p>
        </p:txBody>
      </p:sp>
      <p:sp>
        <p:nvSpPr>
          <p:cNvPr id="6" name="text">
            <a:extLst xmlns:a="http://schemas.openxmlformats.org/drawingml/2006/main">
              <a:ext uri="{FF2B5EF4-FFF2-40B4-BE49-F238E27FC236}">
                <a16:creationId xmlns:a16="http://schemas.microsoft.com/office/drawing/2014/main" id="{DE5BD5C5-41CF-4A96-AA3B-5ADF27F60A5D}"/>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Stride</a:t>
            </a:r>
          </a:p>
        </p:txBody>
      </p:sp>
      <p:sp>
        <p:nvSpPr>
          <p:cNvPr id="7" name="text">
            <a:extLst xmlns:a="http://schemas.openxmlformats.org/drawingml/2006/main">
              <a:ext uri="{FF2B5EF4-FFF2-40B4-BE49-F238E27FC236}">
                <a16:creationId xmlns:a16="http://schemas.microsoft.com/office/drawing/2014/main" id="{E6D768E0-D677-4476-A3D5-B93F0F429B9A}"/>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stride = size − overlap = 20 − 5 = 15 words.</a:t>
            </a:r>
          </a:p>
        </p:txBody>
      </p:sp>
      <p:sp>
        <p:nvSpPr>
          <p:cNvPr id="8" name="text">
            <a:extLst xmlns:a="http://schemas.openxmlformats.org/drawingml/2006/main">
              <a:ext uri="{FF2B5EF4-FFF2-40B4-BE49-F238E27FC236}">
                <a16:creationId xmlns:a16="http://schemas.microsoft.com/office/drawing/2014/main" id="{FDA0295D-8B7E-4343-A49B-04E6155FE6E7}"/>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First window</a:t>
            </a:r>
          </a:p>
        </p:txBody>
      </p:sp>
      <p:sp>
        <p:nvSpPr>
          <p:cNvPr id="9" name="text">
            <a:extLst xmlns:a="http://schemas.openxmlformats.org/drawingml/2006/main">
              <a:ext uri="{FF2B5EF4-FFF2-40B4-BE49-F238E27FC236}">
                <a16:creationId xmlns:a16="http://schemas.microsoft.com/office/drawing/2014/main" id="{D8698DF4-6E7D-4119-A8A1-E97892D8417D}"/>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Words [0, 20): includes positions 0–19; the end offset is exclusive.</a:t>
            </a:r>
          </a:p>
        </p:txBody>
      </p:sp>
      <p:sp>
        <p:nvSpPr>
          <p:cNvPr id="10" name="text">
            <a:extLst xmlns:a="http://schemas.openxmlformats.org/drawingml/2006/main">
              <a:ext uri="{FF2B5EF4-FFF2-40B4-BE49-F238E27FC236}">
                <a16:creationId xmlns:a16="http://schemas.microsoft.com/office/drawing/2014/main" id="{B73CF056-D21D-4E66-B239-61729D3A28C4}"/>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Second window</a:t>
            </a:r>
          </a:p>
        </p:txBody>
      </p:sp>
      <p:sp>
        <p:nvSpPr>
          <p:cNvPr id="11" name="text">
            <a:extLst xmlns:a="http://schemas.openxmlformats.org/drawingml/2006/main">
              <a:ext uri="{FF2B5EF4-FFF2-40B4-BE49-F238E27FC236}">
                <a16:creationId xmlns:a16="http://schemas.microsoft.com/office/drawing/2014/main" id="{ADC17CFF-1E1E-46F9-A63F-0863BB73DF52}"/>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Words [15, 35): repeats five words from the first chunk to preserve boundary context.</a:t>
            </a:r>
          </a:p>
        </p:txBody>
      </p:sp>
      <p:sp>
        <p:nvSpPr>
          <p:cNvPr id="12" name="text">
            <a:extLst xmlns:a="http://schemas.openxmlformats.org/drawingml/2006/main">
              <a:ext uri="{FF2B5EF4-FFF2-40B4-BE49-F238E27FC236}">
                <a16:creationId xmlns:a16="http://schemas.microsoft.com/office/drawing/2014/main" id="{FC91D5E6-C94A-4CD0-9924-BD73F3DD71DF}"/>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087E83"/>
                </a:solidFill>
                <a:latin typeface="Calibri"/>
                <a:ea typeface="Calibri"/>
                <a:cs typeface="Calibri"/>
              </a:defRPr>
            </a:defPPr>
          </a:lstStyle>
          <a:p xmlns:a="http://schemas.openxmlformats.org/drawingml/2006/main">
            <a:pPr>
              <a:defRPr sz="2175" b="1">
                <a:solidFill>
                  <a:srgbClr val="087E83"/>
                </a:solidFill>
                <a:latin typeface="Calibri"/>
                <a:ea typeface="Calibri"/>
                <a:cs typeface="Calibri"/>
              </a:defRPr>
            </a:pPr>
            <a:r>
              <a:rPr sz="2175" b="1">
                <a:solidFill>
                  <a:srgbClr val="087E83"/>
                </a:solidFill>
                <a:latin typeface="Calibri"/>
                <a:ea typeface="Calibri"/>
                <a:cs typeface="Calibri"/>
              </a:rPr>
              <a:t>Valid settings</a:t>
            </a:r>
          </a:p>
        </p:txBody>
      </p:sp>
      <p:sp>
        <p:nvSpPr>
          <p:cNvPr id="13" name="text">
            <a:extLst xmlns:a="http://schemas.openxmlformats.org/drawingml/2006/main">
              <a:ext uri="{FF2B5EF4-FFF2-40B4-BE49-F238E27FC236}">
                <a16:creationId xmlns:a16="http://schemas.microsoft.com/office/drawing/2014/main" id="{73681554-56DF-4C7A-8936-DC730515DB2A}"/>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Require 0 ≤ overlap &lt; size. Store the parent ID and the actual start/end offsets.</a:t>
            </a:r>
          </a:p>
        </p:txBody>
      </p:sp>
    </p:spTree>
    <p:extLst>
      <p:ext uri="{BB962C8B-B14F-4D97-AF65-F5344CB8AC3E}">
        <p14:creationId xmlns:p14="http://schemas.microsoft.com/office/powerpoint/2010/main" val="246336958"/>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DA311CB3-D1B5-40E9-9A90-52EE7E94BF64}"/>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COMPARISON  /  NOTEBOOK 02</a:t>
            </a:r>
          </a:p>
        </p:txBody>
      </p:sp>
      <p:sp>
        <p:nvSpPr>
          <p:cNvPr id="2" name="slide-title">
            <a:extLst xmlns:a="http://schemas.openxmlformats.org/drawingml/2006/main">
              <a:ext uri="{FF2B5EF4-FFF2-40B4-BE49-F238E27FC236}">
                <a16:creationId xmlns:a16="http://schemas.microsoft.com/office/drawing/2014/main" id="{449924DB-583D-41EA-A0E6-19A206F900AC}"/>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Boundary coverage has a storage cost</a:t>
            </a:r>
          </a:p>
        </p:txBody>
      </p:sp>
      <p:sp>
        <p:nvSpPr>
          <p:cNvPr id="3" name="lead">
            <a:extLst xmlns:a="http://schemas.openxmlformats.org/drawingml/2006/main">
              <a:ext uri="{FF2B5EF4-FFF2-40B4-BE49-F238E27FC236}">
                <a16:creationId xmlns:a16="http://schemas.microsoft.com/office/drawing/2014/main" id="{FA49A36C-80EC-4965-A37E-C1E8DD2EB12A}"/>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The notebook deliberately places one complete fact across a 20-word boundary.</a:t>
            </a:r>
          </a:p>
        </p:txBody>
      </p:sp>
      <p:sp>
        <p:nvSpPr>
          <p:cNvPr id="4" name="text">
            <a:extLst xmlns:a="http://schemas.openxmlformats.org/drawingml/2006/main">
              <a:ext uri="{FF2B5EF4-FFF2-40B4-BE49-F238E27FC236}">
                <a16:creationId xmlns:a16="http://schemas.microsoft.com/office/drawing/2014/main" id="{8FCDB6A4-96C4-4B55-808A-50783B4D94F4}"/>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02  /  Ingest files and design useful chunks</a:t>
            </a:r>
          </a:p>
        </p:txBody>
      </p:sp>
      <p:sp>
        <p:nvSpPr>
          <p:cNvPr id="5" name="page-number">
            <a:extLst xmlns:a="http://schemas.openxmlformats.org/drawingml/2006/main">
              <a:ext uri="{FF2B5EF4-FFF2-40B4-BE49-F238E27FC236}">
                <a16:creationId xmlns:a16="http://schemas.microsoft.com/office/drawing/2014/main" id="{15D0DAE1-4761-482F-9E3A-ABC244BC7FA3}"/>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06</a:t>
            </a:r>
          </a:p>
        </p:txBody>
      </p:sp>
      <p:graphicFrame>
        <p:nvGraphicFramePr>
          <p:cNvPr id="6" name="">
            <a:extLst xmlns:a="http://schemas.openxmlformats.org/drawingml/2006/main">
              <a:ext uri="{FF2B5EF4-FFF2-40B4-BE49-F238E27FC236}">
                <a16:creationId xmlns:a16="http://schemas.microsoft.com/office/drawing/2014/main" id="{58ED5F62-744D-4199-AAA9-55C0CBEA6E16}"/>
              </a:ext>
            </a:extLst>
          </p:cNvPr>
          <p:cNvGraphicFramePr/>
          <p:nvPr/>
        </p:nvGraphicFramePr>
        <p:xfrm>
          <a:off xmlns:a="http://schemas.openxmlformats.org/drawingml/2006/main" x="609600" y="2505075"/>
          <a:ext xmlns:a="http://schemas.openxmlformats.org/drawingml/2006/main" cx="10972800" cy="3714750"/>
        </p:xfrm>
        <a:graphic xmlns:a="http://schemas.openxmlformats.org/drawingml/2006/main">
          <a:graphicData uri="http://schemas.openxmlformats.org/drawingml/2006/table">
            <a:tbl>
              <a:tblPr/>
              <a:tblGrid>
                <a:gridCol w="3333750"/>
                <a:gridCol w="7639050"/>
              </a:tblGrid>
              <a:tr h="466725">
                <a:tc>
                  <a:txBody>
                    <a:bodyPr wrap="square" lIns="133350" tIns="95250" rIns="133350" bIns="95250">
                      <a:noAutofit/>
                    </a:bodyPr>
                    <a:lstStyle/>
                    <a:p>
                      <a:r>
                        <a:rPr sz="1800" b="1">
                          <a:solidFill>
                            <a:srgbClr val="FFFFFF"/>
                          </a:solidFill>
                          <a:latin typeface="Calibri"/>
                          <a:ea typeface="Calibri"/>
                          <a:cs typeface="Calibri"/>
                        </a:rPr>
                        <a:t>Concept</a:t>
                      </a:r>
                    </a:p>
                  </a:txBody>
                  <a:tcPr marL="91440" marR="91440" marT="45720" marB="45720">
                    <a:solidFill>
                      <a:srgbClr val="102F3E"/>
                    </a:solidFill>
                  </a:tcPr>
                </a:tc>
                <a:tc>
                  <a:txBody>
                    <a:bodyPr wrap="square" lIns="133350" tIns="95250" rIns="133350" bIns="95250">
                      <a:noAutofit/>
                    </a:bodyPr>
                    <a:lstStyle/>
                    <a:p>
                      <a:r>
                        <a:rPr sz="1800" b="1">
                          <a:solidFill>
                            <a:srgbClr val="FFFFFF"/>
                          </a:solidFill>
                          <a:latin typeface="Calibri"/>
                          <a:ea typeface="Calibri"/>
                          <a:cs typeface="Calibri"/>
                        </a:rPr>
                        <a:t>Meaning in this lesson</a:t>
                      </a:r>
                    </a:p>
                  </a:txBody>
                  <a:tcPr marL="91440" marR="91440" marT="45720" marB="45720">
                    <a:solidFill>
                      <a:srgbClr val="102F3E"/>
                    </a:solidFill>
                  </a:tcPr>
                </a:tc>
              </a:tr>
              <a:tr h="812006">
                <a:tc>
                  <a:txBody>
                    <a:bodyPr wrap="square" lIns="133350" tIns="95250" rIns="133350" bIns="95250">
                      <a:noAutofit/>
                    </a:bodyPr>
                    <a:lstStyle/>
                    <a:p>
                      <a:r>
                        <a:rPr sz="1875" b="1">
                          <a:solidFill>
                            <a:srgbClr val="102F3E"/>
                          </a:solidFill>
                          <a:latin typeface="Calibri"/>
                          <a:ea typeface="Calibri"/>
                          <a:cs typeface="Calibri"/>
                        </a:rPr>
                        <a:t>Small chunks</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Can isolate a useful sentence, but may separate the number from its condition or deadline.</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Larger chunks</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Preserve more surrounding explanation, while potentially diluting retrieval with extra text.</a:t>
                      </a:r>
                    </a:p>
                  </a:txBody>
                  <a:tcPr marL="91440" marR="91440" marT="45720" marB="45720">
                    <a:solidFill>
                      <a:srgbClr val="EDF2F1"/>
                    </a:solidFill>
                  </a:tcPr>
                </a:tc>
              </a:tr>
              <a:tr h="812006">
                <a:tc>
                  <a:txBody>
                    <a:bodyPr wrap="square" lIns="133350" tIns="95250" rIns="133350" bIns="95250">
                      <a:noAutofit/>
                    </a:bodyPr>
                    <a:lstStyle/>
                    <a:p>
                      <a:r>
                        <a:rPr sz="1875" b="1">
                          <a:solidFill>
                            <a:srgbClr val="102F3E"/>
                          </a:solidFill>
                          <a:latin typeface="Calibri"/>
                          <a:ea typeface="Calibri"/>
                          <a:cs typeface="Calibri"/>
                        </a:rPr>
                        <a:t>Overlap</a:t>
                      </a:r>
                    </a:p>
                  </a:txBody>
                  <a:tcPr marL="91440" marR="91440" marT="45720" marB="45720">
                    <a:solidFill>
                      <a:srgbClr val="FFFFFF"/>
                    </a:solidFill>
                  </a:tcPr>
                </a:tc>
                <a:tc>
                  <a:txBody>
                    <a:bodyPr wrap="square" lIns="133350" tIns="95250" rIns="133350" bIns="95250">
                      <a:noAutofit/>
                    </a:bodyPr>
                    <a:lstStyle/>
                    <a:p>
                      <a:r>
                        <a:rPr sz="1875" b="0">
                          <a:solidFill>
                            <a:srgbClr val="102F3E"/>
                          </a:solidFill>
                          <a:latin typeface="Calibri"/>
                          <a:ea typeface="Calibri"/>
                          <a:cs typeface="Calibri"/>
                        </a:rPr>
                        <a:t>Can retain a boundary-spanning fact, while increasing repeated words and index size.</a:t>
                      </a:r>
                    </a:p>
                  </a:txBody>
                  <a:tcPr marL="91440" marR="91440" marT="45720" marB="45720">
                    <a:solidFill>
                      <a:srgbClr val="FFFFFF"/>
                    </a:solidFill>
                  </a:tcPr>
                </a:tc>
              </a:tr>
              <a:tr h="812006">
                <a:tc>
                  <a:txBody>
                    <a:bodyPr wrap="square" lIns="133350" tIns="95250" rIns="133350" bIns="95250">
                      <a:noAutofit/>
                    </a:bodyPr>
                    <a:lstStyle/>
                    <a:p>
                      <a:r>
                        <a:rPr sz="1875" b="1">
                          <a:solidFill>
                            <a:srgbClr val="102F3E"/>
                          </a:solidFill>
                          <a:latin typeface="Calibri"/>
                          <a:ea typeface="Calibri"/>
                          <a:cs typeface="Calibri"/>
                        </a:rPr>
                        <a:t>Measure explicitly</a:t>
                      </a:r>
                    </a:p>
                  </a:txBody>
                  <a:tcPr marL="91440" marR="91440" marT="45720" marB="45720">
                    <a:solidFill>
                      <a:srgbClr val="EDF2F1"/>
                    </a:solidFill>
                  </a:tcPr>
                </a:tc>
                <a:tc>
                  <a:txBody>
                    <a:bodyPr wrap="square" lIns="133350" tIns="95250" rIns="133350" bIns="95250">
                      <a:noAutofit/>
                    </a:bodyPr>
                    <a:lstStyle/>
                    <a:p>
                      <a:r>
                        <a:rPr sz="1875" b="0">
                          <a:solidFill>
                            <a:srgbClr val="102F3E"/>
                          </a:solidFill>
                          <a:latin typeface="Calibri"/>
                          <a:ea typeface="Calibri"/>
                          <a:cs typeface="Calibri"/>
                        </a:rPr>
                        <a:t>Compare complete-fact coverage, chunk count, indexed words, and duplication ratio.</a:t>
                      </a:r>
                    </a:p>
                  </a:txBody>
                  <a:tcPr marL="91440" marR="91440" marT="45720" marB="45720">
                    <a:solidFill>
                      <a:srgbClr val="EDF2F1"/>
                    </a:solidFill>
                  </a:tcPr>
                </a:tc>
              </a:tr>
            </a:tbl>
          </a:graphicData>
        </a:graphic>
      </p:graphicFrame>
    </p:spTree>
    <p:extLst>
      <p:ext uri="{BB962C8B-B14F-4D97-AF65-F5344CB8AC3E}">
        <p14:creationId xmlns:p14="http://schemas.microsoft.com/office/powerpoint/2010/main" val="746772516"/>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B9A835D1-73B6-47FE-A865-94FDB1143395}"/>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CONCEPT  /  NOTEBOOK 02</a:t>
            </a:r>
          </a:p>
        </p:txBody>
      </p:sp>
      <p:sp>
        <p:nvSpPr>
          <p:cNvPr id="2" name="slide-title">
            <a:extLst xmlns:a="http://schemas.openxmlformats.org/drawingml/2006/main">
              <a:ext uri="{FF2B5EF4-FFF2-40B4-BE49-F238E27FC236}">
                <a16:creationId xmlns:a16="http://schemas.microsoft.com/office/drawing/2014/main" id="{C547E478-1A5E-4792-9CA3-D8A26AFAF4F3}"/>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Cleaning must not erase meaning or provenance</a:t>
            </a:r>
          </a:p>
        </p:txBody>
      </p:sp>
      <p:sp>
        <p:nvSpPr>
          <p:cNvPr id="3" name="lead">
            <a:extLst xmlns:a="http://schemas.openxmlformats.org/drawingml/2006/main">
              <a:ext uri="{FF2B5EF4-FFF2-40B4-BE49-F238E27FC236}">
                <a16:creationId xmlns:a16="http://schemas.microsoft.com/office/drawing/2014/main" id="{20890460-E305-4428-A760-995558493F0B}"/>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Preserve the evidence people need to interpret and verify an answer.</a:t>
            </a:r>
          </a:p>
        </p:txBody>
      </p:sp>
      <p:sp>
        <p:nvSpPr>
          <p:cNvPr id="4" name="text">
            <a:extLst xmlns:a="http://schemas.openxmlformats.org/drawingml/2006/main">
              <a:ext uri="{FF2B5EF4-FFF2-40B4-BE49-F238E27FC236}">
                <a16:creationId xmlns:a16="http://schemas.microsoft.com/office/drawing/2014/main" id="{AEC68051-967C-41B8-9E52-C162D4EF6BAE}"/>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02  /  Ingest files and design useful chunks</a:t>
            </a:r>
          </a:p>
        </p:txBody>
      </p:sp>
      <p:sp>
        <p:nvSpPr>
          <p:cNvPr id="5" name="page-number">
            <a:extLst xmlns:a="http://schemas.openxmlformats.org/drawingml/2006/main">
              <a:ext uri="{FF2B5EF4-FFF2-40B4-BE49-F238E27FC236}">
                <a16:creationId xmlns:a16="http://schemas.microsoft.com/office/drawing/2014/main" id="{37A07CB2-D6F4-4362-918F-22ED2C6E9EEA}"/>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07</a:t>
            </a:r>
          </a:p>
        </p:txBody>
      </p:sp>
      <p:sp>
        <p:nvSpPr>
          <p:cNvPr id="6" name="text">
            <a:extLst xmlns:a="http://schemas.openxmlformats.org/drawingml/2006/main">
              <a:ext uri="{FF2B5EF4-FFF2-40B4-BE49-F238E27FC236}">
                <a16:creationId xmlns:a16="http://schemas.microsoft.com/office/drawing/2014/main" id="{BDA3D03C-F432-4F0E-AEE4-09298E7DBFB9}"/>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Keep meaningful formatting</a:t>
            </a:r>
          </a:p>
        </p:txBody>
      </p:sp>
      <p:sp>
        <p:nvSpPr>
          <p:cNvPr id="7" name="text">
            <a:extLst xmlns:a="http://schemas.openxmlformats.org/drawingml/2006/main">
              <a:ext uri="{FF2B5EF4-FFF2-40B4-BE49-F238E27FC236}">
                <a16:creationId xmlns:a16="http://schemas.microsoft.com/office/drawing/2014/main" id="{BFA7FEA4-ADEE-4388-BA3C-905DD524AAE4}"/>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Retain punctuation, capitalization, amounts, code, paragraphs, and useful headings.</a:t>
            </a:r>
          </a:p>
        </p:txBody>
      </p:sp>
      <p:sp>
        <p:nvSpPr>
          <p:cNvPr id="8" name="text">
            <a:extLst xmlns:a="http://schemas.openxmlformats.org/drawingml/2006/main">
              <a:ext uri="{FF2B5EF4-FFF2-40B4-BE49-F238E27FC236}">
                <a16:creationId xmlns:a16="http://schemas.microsoft.com/office/drawing/2014/main" id="{6C521688-42A8-4413-A9AF-2D6CE9015D2F}"/>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Exact-content hash</a:t>
            </a:r>
          </a:p>
        </p:txBody>
      </p:sp>
      <p:sp>
        <p:nvSpPr>
          <p:cNvPr id="9" name="text">
            <a:extLst xmlns:a="http://schemas.openxmlformats.org/drawingml/2006/main">
              <a:ext uri="{FF2B5EF4-FFF2-40B4-BE49-F238E27FC236}">
                <a16:creationId xmlns:a16="http://schemas.microsoft.com/office/drawing/2014/main" id="{18D05235-0963-4B6F-B898-80A23A893689}"/>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A SHA-256 fingerprint detects exact duplicates after cleaning; it does not detect near-duplicates.</a:t>
            </a:r>
          </a:p>
        </p:txBody>
      </p:sp>
      <p:sp>
        <p:nvSpPr>
          <p:cNvPr id="10" name="text">
            <a:extLst xmlns:a="http://schemas.openxmlformats.org/drawingml/2006/main">
              <a:ext uri="{FF2B5EF4-FFF2-40B4-BE49-F238E27FC236}">
                <a16:creationId xmlns:a16="http://schemas.microsoft.com/office/drawing/2014/main" id="{0C1FD12A-E83C-4305-8C78-71E0899D0B9B}"/>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Preserve ownership</a:t>
            </a:r>
          </a:p>
        </p:txBody>
      </p:sp>
      <p:sp>
        <p:nvSpPr>
          <p:cNvPr id="11" name="text">
            <a:extLst xmlns:a="http://schemas.openxmlformats.org/drawingml/2006/main">
              <a:ext uri="{FF2B5EF4-FFF2-40B4-BE49-F238E27FC236}">
                <a16:creationId xmlns:a16="http://schemas.microsoft.com/office/drawing/2014/main" id="{3585A046-E858-49CD-BB76-5E8BF131721D}"/>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Identical text can have several owners or sources. A real pipeline should retain that provenance.</a:t>
            </a:r>
          </a:p>
        </p:txBody>
      </p:sp>
      <p:sp>
        <p:nvSpPr>
          <p:cNvPr id="12" name="text">
            <a:extLst xmlns:a="http://schemas.openxmlformats.org/drawingml/2006/main">
              <a:ext uri="{FF2B5EF4-FFF2-40B4-BE49-F238E27FC236}">
                <a16:creationId xmlns:a16="http://schemas.microsoft.com/office/drawing/2014/main" id="{0FBAEAE6-84AA-4F12-B721-67CD0A3940B0}"/>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Trace every hit</a:t>
            </a:r>
          </a:p>
        </p:txBody>
      </p:sp>
      <p:sp>
        <p:nvSpPr>
          <p:cNvPr id="13" name="text">
            <a:extLst xmlns:a="http://schemas.openxmlformats.org/drawingml/2006/main">
              <a:ext uri="{FF2B5EF4-FFF2-40B4-BE49-F238E27FC236}">
                <a16:creationId xmlns:a16="http://schemas.microsoft.com/office/drawing/2014/main" id="{60A39E8E-574E-436D-A056-5D509AB92E5A}"/>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Keep source path, parent ID, page when available, and chunk offsets alongside the text.</a:t>
            </a:r>
          </a:p>
        </p:txBody>
      </p:sp>
    </p:spTree>
    <p:extLst>
      <p:ext uri="{BB962C8B-B14F-4D97-AF65-F5344CB8AC3E}">
        <p14:creationId xmlns:p14="http://schemas.microsoft.com/office/powerpoint/2010/main" val="741298203"/>
      </p:ext>
    </p:extLst>
  </p:cSld>
</p:sld>
</file>

<file path=ppt/slides/slide8.xml><?xml version="1.0" encoding="utf-8"?>
<p:sld xmlns:p="http://schemas.openxmlformats.org/presentationml/2006/main">
  <p:cSld>
    <p:bg>
      <p:bgPr>
        <a:solidFill xmlns:a="http://schemas.openxmlformats.org/drawingml/2006/main">
          <a:srgbClr val="0A1929"/>
        </a:solidFill>
      </p:bgPr>
    </p:bg>
    <p:spTree>
      <p:nvGrpSpPr>
        <p:cNvPr id="1" name=""/>
        <p:cNvGrpSpPr/>
        <p:nvPr/>
      </p:nvGrpSpPr>
      <p:grpSpPr>
        <a:xfrm xmlns:a="http://schemas.openxmlformats.org/drawingml/2006/main"/>
      </p:grpSpPr>
      <p:sp>
        <p:nvSpPr>
          <p:cNvPr id="18" name="section-label">
            <a:extLst xmlns:a="http://schemas.openxmlformats.org/drawingml/2006/main">
              <a:ext uri="{FF2B5EF4-FFF2-40B4-BE49-F238E27FC236}">
                <a16:creationId xmlns:a16="http://schemas.microsoft.com/office/drawing/2014/main" id="{2D8B63C9-2DA4-4C47-A1F9-D85FDF11E733}"/>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68D0CB"/>
                </a:solidFill>
                <a:latin typeface="Calibri"/>
                <a:ea typeface="Calibri"/>
                <a:cs typeface="Calibri"/>
              </a:defRPr>
            </a:defPPr>
          </a:lstStyle>
          <a:p xmlns:a="http://schemas.openxmlformats.org/drawingml/2006/main">
            <a:pPr>
              <a:defRPr sz="1275" b="1">
                <a:solidFill>
                  <a:srgbClr val="68D0CB"/>
                </a:solidFill>
                <a:latin typeface="Calibri"/>
                <a:ea typeface="Calibri"/>
                <a:cs typeface="Calibri"/>
              </a:defRPr>
            </a:pPr>
            <a:r>
              <a:rPr sz="1275" b="1">
                <a:solidFill>
                  <a:srgbClr val="68D0CB"/>
                </a:solidFill>
                <a:latin typeface="Calibri"/>
                <a:ea typeface="Calibri"/>
                <a:cs typeface="Calibri"/>
              </a:rPr>
              <a:t>DEMO  /  NOTEBOOK 02</a:t>
            </a:r>
          </a:p>
        </p:txBody>
      </p:sp>
      <p:sp>
        <p:nvSpPr>
          <p:cNvPr id="2" name="slide-title">
            <a:extLst xmlns:a="http://schemas.openxmlformats.org/drawingml/2006/main">
              <a:ext uri="{FF2B5EF4-FFF2-40B4-BE49-F238E27FC236}">
                <a16:creationId xmlns:a16="http://schemas.microsoft.com/office/drawing/2014/main" id="{124582C8-7CA1-403E-8A16-A3FDABA049BE}"/>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Calibri"/>
                <a:ea typeface="Calibri"/>
                <a:cs typeface="Calibri"/>
              </a:defRPr>
            </a:defPPr>
          </a:lstStyle>
          <a:p xmlns:a="http://schemas.openxmlformats.org/drawingml/2006/main">
            <a:pPr>
              <a:defRPr sz="3450" b="1">
                <a:solidFill>
                  <a:srgbClr val="FFFFFF"/>
                </a:solidFill>
                <a:latin typeface="Calibri"/>
                <a:ea typeface="Calibri"/>
                <a:cs typeface="Calibri"/>
              </a:defRPr>
            </a:pPr>
            <a:r>
              <a:rPr sz="3450" b="1">
                <a:solidFill>
                  <a:srgbClr val="FFFFFF"/>
                </a:solidFill>
                <a:latin typeface="Calibri"/>
                <a:ea typeface="Calibri"/>
                <a:cs typeface="Calibri"/>
              </a:rPr>
              <a:t>Live demo: make the boundary failure visible</a:t>
            </a:r>
          </a:p>
        </p:txBody>
      </p:sp>
      <p:sp>
        <p:nvSpPr>
          <p:cNvPr id="3" name="lead">
            <a:extLst xmlns:a="http://schemas.openxmlformats.org/drawingml/2006/main">
              <a:ext uri="{FF2B5EF4-FFF2-40B4-BE49-F238E27FC236}">
                <a16:creationId xmlns:a16="http://schemas.microsoft.com/office/drawing/2014/main" id="{7A9956E1-BFF2-4942-BB39-E2C83239A788}"/>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6E2E8"/>
                </a:solidFill>
                <a:latin typeface="Calibri"/>
                <a:ea typeface="Calibri"/>
                <a:cs typeface="Calibri"/>
              </a:defRPr>
            </a:defPPr>
          </a:lstStyle>
          <a:p xmlns:a="http://schemas.openxmlformats.org/drawingml/2006/main">
            <a:pPr>
              <a:defRPr sz="2100" b="0">
                <a:solidFill>
                  <a:srgbClr val="D6E2E8"/>
                </a:solidFill>
                <a:latin typeface="Calibri"/>
                <a:ea typeface="Calibri"/>
                <a:cs typeface="Calibri"/>
              </a:defRPr>
            </a:pPr>
            <a:r>
              <a:rPr sz="2100" b="0">
                <a:solidFill>
                  <a:srgbClr val="D6E2E8"/>
                </a:solidFill>
                <a:latin typeface="Calibri"/>
                <a:ea typeface="Calibri"/>
                <a:cs typeface="Calibri"/>
              </a:rPr>
              <a:t>This entire demonstration runs locally without a Claude request.</a:t>
            </a:r>
          </a:p>
        </p:txBody>
      </p:sp>
      <p:sp>
        <p:nvSpPr>
          <p:cNvPr id="4" name="text">
            <a:extLst xmlns:a="http://schemas.openxmlformats.org/drawingml/2006/main">
              <a:ext uri="{FF2B5EF4-FFF2-40B4-BE49-F238E27FC236}">
                <a16:creationId xmlns:a16="http://schemas.microsoft.com/office/drawing/2014/main" id="{3AA21634-6FFF-4A23-89FA-AC79B32771DC}"/>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A6B8C5"/>
                </a:solidFill>
                <a:latin typeface="Calibri"/>
                <a:ea typeface="Calibri"/>
                <a:cs typeface="Calibri"/>
              </a:defRPr>
            </a:defPPr>
          </a:lstStyle>
          <a:p xmlns:a="http://schemas.openxmlformats.org/drawingml/2006/main">
            <a:pPr>
              <a:defRPr sz="1200" b="0">
                <a:solidFill>
                  <a:srgbClr val="A6B8C5"/>
                </a:solidFill>
                <a:latin typeface="Calibri"/>
                <a:ea typeface="Calibri"/>
                <a:cs typeface="Calibri"/>
              </a:defRPr>
            </a:pPr>
            <a:r>
              <a:rPr sz="1200" b="0">
                <a:solidFill>
                  <a:srgbClr val="A6B8C5"/>
                </a:solidFill>
                <a:latin typeface="Calibri"/>
                <a:ea typeface="Calibri"/>
                <a:cs typeface="Calibri"/>
              </a:rPr>
              <a:t>RAG WORKSHOP  /  02  /  Ingest files and design useful chunks</a:t>
            </a:r>
          </a:p>
        </p:txBody>
      </p:sp>
      <p:sp>
        <p:nvSpPr>
          <p:cNvPr id="5" name="page-number">
            <a:extLst xmlns:a="http://schemas.openxmlformats.org/drawingml/2006/main">
              <a:ext uri="{FF2B5EF4-FFF2-40B4-BE49-F238E27FC236}">
                <a16:creationId xmlns:a16="http://schemas.microsoft.com/office/drawing/2014/main" id="{C06E12B6-B481-45DF-84D3-8C2FD61D3963}"/>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A6B8C5"/>
                </a:solidFill>
                <a:latin typeface="Calibri"/>
                <a:ea typeface="Calibri"/>
                <a:cs typeface="Calibri"/>
              </a:defRPr>
            </a:defPPr>
          </a:lstStyle>
          <a:p xmlns:a="http://schemas.openxmlformats.org/drawingml/2006/main">
            <a:pPr>
              <a:defRPr sz="1350" b="0">
                <a:solidFill>
                  <a:srgbClr val="A6B8C5"/>
                </a:solidFill>
                <a:latin typeface="Calibri"/>
                <a:ea typeface="Calibri"/>
                <a:cs typeface="Calibri"/>
              </a:defRPr>
            </a:pPr>
            <a:r>
              <a:rPr sz="1350" b="0">
                <a:solidFill>
                  <a:srgbClr val="A6B8C5"/>
                </a:solidFill>
                <a:latin typeface="Calibri"/>
                <a:ea typeface="Calibri"/>
                <a:cs typeface="Calibri"/>
              </a:rPr>
              <a:t>08</a:t>
            </a:r>
          </a:p>
        </p:txBody>
      </p:sp>
      <p:sp>
        <p:nvSpPr>
          <p:cNvPr id="6" name="text">
            <a:extLst xmlns:a="http://schemas.openxmlformats.org/drawingml/2006/main">
              <a:ext uri="{FF2B5EF4-FFF2-40B4-BE49-F238E27FC236}">
                <a16:creationId xmlns:a16="http://schemas.microsoft.com/office/drawing/2014/main" id="{5CB142BD-8EFF-400E-B6BB-7FBD652D0421}"/>
              </a:ext>
            </a:extLst>
          </p:cNvPr>
          <p:cNvSpPr>
            <a:spLocks xmlns:a="http://schemas.openxmlformats.org/drawingml/2006/main" noGrp="1"/>
          </p:cNvSpPr>
          <p:nvPr/>
        </p:nvSpPr>
        <p:spPr>
          <a:xfrm xmlns:a="http://schemas.openxmlformats.org/drawingml/2006/main">
            <a:off x="609600" y="25527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01</a:t>
            </a:r>
          </a:p>
        </p:txBody>
      </p:sp>
      <p:sp>
        <p:nvSpPr>
          <p:cNvPr id="7" name="text">
            <a:extLst xmlns:a="http://schemas.openxmlformats.org/drawingml/2006/main">
              <a:ext uri="{FF2B5EF4-FFF2-40B4-BE49-F238E27FC236}">
                <a16:creationId xmlns:a16="http://schemas.microsoft.com/office/drawing/2014/main" id="{BDCFDEF2-9C57-4A89-AABB-340599901372}"/>
              </a:ext>
            </a:extLst>
          </p:cNvPr>
          <p:cNvSpPr>
            <a:spLocks xmlns:a="http://schemas.openxmlformats.org/drawingml/2006/main" noGrp="1"/>
          </p:cNvSpPr>
          <p:nvPr/>
        </p:nvSpPr>
        <p:spPr>
          <a:xfrm xmlns:a="http://schemas.openxmlformats.org/drawingml/2006/main">
            <a:off x="1495425" y="2552700"/>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Inspect loaded text</a:t>
            </a:r>
          </a:p>
        </p:txBody>
      </p:sp>
      <p:sp>
        <p:nvSpPr>
          <p:cNvPr id="8" name="text">
            <a:extLst xmlns:a="http://schemas.openxmlformats.org/drawingml/2006/main">
              <a:ext uri="{FF2B5EF4-FFF2-40B4-BE49-F238E27FC236}">
                <a16:creationId xmlns:a16="http://schemas.microsoft.com/office/drawing/2014/main" id="{A24831C7-8CB4-408A-9C87-8BDB2887CBCD}"/>
              </a:ext>
            </a:extLst>
          </p:cNvPr>
          <p:cNvSpPr>
            <a:spLocks xmlns:a="http://schemas.openxmlformats.org/drawingml/2006/main" noGrp="1"/>
          </p:cNvSpPr>
          <p:nvPr/>
        </p:nvSpPr>
        <p:spPr>
          <a:xfrm xmlns:a="http://schemas.openxmlformats.org/drawingml/2006/main">
            <a:off x="4429125" y="2552700"/>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Sections 1–4: create temporary files, load them, and inspect cleaned records and metadata.</a:t>
            </a:r>
          </a:p>
        </p:txBody>
      </p:sp>
      <p:sp>
        <p:nvSpPr>
          <p:cNvPr id="9" name="text">
            <a:extLst xmlns:a="http://schemas.openxmlformats.org/drawingml/2006/main">
              <a:ext uri="{FF2B5EF4-FFF2-40B4-BE49-F238E27FC236}">
                <a16:creationId xmlns:a16="http://schemas.microsoft.com/office/drawing/2014/main" id="{2F52D264-C598-4410-9EEA-0AFF1F626B44}"/>
              </a:ext>
            </a:extLst>
          </p:cNvPr>
          <p:cNvSpPr>
            <a:spLocks xmlns:a="http://schemas.openxmlformats.org/drawingml/2006/main" noGrp="1"/>
          </p:cNvSpPr>
          <p:nvPr/>
        </p:nvSpPr>
        <p:spPr>
          <a:xfrm xmlns:a="http://schemas.openxmlformats.org/drawingml/2006/main">
            <a:off x="609600" y="3481388"/>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02</a:t>
            </a:r>
          </a:p>
        </p:txBody>
      </p:sp>
      <p:sp>
        <p:nvSpPr>
          <p:cNvPr id="10" name="text">
            <a:extLst xmlns:a="http://schemas.openxmlformats.org/drawingml/2006/main">
              <a:ext uri="{FF2B5EF4-FFF2-40B4-BE49-F238E27FC236}">
                <a16:creationId xmlns:a16="http://schemas.microsoft.com/office/drawing/2014/main" id="{CBE48E6C-5BE0-4021-8F14-0ACB60FD031B}"/>
              </a:ext>
            </a:extLst>
          </p:cNvPr>
          <p:cNvSpPr>
            <a:spLocks xmlns:a="http://schemas.openxmlformats.org/drawingml/2006/main" noGrp="1"/>
          </p:cNvSpPr>
          <p:nvPr/>
        </p:nvSpPr>
        <p:spPr>
          <a:xfrm xmlns:a="http://schemas.openxmlformats.org/drawingml/2006/main">
            <a:off x="1495425" y="3481388"/>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Show adjacent chunks</a:t>
            </a:r>
          </a:p>
        </p:txBody>
      </p:sp>
      <p:sp>
        <p:nvSpPr>
          <p:cNvPr id="11" name="text">
            <a:extLst xmlns:a="http://schemas.openxmlformats.org/drawingml/2006/main">
              <a:ext uri="{FF2B5EF4-FFF2-40B4-BE49-F238E27FC236}">
                <a16:creationId xmlns:a16="http://schemas.microsoft.com/office/drawing/2014/main" id="{F7F5048E-9464-45BF-92C0-6B247C378592}"/>
              </a:ext>
            </a:extLst>
          </p:cNvPr>
          <p:cNvSpPr>
            <a:spLocks xmlns:a="http://schemas.openxmlformats.org/drawingml/2006/main" noGrp="1"/>
          </p:cNvSpPr>
          <p:nvPr/>
        </p:nvSpPr>
        <p:spPr>
          <a:xfrm xmlns:a="http://schemas.openxmlformats.org/drawingml/2006/main">
            <a:off x="4429125" y="3481388"/>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Section 5: identify the five words repeated by a 20-word window with overlap 5.</a:t>
            </a:r>
          </a:p>
        </p:txBody>
      </p:sp>
      <p:sp>
        <p:nvSpPr>
          <p:cNvPr id="12" name="text">
            <a:extLst xmlns:a="http://schemas.openxmlformats.org/drawingml/2006/main">
              <a:ext uri="{FF2B5EF4-FFF2-40B4-BE49-F238E27FC236}">
                <a16:creationId xmlns:a16="http://schemas.microsoft.com/office/drawing/2014/main" id="{79A7E626-0004-4FE6-9774-289DFD18E046}"/>
              </a:ext>
            </a:extLst>
          </p:cNvPr>
          <p:cNvSpPr>
            <a:spLocks xmlns:a="http://schemas.openxmlformats.org/drawingml/2006/main" noGrp="1"/>
          </p:cNvSpPr>
          <p:nvPr/>
        </p:nvSpPr>
        <p:spPr>
          <a:xfrm xmlns:a="http://schemas.openxmlformats.org/drawingml/2006/main">
            <a:off x="609600" y="4410075"/>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03</a:t>
            </a:r>
          </a:p>
        </p:txBody>
      </p:sp>
      <p:sp>
        <p:nvSpPr>
          <p:cNvPr id="13" name="text">
            <a:extLst xmlns:a="http://schemas.openxmlformats.org/drawingml/2006/main">
              <a:ext uri="{FF2B5EF4-FFF2-40B4-BE49-F238E27FC236}">
                <a16:creationId xmlns:a16="http://schemas.microsoft.com/office/drawing/2014/main" id="{936F4B03-D468-4966-97B8-5FF8A37D769E}"/>
              </a:ext>
            </a:extLst>
          </p:cNvPr>
          <p:cNvSpPr>
            <a:spLocks xmlns:a="http://schemas.openxmlformats.org/drawingml/2006/main" noGrp="1"/>
          </p:cNvSpPr>
          <p:nvPr/>
        </p:nvSpPr>
        <p:spPr>
          <a:xfrm xmlns:a="http://schemas.openxmlformats.org/drawingml/2006/main">
            <a:off x="1495425" y="4410075"/>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Compare the boundary table</a:t>
            </a:r>
          </a:p>
        </p:txBody>
      </p:sp>
      <p:sp>
        <p:nvSpPr>
          <p:cNvPr id="14" name="text">
            <a:extLst xmlns:a="http://schemas.openxmlformats.org/drawingml/2006/main">
              <a:ext uri="{FF2B5EF4-FFF2-40B4-BE49-F238E27FC236}">
                <a16:creationId xmlns:a16="http://schemas.microsoft.com/office/drawing/2014/main" id="{EAE02F1A-C12D-418E-9859-1C463F6F3A3F}"/>
              </a:ext>
            </a:extLst>
          </p:cNvPr>
          <p:cNvSpPr>
            <a:spLocks xmlns:a="http://schemas.openxmlformats.org/drawingml/2006/main" noGrp="1"/>
          </p:cNvSpPr>
          <p:nvPr/>
        </p:nvSpPr>
        <p:spPr>
          <a:xfrm xmlns:a="http://schemas.openxmlformats.org/drawingml/2006/main">
            <a:off x="4429125" y="4410075"/>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Section 6: find which settings keep the full synthetic fact together and compare duplication.</a:t>
            </a:r>
          </a:p>
        </p:txBody>
      </p:sp>
      <p:sp>
        <p:nvSpPr>
          <p:cNvPr id="15" name="text">
            <a:extLst xmlns:a="http://schemas.openxmlformats.org/drawingml/2006/main">
              <a:ext uri="{FF2B5EF4-FFF2-40B4-BE49-F238E27FC236}">
                <a16:creationId xmlns:a16="http://schemas.microsoft.com/office/drawing/2014/main" id="{7BEC8878-F7EA-4C56-A23B-EEAF32F9221C}"/>
              </a:ext>
            </a:extLst>
          </p:cNvPr>
          <p:cNvSpPr>
            <a:spLocks xmlns:a="http://schemas.openxmlformats.org/drawingml/2006/main" noGrp="1"/>
          </p:cNvSpPr>
          <p:nvPr/>
        </p:nvSpPr>
        <p:spPr>
          <a:xfrm xmlns:a="http://schemas.openxmlformats.org/drawingml/2006/main">
            <a:off x="609600" y="5338763"/>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68D0CB"/>
                </a:solidFill>
                <a:latin typeface="Calibri"/>
                <a:ea typeface="Calibri"/>
                <a:cs typeface="Calibri"/>
              </a:defRPr>
            </a:defPPr>
          </a:lstStyle>
          <a:p xmlns:a="http://schemas.openxmlformats.org/drawingml/2006/main">
            <a:pPr>
              <a:defRPr sz="2700" b="1">
                <a:solidFill>
                  <a:srgbClr val="68D0CB"/>
                </a:solidFill>
                <a:latin typeface="Calibri"/>
                <a:ea typeface="Calibri"/>
                <a:cs typeface="Calibri"/>
              </a:defRPr>
            </a:pPr>
            <a:r>
              <a:rPr sz="2700" b="1">
                <a:solidFill>
                  <a:srgbClr val="68D0CB"/>
                </a:solidFill>
                <a:latin typeface="Calibri"/>
                <a:ea typeface="Calibri"/>
                <a:cs typeface="Calibri"/>
              </a:rPr>
              <a:t>04</a:t>
            </a:r>
          </a:p>
        </p:txBody>
      </p:sp>
      <p:sp>
        <p:nvSpPr>
          <p:cNvPr id="16" name="text">
            <a:extLst xmlns:a="http://schemas.openxmlformats.org/drawingml/2006/main">
              <a:ext uri="{FF2B5EF4-FFF2-40B4-BE49-F238E27FC236}">
                <a16:creationId xmlns:a16="http://schemas.microsoft.com/office/drawing/2014/main" id="{2BBDBAA2-AEB2-4C8D-8FFC-3B21E482673E}"/>
              </a:ext>
            </a:extLst>
          </p:cNvPr>
          <p:cNvSpPr>
            <a:spLocks xmlns:a="http://schemas.openxmlformats.org/drawingml/2006/main" noGrp="1"/>
          </p:cNvSpPr>
          <p:nvPr/>
        </p:nvSpPr>
        <p:spPr>
          <a:xfrm xmlns:a="http://schemas.openxmlformats.org/drawingml/2006/main">
            <a:off x="1495425" y="5338763"/>
            <a:ext cx="26193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Calibri"/>
                <a:ea typeface="Calibri"/>
                <a:cs typeface="Calibri"/>
              </a:defRPr>
            </a:defPPr>
          </a:lstStyle>
          <a:p xmlns:a="http://schemas.openxmlformats.org/drawingml/2006/main">
            <a:pPr>
              <a:defRPr sz="2175" b="1">
                <a:solidFill>
                  <a:srgbClr val="FFFFFF"/>
                </a:solidFill>
                <a:latin typeface="Calibri"/>
                <a:ea typeface="Calibri"/>
                <a:cs typeface="Calibri"/>
              </a:defRPr>
            </a:pPr>
            <a:r>
              <a:rPr sz="2175" b="1">
                <a:solidFill>
                  <a:srgbClr val="FFFFFF"/>
                </a:solidFill>
                <a:latin typeface="Calibri"/>
                <a:ea typeface="Calibri"/>
                <a:cs typeface="Calibri"/>
              </a:rPr>
              <a:t>Read actual retrieval hits</a:t>
            </a:r>
          </a:p>
        </p:txBody>
      </p:sp>
      <p:sp>
        <p:nvSpPr>
          <p:cNvPr id="17" name="text">
            <a:extLst xmlns:a="http://schemas.openxmlformats.org/drawingml/2006/main">
              <a:ext uri="{FF2B5EF4-FFF2-40B4-BE49-F238E27FC236}">
                <a16:creationId xmlns:a16="http://schemas.microsoft.com/office/drawing/2014/main" id="{39B40A60-7239-46BA-8ACA-8B8C3839FECA}"/>
              </a:ext>
            </a:extLst>
          </p:cNvPr>
          <p:cNvSpPr>
            <a:spLocks xmlns:a="http://schemas.openxmlformats.org/drawingml/2006/main" noGrp="1"/>
          </p:cNvSpPr>
          <p:nvPr/>
        </p:nvSpPr>
        <p:spPr>
          <a:xfrm xmlns:a="http://schemas.openxmlformats.org/drawingml/2006/main">
            <a:off x="4429125" y="5338763"/>
            <a:ext cx="7153275" cy="8715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C3D6DF"/>
                </a:solidFill>
                <a:latin typeface="Calibri"/>
                <a:ea typeface="Calibri"/>
                <a:cs typeface="Calibri"/>
              </a:defRPr>
            </a:defPPr>
          </a:lstStyle>
          <a:p xmlns:a="http://schemas.openxmlformats.org/drawingml/2006/main">
            <a:pPr>
              <a:defRPr sz="2100" b="0">
                <a:solidFill>
                  <a:srgbClr val="C3D6DF"/>
                </a:solidFill>
                <a:latin typeface="Calibri"/>
                <a:ea typeface="Calibri"/>
                <a:cs typeface="Calibri"/>
              </a:defRPr>
            </a:pPr>
            <a:r>
              <a:rPr sz="2100" b="0">
                <a:solidFill>
                  <a:srgbClr val="C3D6DF"/>
                </a:solidFill>
                <a:latin typeface="Calibri"/>
                <a:ea typeface="Calibri"/>
                <a:cs typeface="Calibri"/>
              </a:rPr>
              <a:t>Section 7: compare 25-, 60-, and 120-word chunks using the same question.</a:t>
            </a:r>
          </a:p>
        </p:txBody>
      </p:sp>
    </p:spTree>
    <p:extLst>
      <p:ext uri="{BB962C8B-B14F-4D97-AF65-F5344CB8AC3E}">
        <p14:creationId xmlns:p14="http://schemas.microsoft.com/office/powerpoint/2010/main" val="603762758"/>
      </p:ext>
    </p:extLst>
  </p:cSld>
</p:sld>
</file>

<file path=ppt/slides/slide9.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14" name="section-label">
            <a:extLst xmlns:a="http://schemas.openxmlformats.org/drawingml/2006/main">
              <a:ext uri="{FF2B5EF4-FFF2-40B4-BE49-F238E27FC236}">
                <a16:creationId xmlns:a16="http://schemas.microsoft.com/office/drawing/2014/main" id="{40462AFC-5F58-43B7-AD39-975B8813F6C5}"/>
              </a:ext>
            </a:extLst>
          </p:cNvPr>
          <p:cNvSpPr>
            <a:spLocks xmlns:a="http://schemas.openxmlformats.org/drawingml/2006/main" noGrp="1"/>
          </p:cNvSpPr>
          <p:nvPr/>
        </p:nvSpPr>
        <p:spPr>
          <a:xfrm xmlns:a="http://schemas.openxmlformats.org/drawingml/2006/main">
            <a:off x="609600" y="29527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1">
                <a:solidFill>
                  <a:srgbClr val="087E83"/>
                </a:solidFill>
                <a:latin typeface="Calibri"/>
                <a:ea typeface="Calibri"/>
                <a:cs typeface="Calibri"/>
              </a:defRPr>
            </a:defPPr>
          </a:lstStyle>
          <a:p xmlns:a="http://schemas.openxmlformats.org/drawingml/2006/main">
            <a:pPr>
              <a:defRPr sz="1275" b="1">
                <a:solidFill>
                  <a:srgbClr val="087E83"/>
                </a:solidFill>
                <a:latin typeface="Calibri"/>
                <a:ea typeface="Calibri"/>
                <a:cs typeface="Calibri"/>
              </a:defRPr>
            </a:pPr>
            <a:r>
              <a:rPr sz="1275" b="1">
                <a:solidFill>
                  <a:srgbClr val="087E83"/>
                </a:solidFill>
                <a:latin typeface="Calibri"/>
                <a:ea typeface="Calibri"/>
                <a:cs typeface="Calibri"/>
              </a:rPr>
              <a:t>EXERCISE  /  NOTEBOOK 02</a:t>
            </a:r>
          </a:p>
        </p:txBody>
      </p:sp>
      <p:sp>
        <p:nvSpPr>
          <p:cNvPr id="2" name="slide-title">
            <a:extLst xmlns:a="http://schemas.openxmlformats.org/drawingml/2006/main">
              <a:ext uri="{FF2B5EF4-FFF2-40B4-BE49-F238E27FC236}">
                <a16:creationId xmlns:a16="http://schemas.microsoft.com/office/drawing/2014/main" id="{DD863AD4-4589-43A5-98F1-2FA8BCDA58E9}"/>
              </a:ext>
            </a:extLst>
          </p:cNvPr>
          <p:cNvSpPr>
            <a:spLocks xmlns:a="http://schemas.openxmlformats.org/drawingml/2006/main" noGrp="1"/>
          </p:cNvSpPr>
          <p:nvPr/>
        </p:nvSpPr>
        <p:spPr>
          <a:xfrm xmlns:a="http://schemas.openxmlformats.org/drawingml/2006/main">
            <a:off x="609600" y="733425"/>
            <a:ext cx="109728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02F3E"/>
                </a:solidFill>
                <a:latin typeface="Calibri"/>
                <a:ea typeface="Calibri"/>
                <a:cs typeface="Calibri"/>
              </a:defRPr>
            </a:defPPr>
          </a:lstStyle>
          <a:p xmlns:a="http://schemas.openxmlformats.org/drawingml/2006/main">
            <a:pPr>
              <a:defRPr sz="3450" b="1">
                <a:solidFill>
                  <a:srgbClr val="102F3E"/>
                </a:solidFill>
                <a:latin typeface="Calibri"/>
                <a:ea typeface="Calibri"/>
                <a:cs typeface="Calibri"/>
              </a:defRPr>
            </a:pPr>
            <a:r>
              <a:rPr sz="3450" b="1">
                <a:solidFill>
                  <a:srgbClr val="102F3E"/>
                </a:solidFill>
                <a:latin typeface="Calibri"/>
                <a:ea typeface="Calibri"/>
                <a:cs typeface="Calibri"/>
              </a:rPr>
              <a:t>Keep the heading with the evidence</a:t>
            </a:r>
          </a:p>
        </p:txBody>
      </p:sp>
      <p:sp>
        <p:nvSpPr>
          <p:cNvPr id="3" name="lead">
            <a:extLst xmlns:a="http://schemas.openxmlformats.org/drawingml/2006/main">
              <a:ext uri="{FF2B5EF4-FFF2-40B4-BE49-F238E27FC236}">
                <a16:creationId xmlns:a16="http://schemas.microsoft.com/office/drawing/2014/main" id="{4CC0D1A2-629E-479B-A426-4893891342A2}"/>
              </a:ext>
            </a:extLst>
          </p:cNvPr>
          <p:cNvSpPr>
            <a:spLocks xmlns:a="http://schemas.openxmlformats.org/drawingml/2006/main" noGrp="1"/>
          </p:cNvSpPr>
          <p:nvPr/>
        </p:nvSpPr>
        <p:spPr>
          <a:xfrm xmlns:a="http://schemas.openxmlformats.org/drawingml/2006/main">
            <a:off x="609600" y="16192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8616C"/>
                </a:solidFill>
                <a:latin typeface="Calibri"/>
                <a:ea typeface="Calibri"/>
                <a:cs typeface="Calibri"/>
              </a:defRPr>
            </a:defPPr>
          </a:lstStyle>
          <a:p xmlns:a="http://schemas.openxmlformats.org/drawingml/2006/main">
            <a:pPr>
              <a:defRPr sz="2100" b="0">
                <a:solidFill>
                  <a:srgbClr val="48616C"/>
                </a:solidFill>
                <a:latin typeface="Calibri"/>
                <a:ea typeface="Calibri"/>
                <a:cs typeface="Calibri"/>
              </a:defRPr>
            </a:pPr>
            <a:r>
              <a:rPr sz="2100" b="0">
                <a:solidFill>
                  <a:srgbClr val="48616C"/>
                </a:solidFill>
                <a:latin typeface="Calibri"/>
                <a:ea typeface="Calibri"/>
                <a:cs typeface="Calibri"/>
              </a:rPr>
              <a:t>A sentence such as “3 days per week” is easier to interpret when its section title remains attached.</a:t>
            </a:r>
          </a:p>
        </p:txBody>
      </p:sp>
      <p:sp>
        <p:nvSpPr>
          <p:cNvPr id="4" name="text">
            <a:extLst xmlns:a="http://schemas.openxmlformats.org/drawingml/2006/main">
              <a:ext uri="{FF2B5EF4-FFF2-40B4-BE49-F238E27FC236}">
                <a16:creationId xmlns:a16="http://schemas.microsoft.com/office/drawing/2014/main" id="{D16750E2-7F8C-41CE-8674-3D07F6F5A5EE}"/>
              </a:ext>
            </a:extLst>
          </p:cNvPr>
          <p:cNvSpPr>
            <a:spLocks xmlns:a="http://schemas.openxmlformats.org/drawingml/2006/main" noGrp="1"/>
          </p:cNvSpPr>
          <p:nvPr/>
        </p:nvSpPr>
        <p:spPr>
          <a:xfrm xmlns:a="http://schemas.openxmlformats.org/drawingml/2006/main">
            <a:off x="6096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48616C"/>
                </a:solidFill>
                <a:latin typeface="Calibri"/>
                <a:ea typeface="Calibri"/>
                <a:cs typeface="Calibri"/>
              </a:defRPr>
            </a:defPPr>
          </a:lstStyle>
          <a:p xmlns:a="http://schemas.openxmlformats.org/drawingml/2006/main">
            <a:pPr>
              <a:defRPr sz="1200" b="0">
                <a:solidFill>
                  <a:srgbClr val="48616C"/>
                </a:solidFill>
                <a:latin typeface="Calibri"/>
                <a:ea typeface="Calibri"/>
                <a:cs typeface="Calibri"/>
              </a:defRPr>
            </a:pPr>
            <a:r>
              <a:rPr sz="1200" b="0">
                <a:solidFill>
                  <a:srgbClr val="48616C"/>
                </a:solidFill>
                <a:latin typeface="Calibri"/>
                <a:ea typeface="Calibri"/>
                <a:cs typeface="Calibri"/>
              </a:rPr>
              <a:t>RAG WORKSHOP  /  02  /  Ingest files and design useful chunks</a:t>
            </a:r>
          </a:p>
        </p:txBody>
      </p:sp>
      <p:sp>
        <p:nvSpPr>
          <p:cNvPr id="5" name="page-number">
            <a:extLst xmlns:a="http://schemas.openxmlformats.org/drawingml/2006/main">
              <a:ext uri="{FF2B5EF4-FFF2-40B4-BE49-F238E27FC236}">
                <a16:creationId xmlns:a16="http://schemas.microsoft.com/office/drawing/2014/main" id="{6A600BA2-66F3-4CC1-9EC6-9AB655D2BAA1}"/>
              </a:ext>
            </a:extLst>
          </p:cNvPr>
          <p:cNvSpPr>
            <a:spLocks xmlns:a="http://schemas.openxmlformats.org/drawingml/2006/main" noGrp="1"/>
          </p:cNvSpPr>
          <p:nvPr/>
        </p:nvSpPr>
        <p:spPr>
          <a:xfrm xmlns:a="http://schemas.openxmlformats.org/drawingml/2006/main">
            <a:off x="11144250" y="64579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48616C"/>
                </a:solidFill>
                <a:latin typeface="Calibri"/>
                <a:ea typeface="Calibri"/>
                <a:cs typeface="Calibri"/>
              </a:defRPr>
            </a:defPPr>
          </a:lstStyle>
          <a:p xmlns:a="http://schemas.openxmlformats.org/drawingml/2006/main">
            <a:pPr>
              <a:defRPr sz="1350" b="0">
                <a:solidFill>
                  <a:srgbClr val="48616C"/>
                </a:solidFill>
                <a:latin typeface="Calibri"/>
                <a:ea typeface="Calibri"/>
                <a:cs typeface="Calibri"/>
              </a:defRPr>
            </a:pPr>
            <a:r>
              <a:rPr sz="1350" b="0">
                <a:solidFill>
                  <a:srgbClr val="48616C"/>
                </a:solidFill>
                <a:latin typeface="Calibri"/>
                <a:ea typeface="Calibri"/>
                <a:cs typeface="Calibri"/>
              </a:rPr>
              <a:t>09</a:t>
            </a:r>
          </a:p>
        </p:txBody>
      </p:sp>
      <p:sp>
        <p:nvSpPr>
          <p:cNvPr id="6" name="text">
            <a:extLst xmlns:a="http://schemas.openxmlformats.org/drawingml/2006/main">
              <a:ext uri="{FF2B5EF4-FFF2-40B4-BE49-F238E27FC236}">
                <a16:creationId xmlns:a16="http://schemas.microsoft.com/office/drawing/2014/main" id="{A34854D6-CBC6-4A62-AC93-09EE6699D087}"/>
              </a:ext>
            </a:extLst>
          </p:cNvPr>
          <p:cNvSpPr>
            <a:spLocks xmlns:a="http://schemas.openxmlformats.org/drawingml/2006/main" noGrp="1"/>
          </p:cNvSpPr>
          <p:nvPr/>
        </p:nvSpPr>
        <p:spPr>
          <a:xfrm xmlns:a="http://schemas.openxmlformats.org/drawingml/2006/main">
            <a:off x="609600" y="2552700"/>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Build</a:t>
            </a:r>
          </a:p>
        </p:txBody>
      </p:sp>
      <p:sp>
        <p:nvSpPr>
          <p:cNvPr id="7" name="text">
            <a:extLst xmlns:a="http://schemas.openxmlformats.org/drawingml/2006/main">
              <a:ext uri="{FF2B5EF4-FFF2-40B4-BE49-F238E27FC236}">
                <a16:creationId xmlns:a16="http://schemas.microsoft.com/office/drawing/2014/main" id="{74FEE699-59EE-4DE4-8290-B82972436955}"/>
              </a:ext>
            </a:extLst>
          </p:cNvPr>
          <p:cNvSpPr>
            <a:spLocks xmlns:a="http://schemas.openxmlformats.org/drawingml/2006/main" noGrp="1"/>
          </p:cNvSpPr>
          <p:nvPr/>
        </p:nvSpPr>
        <p:spPr>
          <a:xfrm xmlns:a="http://schemas.openxmlformats.org/drawingml/2006/main">
            <a:off x="4076700" y="2552700"/>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Split the Markdown example at headings and prepend the active heading to each section.</a:t>
            </a:r>
          </a:p>
        </p:txBody>
      </p:sp>
      <p:sp>
        <p:nvSpPr>
          <p:cNvPr id="8" name="text">
            <a:extLst xmlns:a="http://schemas.openxmlformats.org/drawingml/2006/main">
              <a:ext uri="{FF2B5EF4-FFF2-40B4-BE49-F238E27FC236}">
                <a16:creationId xmlns:a16="http://schemas.microsoft.com/office/drawing/2014/main" id="{C7C7E033-AFF7-4647-A1DB-27C6AED7ADC4}"/>
              </a:ext>
            </a:extLst>
          </p:cNvPr>
          <p:cNvSpPr>
            <a:spLocks xmlns:a="http://schemas.openxmlformats.org/drawingml/2006/main" noGrp="1"/>
          </p:cNvSpPr>
          <p:nvPr/>
        </p:nvSpPr>
        <p:spPr>
          <a:xfrm xmlns:a="http://schemas.openxmlformats.org/drawingml/2006/main">
            <a:off x="609600" y="3481388"/>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Preserve</a:t>
            </a:r>
          </a:p>
        </p:txBody>
      </p:sp>
      <p:sp>
        <p:nvSpPr>
          <p:cNvPr id="9" name="text">
            <a:extLst xmlns:a="http://schemas.openxmlformats.org/drawingml/2006/main">
              <a:ext uri="{FF2B5EF4-FFF2-40B4-BE49-F238E27FC236}">
                <a16:creationId xmlns:a16="http://schemas.microsoft.com/office/drawing/2014/main" id="{ECD5B9A4-D006-4C18-B2F3-A0A042F3999A}"/>
              </a:ext>
            </a:extLst>
          </p:cNvPr>
          <p:cNvSpPr>
            <a:spLocks xmlns:a="http://schemas.openxmlformats.org/drawingml/2006/main" noGrp="1"/>
          </p:cNvSpPr>
          <p:nvPr/>
        </p:nvSpPr>
        <p:spPr>
          <a:xfrm xmlns:a="http://schemas.openxmlformats.org/drawingml/2006/main">
            <a:off x="4076700" y="3481388"/>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Carry the original metadata forward and add a heading field plus source_id.</a:t>
            </a:r>
          </a:p>
        </p:txBody>
      </p:sp>
      <p:sp>
        <p:nvSpPr>
          <p:cNvPr id="10" name="text">
            <a:extLst xmlns:a="http://schemas.openxmlformats.org/drawingml/2006/main">
              <a:ext uri="{FF2B5EF4-FFF2-40B4-BE49-F238E27FC236}">
                <a16:creationId xmlns:a16="http://schemas.microsoft.com/office/drawing/2014/main" id="{2E50C584-60A0-43DE-9EF9-348936F1E29E}"/>
              </a:ext>
            </a:extLst>
          </p:cNvPr>
          <p:cNvSpPr>
            <a:spLocks xmlns:a="http://schemas.openxmlformats.org/drawingml/2006/main" noGrp="1"/>
          </p:cNvSpPr>
          <p:nvPr/>
        </p:nvSpPr>
        <p:spPr>
          <a:xfrm xmlns:a="http://schemas.openxmlformats.org/drawingml/2006/main">
            <a:off x="609600" y="4410075"/>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Compare</a:t>
            </a:r>
          </a:p>
        </p:txBody>
      </p:sp>
      <p:sp>
        <p:nvSpPr>
          <p:cNvPr id="11" name="text">
            <a:extLst xmlns:a="http://schemas.openxmlformats.org/drawingml/2006/main">
              <a:ext uri="{FF2B5EF4-FFF2-40B4-BE49-F238E27FC236}">
                <a16:creationId xmlns:a16="http://schemas.microsoft.com/office/drawing/2014/main" id="{D93D0CD4-270A-4499-8B21-78A25D1D1A52}"/>
              </a:ext>
            </a:extLst>
          </p:cNvPr>
          <p:cNvSpPr>
            <a:spLocks xmlns:a="http://schemas.openxmlformats.org/drawingml/2006/main" noGrp="1"/>
          </p:cNvSpPr>
          <p:nvPr/>
        </p:nvSpPr>
        <p:spPr>
          <a:xfrm xmlns:a="http://schemas.openxmlformats.org/drawingml/2006/main">
            <a:off x="4076700" y="4410075"/>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Read heading-based sections beside fixed windows and discuss which preserves the subject.</a:t>
            </a:r>
          </a:p>
        </p:txBody>
      </p:sp>
      <p:sp>
        <p:nvSpPr>
          <p:cNvPr id="12" name="text">
            <a:extLst xmlns:a="http://schemas.openxmlformats.org/drawingml/2006/main">
              <a:ext uri="{FF2B5EF4-FFF2-40B4-BE49-F238E27FC236}">
                <a16:creationId xmlns:a16="http://schemas.microsoft.com/office/drawing/2014/main" id="{D7335A2D-D50A-4BC6-AE3C-E8F0C6A25F7B}"/>
              </a:ext>
            </a:extLst>
          </p:cNvPr>
          <p:cNvSpPr>
            <a:spLocks xmlns:a="http://schemas.openxmlformats.org/drawingml/2006/main" noGrp="1"/>
          </p:cNvSpPr>
          <p:nvPr/>
        </p:nvSpPr>
        <p:spPr>
          <a:xfrm xmlns:a="http://schemas.openxmlformats.org/drawingml/2006/main">
            <a:off x="609600" y="5338763"/>
            <a:ext cx="306705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02F3E"/>
                </a:solidFill>
                <a:latin typeface="Calibri"/>
                <a:ea typeface="Calibri"/>
                <a:cs typeface="Calibri"/>
              </a:defRPr>
            </a:defPPr>
          </a:lstStyle>
          <a:p xmlns:a="http://schemas.openxmlformats.org/drawingml/2006/main">
            <a:pPr>
              <a:defRPr sz="2175" b="1">
                <a:solidFill>
                  <a:srgbClr val="102F3E"/>
                </a:solidFill>
                <a:latin typeface="Calibri"/>
                <a:ea typeface="Calibri"/>
                <a:cs typeface="Calibri"/>
              </a:defRPr>
            </a:pPr>
            <a:r>
              <a:rPr sz="2175" b="1">
                <a:solidFill>
                  <a:srgbClr val="102F3E"/>
                </a:solidFill>
                <a:latin typeface="Calibri"/>
                <a:ea typeface="Calibri"/>
                <a:cs typeface="Calibri"/>
              </a:rPr>
              <a:t>Expected discussion</a:t>
            </a:r>
          </a:p>
        </p:txBody>
      </p:sp>
      <p:sp>
        <p:nvSpPr>
          <p:cNvPr id="13" name="text">
            <a:extLst xmlns:a="http://schemas.openxmlformats.org/drawingml/2006/main">
              <a:ext uri="{FF2B5EF4-FFF2-40B4-BE49-F238E27FC236}">
                <a16:creationId xmlns:a16="http://schemas.microsoft.com/office/drawing/2014/main" id="{58D832A1-899C-4865-B183-ADE886FA93AA}"/>
              </a:ext>
            </a:extLst>
          </p:cNvPr>
          <p:cNvSpPr>
            <a:spLocks xmlns:a="http://schemas.openxmlformats.org/drawingml/2006/main" noGrp="1"/>
          </p:cNvSpPr>
          <p:nvPr/>
        </p:nvSpPr>
        <p:spPr>
          <a:xfrm xmlns:a="http://schemas.openxmlformats.org/drawingml/2006/main">
            <a:off x="4076700" y="5338763"/>
            <a:ext cx="7505700" cy="8620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48616C"/>
                </a:solidFill>
                <a:latin typeface="Calibri"/>
                <a:ea typeface="Calibri"/>
                <a:cs typeface="Calibri"/>
              </a:defRPr>
            </a:defPPr>
          </a:lstStyle>
          <a:p xmlns:a="http://schemas.openxmlformats.org/drawingml/2006/main">
            <a:pPr>
              <a:defRPr sz="2175" b="0">
                <a:solidFill>
                  <a:srgbClr val="48616C"/>
                </a:solidFill>
                <a:latin typeface="Calibri"/>
                <a:ea typeface="Calibri"/>
                <a:cs typeface="Calibri"/>
              </a:defRPr>
            </a:pPr>
            <a:r>
              <a:rPr sz="2175" b="0">
                <a:solidFill>
                  <a:srgbClr val="48616C"/>
                </a:solidFill>
                <a:latin typeface="Calibri"/>
                <a:ea typeface="Calibri"/>
                <a:cs typeface="Calibri"/>
              </a:rPr>
              <a:t>Simple heading rules help here; complex Markdown needs a real parser and further evaluation.</a:t>
            </a:r>
          </a:p>
        </p:txBody>
      </p:sp>
    </p:spTree>
    <p:extLst>
      <p:ext uri="{BB962C8B-B14F-4D97-AF65-F5344CB8AC3E}">
        <p14:creationId xmlns:p14="http://schemas.microsoft.com/office/powerpoint/2010/main" val="21366015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2026-10-11T09:49:17.6660000Z</dcterms:created>
  <dcterms:modified xsi:type="dcterms:W3CDTF">2026-10-11T09:49:17.6660000Z</dcterms:modified>
</coreProperties>
</file>